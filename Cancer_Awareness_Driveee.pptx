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7" r:id="rId6"/>
    <p:sldId id="259" r:id="rId7"/>
    <p:sldId id="262" r:id="rId8"/>
    <p:sldId id="264" r:id="rId9"/>
    <p:sldId id="265" r:id="rId10"/>
    <p:sldId id="266" r:id="rId11"/>
    <p:sldId id="267" r:id="rId12"/>
    <p:sldId id="277" r:id="rId13"/>
    <p:sldId id="269" r:id="rId14"/>
    <p:sldId id="270" r:id="rId15"/>
    <p:sldId id="271" r:id="rId16"/>
    <p:sldId id="272" r:id="rId17"/>
    <p:sldId id="284" r:id="rId18"/>
    <p:sldId id="273" r:id="rId19"/>
    <p:sldId id="275" r:id="rId20"/>
    <p:sldId id="268" r:id="rId21"/>
    <p:sldId id="263" r:id="rId22"/>
    <p:sldId id="283" r:id="rId23"/>
    <p:sldId id="285" r:id="rId24"/>
    <p:sldId id="286"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sldNum="0"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4.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457200" y="457200"/>
            <a:ext cx="1188720" cy="1188720"/>
          </a:xfrm>
          <a:prstGeom prst="ellipse">
            <a:avLst/>
          </a:prstGeom>
          <a:solidFill>
            <a:srgbClr val="7A1620"/>
          </a:solidFill>
          <a:ln w="25400">
            <a:solidFill>
              <a:srgbClr val="C9A227"/>
            </a:solidFill>
            <a:prstDash val="solid"/>
          </a:ln>
        </p:spPr>
      </p:sp>
      <p:sp>
        <p:nvSpPr>
          <p:cNvPr id="3" name="Text 1"/>
          <p:cNvSpPr/>
          <p:nvPr/>
        </p:nvSpPr>
        <p:spPr>
          <a:xfrm>
            <a:off x="457200" y="457200"/>
            <a:ext cx="1188720" cy="1188720"/>
          </a:xfrm>
          <a:prstGeom prst="rect">
            <a:avLst/>
          </a:prstGeom>
          <a:noFill/>
        </p:spPr>
        <p:txBody>
          <a:bodyPr wrap="square" lIns="0" tIns="0" rIns="0" bIns="0" rtlCol="0" anchor="ctr"/>
          <a:lstStyle/>
          <a:p>
            <a:pPr marL="0" indent="0" algn="ctr">
              <a:buNone/>
            </a:pPr>
            <a:r>
              <a:rPr lang="en-US" sz="2600" b="1" dirty="0">
                <a:solidFill>
                  <a:srgbClr val="E4C766"/>
                </a:solidFill>
                <a:latin typeface="Georgia" panose="02040502050405020303" pitchFamily="34" charset="0"/>
                <a:ea typeface="Georgia" panose="02040502050405020303" pitchFamily="34" charset="-122"/>
                <a:cs typeface="Georgia" panose="02040502050405020303" pitchFamily="34" charset="-120"/>
              </a:rPr>
              <a:t>50
</a:t>
            </a:r>
            <a:r>
              <a:rPr lang="en-US" sz="900" kern="0" spc="200" dirty="0">
                <a:solidFill>
                  <a:srgbClr val="E4C766"/>
                </a:solidFill>
                <a:latin typeface="Georgia" panose="02040502050405020303" pitchFamily="34" charset="0"/>
                <a:ea typeface="Georgia" panose="02040502050405020303" pitchFamily="34" charset="-122"/>
                <a:cs typeface="Georgia" panose="02040502050405020303" pitchFamily="34" charset="-120"/>
              </a:rPr>
              <a:t>YEARS</a:t>
            </a:r>
            <a:endParaRPr lang="en-US" sz="2600" dirty="0"/>
          </a:p>
        </p:txBody>
      </p:sp>
      <p:sp>
        <p:nvSpPr>
          <p:cNvPr id="4" name="Text 2"/>
          <p:cNvSpPr/>
          <p:nvPr/>
        </p:nvSpPr>
        <p:spPr>
          <a:xfrm>
            <a:off x="274320" y="1691640"/>
            <a:ext cx="1554480" cy="274320"/>
          </a:xfrm>
          <a:prstGeom prst="rect">
            <a:avLst/>
          </a:prstGeom>
          <a:noFill/>
        </p:spPr>
        <p:txBody>
          <a:bodyPr wrap="square" rtlCol="0" anchor="ctr"/>
          <a:lstStyle/>
          <a:p>
            <a:pPr marL="0" indent="0" algn="ctr">
              <a:buNone/>
            </a:pPr>
            <a:r>
              <a:rPr lang="en-US" sz="850" kern="0" spc="100" dirty="0">
                <a:solidFill>
                  <a:srgbClr val="E4C766"/>
                </a:solidFill>
                <a:latin typeface="Calibri" panose="020F0502020204030204" pitchFamily="34" charset="0"/>
                <a:ea typeface="Calibri" panose="020F0502020204030204" pitchFamily="34" charset="-122"/>
                <a:cs typeface="Calibri" panose="020F0502020204030204" pitchFamily="34" charset="-120"/>
              </a:rPr>
              <a:t>ESTD. 1975</a:t>
            </a:r>
            <a:endParaRPr lang="en-US" sz="850" dirty="0"/>
          </a:p>
        </p:txBody>
      </p:sp>
      <p:sp>
        <p:nvSpPr>
          <p:cNvPr id="5" name="Shape 3"/>
          <p:cNvSpPr/>
          <p:nvPr/>
        </p:nvSpPr>
        <p:spPr>
          <a:xfrm>
            <a:off x="5408676" y="502920"/>
            <a:ext cx="1371600" cy="1371600"/>
          </a:xfrm>
          <a:prstGeom prst="ellipse">
            <a:avLst/>
          </a:prstGeom>
          <a:solidFill>
            <a:srgbClr val="FFFFFF"/>
          </a:solidFill>
          <a:ln w="19050">
            <a:solidFill>
              <a:srgbClr val="C9A227"/>
            </a:solidFill>
            <a:prstDash val="solid"/>
          </a:ln>
        </p:spPr>
      </p:sp>
      <p:sp>
        <p:nvSpPr>
          <p:cNvPr id="6" name="Text 4"/>
          <p:cNvSpPr/>
          <p:nvPr/>
        </p:nvSpPr>
        <p:spPr>
          <a:xfrm>
            <a:off x="5408676" y="502920"/>
            <a:ext cx="1371600" cy="1371600"/>
          </a:xfrm>
          <a:prstGeom prst="rect">
            <a:avLst/>
          </a:prstGeom>
          <a:noFill/>
        </p:spPr>
        <p:txBody>
          <a:bodyPr wrap="square" lIns="0" tIns="0" rIns="0" bIns="0" rtlCol="0" anchor="ctr"/>
          <a:lstStyle/>
          <a:p>
            <a:pPr marL="0" indent="0" algn="ctr">
              <a:buNone/>
            </a:pPr>
            <a:r>
              <a:rPr lang="en-US" sz="5100" b="1" dirty="0">
                <a:solidFill>
                  <a:srgbClr val="0F1F3D"/>
                </a:solidFill>
                <a:latin typeface="Georgia" panose="02040502050405020303" pitchFamily="34" charset="0"/>
                <a:ea typeface="Georgia" panose="02040502050405020303" pitchFamily="34" charset="-122"/>
                <a:cs typeface="Georgia" panose="02040502050405020303" pitchFamily="34" charset="-120"/>
              </a:rPr>
              <a:t>H</a:t>
            </a:r>
            <a:endParaRPr lang="en-US" sz="5100" dirty="0"/>
          </a:p>
        </p:txBody>
      </p:sp>
      <p:sp>
        <p:nvSpPr>
          <p:cNvPr id="7" name="Text 5"/>
          <p:cNvSpPr/>
          <p:nvPr/>
        </p:nvSpPr>
        <p:spPr>
          <a:xfrm>
            <a:off x="1371600" y="2057400"/>
            <a:ext cx="9445752" cy="365760"/>
          </a:xfrm>
          <a:prstGeom prst="rect">
            <a:avLst/>
          </a:prstGeom>
          <a:noFill/>
        </p:spPr>
        <p:txBody>
          <a:bodyPr wrap="square" lIns="0" tIns="0" rIns="0" bIns="0" rtlCol="0" anchor="ctr"/>
          <a:lstStyle/>
          <a:p>
            <a:pPr marL="0" indent="0" algn="ctr">
              <a:buNone/>
            </a:pPr>
            <a:r>
              <a:rPr lang="en-US" sz="1100" b="1" kern="0" spc="150" dirty="0">
                <a:solidFill>
                  <a:srgbClr val="E4C766"/>
                </a:solidFill>
                <a:latin typeface="Calibri" panose="020F0502020204030204" pitchFamily="34" charset="0"/>
                <a:ea typeface="Calibri" panose="020F0502020204030204" pitchFamily="34" charset="-122"/>
                <a:cs typeface="Calibri" panose="020F0502020204030204" pitchFamily="34" charset="-120"/>
              </a:rPr>
              <a:t>HANUMAN PRASAD PODDAR CANCER HOSPITAL &amp; RESEARCH INSTITUTE</a:t>
            </a:r>
            <a:endParaRPr lang="en-US" sz="1100" dirty="0"/>
          </a:p>
        </p:txBody>
      </p:sp>
      <p:sp>
        <p:nvSpPr>
          <p:cNvPr id="8" name="Text 6"/>
          <p:cNvSpPr/>
          <p:nvPr/>
        </p:nvSpPr>
        <p:spPr>
          <a:xfrm>
            <a:off x="731520" y="2606040"/>
            <a:ext cx="10725912" cy="1554480"/>
          </a:xfrm>
          <a:prstGeom prst="rect">
            <a:avLst/>
          </a:prstGeom>
          <a:noFill/>
        </p:spPr>
        <p:txBody>
          <a:bodyPr wrap="square" lIns="0" tIns="0" rIns="0" bIns="0" rtlCol="0" anchor="ctr"/>
          <a:lstStyle/>
          <a:p>
            <a:pPr marL="0" indent="0" algn="ctr">
              <a:lnSpc>
                <a:spcPct val="105000"/>
              </a:lnSpc>
              <a:buNone/>
            </a:pPr>
            <a:r>
              <a:rPr lang="en-US" sz="4400" b="1" dirty="0">
                <a:solidFill>
                  <a:srgbClr val="FFFFFF"/>
                </a:solidFill>
                <a:latin typeface="Georgia" panose="02040502050405020303" pitchFamily="34" charset="0"/>
                <a:ea typeface="Georgia" panose="02040502050405020303" pitchFamily="34" charset="-122"/>
                <a:cs typeface="Georgia" panose="02040502050405020303" pitchFamily="34" charset="-120"/>
              </a:rPr>
              <a:t>CITY-WIDE CANCER</a:t>
            </a:r>
            <a:endParaRPr lang="en-US" sz="4400" dirty="0"/>
          </a:p>
          <a:p>
            <a:pPr marL="0" indent="0" algn="ctr">
              <a:lnSpc>
                <a:spcPct val="105000"/>
              </a:lnSpc>
              <a:buNone/>
            </a:pPr>
            <a:r>
              <a:rPr lang="en-US" sz="4400" b="1" dirty="0">
                <a:solidFill>
                  <a:srgbClr val="FFFFFF"/>
                </a:solidFill>
                <a:latin typeface="Georgia" panose="02040502050405020303" pitchFamily="34" charset="0"/>
                <a:ea typeface="Georgia" panose="02040502050405020303" pitchFamily="34" charset="-122"/>
                <a:cs typeface="Georgia" panose="02040502050405020303" pitchFamily="34" charset="-120"/>
              </a:rPr>
              <a:t>AWARENESS DRIVE</a:t>
            </a:r>
            <a:endParaRPr lang="en-US" sz="4400" dirty="0"/>
          </a:p>
        </p:txBody>
      </p:sp>
      <p:sp>
        <p:nvSpPr>
          <p:cNvPr id="9" name="Text 7"/>
          <p:cNvSpPr/>
          <p:nvPr/>
        </p:nvSpPr>
        <p:spPr>
          <a:xfrm>
            <a:off x="731520" y="4160520"/>
            <a:ext cx="10725912" cy="457200"/>
          </a:xfrm>
          <a:prstGeom prst="rect">
            <a:avLst/>
          </a:prstGeom>
          <a:noFill/>
        </p:spPr>
        <p:txBody>
          <a:bodyPr wrap="square" lIns="0" tIns="0" rIns="0" bIns="0" rtlCol="0" anchor="ctr"/>
          <a:lstStyle/>
          <a:p>
            <a:pPr marL="0" indent="0" algn="ctr">
              <a:buNone/>
            </a:pPr>
            <a:r>
              <a:rPr lang="en-US" sz="2000" i="1" dirty="0">
                <a:solidFill>
                  <a:srgbClr val="E4C766"/>
                </a:solidFill>
                <a:latin typeface="Georgia" panose="02040502050405020303" pitchFamily="34" charset="0"/>
                <a:ea typeface="Georgia" panose="02040502050405020303" pitchFamily="34" charset="-122"/>
                <a:cs typeface="Georgia" panose="02040502050405020303" pitchFamily="34" charset="-120"/>
              </a:rPr>
              <a:t>Know.  Check.  Act.  Don't Delay.</a:t>
            </a:r>
            <a:endParaRPr lang="en-US" sz="2000" dirty="0"/>
          </a:p>
        </p:txBody>
      </p:sp>
      <p:sp>
        <p:nvSpPr>
          <p:cNvPr id="10" name="Text 8"/>
          <p:cNvSpPr/>
          <p:nvPr/>
        </p:nvSpPr>
        <p:spPr>
          <a:xfrm>
            <a:off x="1645920" y="4709160"/>
            <a:ext cx="8897112" cy="457200"/>
          </a:xfrm>
          <a:prstGeom prst="rect">
            <a:avLst/>
          </a:prstGeom>
          <a:noFill/>
        </p:spPr>
        <p:txBody>
          <a:bodyPr wrap="square" lIns="0" tIns="0" rIns="0" bIns="0" rtlCol="0" anchor="ctr"/>
          <a:lstStyle/>
          <a:p>
            <a:pPr marL="0" indent="0" algn="ctr">
              <a:buNone/>
            </a:pPr>
            <a:r>
              <a:rPr lang="en-US" sz="1300" dirty="0">
                <a:solidFill>
                  <a:srgbClr val="C7D2E6"/>
                </a:solidFill>
                <a:latin typeface="Calibri" panose="020F0502020204030204" pitchFamily="34" charset="0"/>
                <a:ea typeface="Calibri" panose="020F0502020204030204" pitchFamily="34" charset="-122"/>
                <a:cs typeface="Calibri" panose="020F0502020204030204" pitchFamily="34" charset="-120"/>
              </a:rPr>
              <a:t>A community-led digital &amp; social awareness initiative for early cancer detection</a:t>
            </a:r>
            <a:endParaRPr lang="en-US" sz="1300" dirty="0"/>
          </a:p>
        </p:txBody>
      </p:sp>
      <p:sp>
        <p:nvSpPr>
          <p:cNvPr id="11" name="Shape 9"/>
          <p:cNvSpPr/>
          <p:nvPr/>
        </p:nvSpPr>
        <p:spPr>
          <a:xfrm>
            <a:off x="5180076" y="5349240"/>
            <a:ext cx="1828800" cy="0"/>
          </a:xfrm>
          <a:prstGeom prst="line">
            <a:avLst/>
          </a:prstGeom>
          <a:noFill/>
          <a:ln w="12700">
            <a:solidFill>
              <a:srgbClr val="C9A227"/>
            </a:solidFill>
            <a:prstDash val="solid"/>
          </a:ln>
        </p:spPr>
      </p:sp>
      <p:sp>
        <p:nvSpPr>
          <p:cNvPr id="12" name="Text 10"/>
          <p:cNvSpPr/>
          <p:nvPr/>
        </p:nvSpPr>
        <p:spPr>
          <a:xfrm>
            <a:off x="1645920" y="5486400"/>
            <a:ext cx="8897112" cy="640080"/>
          </a:xfrm>
          <a:prstGeom prst="rect">
            <a:avLst/>
          </a:prstGeom>
          <a:noFill/>
        </p:spPr>
        <p:txBody>
          <a:bodyPr wrap="square" lIns="0" tIns="0" rIns="0" bIns="0" rtlCol="0" anchor="ctr"/>
          <a:lstStyle/>
          <a:p>
            <a:pPr marL="0" indent="0" algn="ctr">
              <a:lnSpc>
                <a:spcPct val="130000"/>
              </a:lnSpc>
              <a:buNone/>
            </a:pPr>
            <a:r>
              <a:rPr lang="en-US" sz="1100" dirty="0">
                <a:solidFill>
                  <a:srgbClr val="9FB0CC"/>
                </a:solidFill>
                <a:latin typeface="Calibri" panose="020F0502020204030204" pitchFamily="34" charset="0"/>
                <a:ea typeface="Calibri" panose="020F0502020204030204" pitchFamily="34" charset="-122"/>
                <a:cs typeface="Calibri" panose="020F0502020204030204" pitchFamily="34" charset="-120"/>
              </a:rPr>
              <a:t>Organised by
</a:t>
            </a: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Hanuman Prasad Poddar Cancer Hospital &amp; Research Institute, Gorakhpur</a:t>
            </a:r>
            <a:endParaRPr lang="en-US" sz="1100" dirty="0"/>
          </a:p>
        </p:txBody>
      </p:sp>
      <p:sp>
        <p:nvSpPr>
          <p:cNvPr id="13" name="Text 11"/>
          <p:cNvSpPr/>
          <p:nvPr/>
        </p:nvSpPr>
        <p:spPr>
          <a:xfrm>
            <a:off x="0" y="6355080"/>
            <a:ext cx="12188952" cy="274320"/>
          </a:xfrm>
          <a:prstGeom prst="rect">
            <a:avLst/>
          </a:prstGeom>
          <a:noFill/>
        </p:spPr>
        <p:txBody>
          <a:bodyPr wrap="square" rtlCol="0" anchor="ctr"/>
          <a:lstStyle/>
          <a:p>
            <a:pPr marL="0" indent="0" algn="ctr">
              <a:buNone/>
            </a:pPr>
            <a:r>
              <a:rPr lang="en-US" sz="1000" kern="0" spc="100" dirty="0">
                <a:solidFill>
                  <a:srgbClr val="E4C766"/>
                </a:solidFill>
                <a:latin typeface="Calibri" panose="020F0502020204030204" pitchFamily="34" charset="0"/>
                <a:ea typeface="Calibri" panose="020F0502020204030204" pitchFamily="34" charset="-122"/>
                <a:cs typeface="Calibri" panose="020F0502020204030204" pitchFamily="34" charset="-120"/>
              </a:rPr>
              <a:t>Celebrating 50 Years  •  Estd. 1975</a:t>
            </a:r>
            <a:endParaRPr lang="en-US" sz="1000" dirty="0"/>
          </a:p>
        </p:txBody>
      </p:sp>
      <p:pic>
        <p:nvPicPr>
          <p:cNvPr id="14" name="Picture 13" descr="hppchri"/>
          <p:cNvPicPr>
            <a:picLocks noChangeAspect="1"/>
          </p:cNvPicPr>
          <p:nvPr/>
        </p:nvPicPr>
        <p:blipFill>
          <a:blip r:embed="rId1"/>
          <a:stretch>
            <a:fillRect/>
          </a:stretch>
        </p:blipFill>
        <p:spPr>
          <a:xfrm>
            <a:off x="5220335" y="268605"/>
            <a:ext cx="1788795" cy="1788795"/>
          </a:xfrm>
          <a:prstGeom prst="rect">
            <a:avLst/>
          </a:prstGeom>
        </p:spPr>
      </p:pic>
      <p:pic>
        <p:nvPicPr>
          <p:cNvPr id="15" name="Picture 14" descr="logo golden year"/>
          <p:cNvPicPr>
            <a:picLocks noChangeAspect="1"/>
          </p:cNvPicPr>
          <p:nvPr/>
        </p:nvPicPr>
        <p:blipFill>
          <a:blip r:embed="rId2"/>
          <a:stretch>
            <a:fillRect/>
          </a:stretch>
        </p:blipFill>
        <p:spPr>
          <a:xfrm>
            <a:off x="0" y="-24765"/>
            <a:ext cx="1885950" cy="1887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MESSAGE OF SUPPORT</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A Message from the Hon'ble Governor</a:t>
            </a:r>
            <a:endParaRPr lang="en-US" sz="3000" dirty="0"/>
          </a:p>
        </p:txBody>
      </p:sp>
      <p:sp>
        <p:nvSpPr>
          <p:cNvPr id="8" name="Shape 6"/>
          <p:cNvSpPr/>
          <p:nvPr/>
        </p:nvSpPr>
        <p:spPr>
          <a:xfrm>
            <a:off x="548640" y="1965960"/>
            <a:ext cx="2377440" cy="2651760"/>
          </a:xfrm>
          <a:prstGeom prst="roundRect">
            <a:avLst>
              <a:gd name="adj" fmla="val 3077"/>
            </a:avLst>
          </a:prstGeom>
          <a:solidFill>
            <a:srgbClr val="EAF0FA"/>
          </a:solidFill>
          <a:effectLst>
            <a:outerShdw blurRad="76200" dist="25400" dir="5400000" algn="bl" rotWithShape="0">
              <a:srgbClr val="203864">
                <a:alpha val="18000"/>
              </a:srgbClr>
            </a:outerShdw>
          </a:effectLst>
        </p:spPr>
      </p:sp>
      <p:sp>
        <p:nvSpPr>
          <p:cNvPr id="9" name="Shape 7"/>
          <p:cNvSpPr/>
          <p:nvPr/>
        </p:nvSpPr>
        <p:spPr>
          <a:xfrm>
            <a:off x="1234440" y="2286000"/>
            <a:ext cx="1005840" cy="1005840"/>
          </a:xfrm>
          <a:prstGeom prst="ellipse">
            <a:avLst/>
          </a:prstGeom>
          <a:solidFill>
            <a:srgbClr val="0F1F3D"/>
          </a:solidFill>
        </p:spPr>
      </p:sp>
      <p:sp>
        <p:nvSpPr>
          <p:cNvPr id="10" name="Text 8"/>
          <p:cNvSpPr/>
          <p:nvPr/>
        </p:nvSpPr>
        <p:spPr>
          <a:xfrm>
            <a:off x="1234440" y="2286000"/>
            <a:ext cx="1005840" cy="1005840"/>
          </a:xfrm>
          <a:prstGeom prst="rect">
            <a:avLst/>
          </a:prstGeom>
          <a:noFill/>
        </p:spPr>
        <p:txBody>
          <a:bodyPr wrap="square" lIns="0" tIns="0" rIns="0" bIns="0" rtlCol="0" anchor="ctr"/>
          <a:lstStyle/>
          <a:p>
            <a:pPr marL="0" indent="0" algn="ctr">
              <a:buNone/>
            </a:pPr>
            <a:r>
              <a:rPr lang="en-US" sz="2200" b="1" dirty="0">
                <a:solidFill>
                  <a:srgbClr val="E4C766"/>
                </a:solidFill>
                <a:latin typeface="Georgia" panose="02040502050405020303" pitchFamily="34" charset="0"/>
                <a:ea typeface="Georgia" panose="02040502050405020303" pitchFamily="34" charset="-122"/>
                <a:cs typeface="Georgia" panose="02040502050405020303" pitchFamily="34" charset="-120"/>
              </a:rPr>
              <a:t>AP</a:t>
            </a:r>
            <a:endParaRPr lang="en-US" sz="2200" dirty="0"/>
          </a:p>
        </p:txBody>
      </p:sp>
      <p:sp>
        <p:nvSpPr>
          <p:cNvPr id="11" name="Text 9"/>
          <p:cNvSpPr/>
          <p:nvPr/>
        </p:nvSpPr>
        <p:spPr>
          <a:xfrm>
            <a:off x="685800" y="3429000"/>
            <a:ext cx="2103120" cy="1005840"/>
          </a:xfrm>
          <a:prstGeom prst="rect">
            <a:avLst/>
          </a:prstGeom>
          <a:noFill/>
        </p:spPr>
        <p:txBody>
          <a:bodyPr wrap="square" lIns="0" tIns="0" rIns="0" bIns="0" rtlCol="0" anchor="t"/>
          <a:lstStyle/>
          <a:p>
            <a:pPr marL="0" indent="0" algn="ctr">
              <a:lnSpc>
                <a:spcPct val="120000"/>
              </a:lnSpc>
              <a:buNone/>
            </a:pPr>
            <a:r>
              <a:rPr lang="en-US" sz="1250" b="1" dirty="0">
                <a:solidFill>
                  <a:srgbClr val="13233F"/>
                </a:solidFill>
                <a:latin typeface="Calibri" panose="020F0502020204030204" pitchFamily="34" charset="0"/>
                <a:ea typeface="Calibri" panose="020F0502020204030204" pitchFamily="34" charset="-122"/>
                <a:cs typeface="Calibri" panose="020F0502020204030204" pitchFamily="34" charset="-120"/>
              </a:rPr>
              <a:t>Anandiben Patel
</a:t>
            </a: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Governor, Uttar Pradesh</a:t>
            </a:r>
            <a:endParaRPr lang="en-US" sz="1250" dirty="0"/>
          </a:p>
        </p:txBody>
      </p:sp>
      <p:sp>
        <p:nvSpPr>
          <p:cNvPr id="12" name="Shape 10"/>
          <p:cNvSpPr/>
          <p:nvPr/>
        </p:nvSpPr>
        <p:spPr>
          <a:xfrm>
            <a:off x="3246120" y="1965960"/>
            <a:ext cx="8412480" cy="3246120"/>
          </a:xfrm>
          <a:prstGeom prst="roundRect">
            <a:avLst>
              <a:gd name="adj" fmla="val 2254"/>
            </a:avLst>
          </a:prstGeom>
          <a:solidFill>
            <a:srgbClr val="FFFFFF"/>
          </a:solidFill>
          <a:ln w="12700">
            <a:solidFill>
              <a:srgbClr val="E1E6F0"/>
            </a:solidFill>
            <a:prstDash val="solid"/>
          </a:ln>
          <a:effectLst>
            <a:outerShdw blurRad="76200" dist="25400" dir="5400000" algn="bl" rotWithShape="0">
              <a:srgbClr val="203864">
                <a:alpha val="18000"/>
              </a:srgbClr>
            </a:outerShdw>
          </a:effectLst>
        </p:spPr>
      </p:sp>
      <p:sp>
        <p:nvSpPr>
          <p:cNvPr id="13" name="Text 11"/>
          <p:cNvSpPr/>
          <p:nvPr/>
        </p:nvSpPr>
        <p:spPr>
          <a:xfrm>
            <a:off x="3383280" y="1874520"/>
            <a:ext cx="914400" cy="822960"/>
          </a:xfrm>
          <a:prstGeom prst="rect">
            <a:avLst/>
          </a:prstGeom>
          <a:noFill/>
        </p:spPr>
        <p:txBody>
          <a:bodyPr wrap="square" lIns="0" tIns="0" rIns="0" bIns="0" rtlCol="0" anchor="ctr"/>
          <a:lstStyle/>
          <a:p>
            <a:pPr marL="0" indent="0">
              <a:buNone/>
            </a:pPr>
            <a:r>
              <a:rPr lang="en-US" sz="6000" b="1" dirty="0">
                <a:solidFill>
                  <a:srgbClr val="C9A227"/>
                </a:solidFill>
                <a:latin typeface="Georgia" panose="02040502050405020303" pitchFamily="34" charset="0"/>
                <a:ea typeface="Georgia" panose="02040502050405020303" pitchFamily="34" charset="-122"/>
                <a:cs typeface="Georgia" panose="02040502050405020303" pitchFamily="34" charset="-120"/>
              </a:rPr>
              <a:t>“</a:t>
            </a:r>
            <a:endParaRPr lang="en-US" sz="6000" dirty="0"/>
          </a:p>
        </p:txBody>
      </p:sp>
      <p:sp>
        <p:nvSpPr>
          <p:cNvPr id="16" name="Shape 14"/>
          <p:cNvSpPr/>
          <p:nvPr/>
        </p:nvSpPr>
        <p:spPr>
          <a:xfrm>
            <a:off x="548640" y="5486400"/>
            <a:ext cx="11064240" cy="914400"/>
          </a:xfrm>
          <a:prstGeom prst="roundRect">
            <a:avLst>
              <a:gd name="adj" fmla="val 8000"/>
            </a:avLst>
          </a:prstGeom>
          <a:solidFill>
            <a:srgbClr val="FCEFD8"/>
          </a:solidFill>
        </p:spPr>
      </p:sp>
      <p:sp>
        <p:nvSpPr>
          <p:cNvPr id="17" name="Text 15"/>
          <p:cNvSpPr/>
          <p:nvPr/>
        </p:nvSpPr>
        <p:spPr>
          <a:xfrm>
            <a:off x="777240" y="5559552"/>
            <a:ext cx="10607040" cy="777240"/>
          </a:xfrm>
          <a:prstGeom prst="rect">
            <a:avLst/>
          </a:prstGeom>
          <a:noFill/>
        </p:spPr>
        <p:txBody>
          <a:bodyPr wrap="square" lIns="0" tIns="0" rIns="0" bIns="0" rtlCol="0" anchor="ctr"/>
          <a:lstStyle/>
          <a:p>
            <a:pPr marL="0" indent="0">
              <a:lnSpc>
                <a:spcPct val="120000"/>
              </a:lnSpc>
              <a:buNone/>
            </a:pPr>
            <a:r>
              <a:rPr lang="en-US" sz="1100" i="1" dirty="0">
                <a:solidFill>
                  <a:srgbClr val="13233F"/>
                </a:solidFill>
                <a:latin typeface="Calibri" panose="020F0502020204030204" pitchFamily="34" charset="0"/>
                <a:ea typeface="Calibri" panose="020F0502020204030204" pitchFamily="34" charset="-122"/>
                <a:cs typeface="Calibri" panose="020F0502020204030204" pitchFamily="34" charset="-120"/>
              </a:rPr>
              <a:t>The most effective way to fight a serious disease like cancer is timely diagnosis, awareness and appropriate treatment. This collective effort will help establish Gorakhpur as a model city in cancer prevention and treatment.</a:t>
            </a:r>
            <a:endParaRPr lang="en-US" sz="1100" dirty="0"/>
          </a:p>
        </p:txBody>
      </p:sp>
      <p:sp>
        <p:nvSpPr>
          <p:cNvPr id="22"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23"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24"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25" name="Picture 24" descr="hppchri"/>
          <p:cNvPicPr>
            <a:picLocks noChangeAspect="1"/>
          </p:cNvPicPr>
          <p:nvPr/>
        </p:nvPicPr>
        <p:blipFill>
          <a:blip r:embed="rId1"/>
          <a:stretch>
            <a:fillRect/>
          </a:stretch>
        </p:blipFill>
        <p:spPr>
          <a:xfrm>
            <a:off x="210185" y="100965"/>
            <a:ext cx="695325" cy="695325"/>
          </a:xfrm>
          <a:prstGeom prst="rect">
            <a:avLst/>
          </a:prstGeom>
        </p:spPr>
      </p:pic>
      <p:pic>
        <p:nvPicPr>
          <p:cNvPr id="27" name="Picture 26" descr="governorUP"/>
          <p:cNvPicPr>
            <a:picLocks noChangeAspect="1"/>
          </p:cNvPicPr>
          <p:nvPr/>
        </p:nvPicPr>
        <p:blipFill>
          <a:blip r:embed="rId2"/>
          <a:stretch>
            <a:fillRect/>
          </a:stretch>
        </p:blipFill>
        <p:spPr>
          <a:xfrm>
            <a:off x="548640" y="1816100"/>
            <a:ext cx="2408555" cy="2835275"/>
          </a:xfrm>
          <a:prstGeom prst="rect">
            <a:avLst/>
          </a:prstGeom>
        </p:spPr>
      </p:pic>
      <p:sp>
        <p:nvSpPr>
          <p:cNvPr id="28" name="Text Box 27"/>
          <p:cNvSpPr txBox="1"/>
          <p:nvPr/>
        </p:nvSpPr>
        <p:spPr>
          <a:xfrm>
            <a:off x="3791585" y="2341880"/>
            <a:ext cx="7820660" cy="2135505"/>
          </a:xfrm>
          <a:prstGeom prst="rect">
            <a:avLst/>
          </a:prstGeom>
          <a:noFill/>
        </p:spPr>
        <p:txBody>
          <a:bodyPr wrap="square" rtlCol="0">
            <a:noAutofit/>
          </a:bodyPr>
          <a:p>
            <a:r>
              <a:rPr lang="hi-IN" altLang="en-US" i="1"/>
              <a:t>मुझे यह जानकर अत्यंत हर्ष हो रहा है कि पूर्वांचल के युवाओं, विशेषकर गोरखपुर में, दीनदयाल उपाध्याय गोरखपुर विश्वविद्यालय, हनुमान प्रसाद पोद्दार कैंसर अस्पताल एवं शोध संस्थान, एम्स-गोरखपुर, बी.आर.डी. मेडिकल कॉलेज, श्री गोरक्षनाथ मेडिकल कॉलेज, स्वास्थ्य विभाग समेत अनेक संस्थाओं द्वारा संयुक्त रूप से कैंसर जागरूकता अभियान संचालित किया जा रहा है, और एक लघु पुस्तिका </a:t>
            </a:r>
            <a:r>
              <a:rPr lang="hi-IN" altLang="en-US" b="1" i="1"/>
              <a:t>‘युवा संचार’</a:t>
            </a:r>
            <a:r>
              <a:rPr lang="hi-IN" altLang="en-US" i="1"/>
              <a:t> का प्रकाशन किया जा रहा है।</a:t>
            </a:r>
            <a:endParaRPr lang="hi-IN" altLang="en-US" i="1"/>
          </a:p>
          <a:p>
            <a:endParaRPr lang="hi-IN" altLang="en-US" i="1"/>
          </a:p>
        </p:txBody>
      </p:sp>
      <p:sp>
        <p:nvSpPr>
          <p:cNvPr id="29" name="Text 13"/>
          <p:cNvSpPr/>
          <p:nvPr/>
        </p:nvSpPr>
        <p:spPr>
          <a:xfrm>
            <a:off x="8002270" y="4471810"/>
            <a:ext cx="8412480" cy="365760"/>
          </a:xfrm>
          <a:prstGeom prst="rect">
            <a:avLst/>
          </a:prstGeom>
          <a:noFill/>
        </p:spPr>
        <p:txBody>
          <a:bodyPr wrap="square" lIns="0" tIns="0" rIns="0" bIns="0" rtlCol="0" anchor="ctr"/>
          <a:lstStyle/>
          <a:p>
            <a:pPr marL="0" indent="0">
              <a:buNone/>
            </a:pPr>
            <a:r>
              <a:rPr lang="hi-IN" sz="1300" b="1" dirty="0">
                <a:solidFill>
                  <a:srgbClr val="13284B"/>
                </a:solidFill>
                <a:latin typeface="Nirmala UI" panose="020B0502040204020203" pitchFamily="34" charset="0"/>
                <a:ea typeface="Nirmala UI" panose="020B0502040204020203" pitchFamily="34" charset="-122"/>
                <a:cs typeface="Nirmala UI" panose="020B0502040204020203" pitchFamily="34" charset="-120"/>
              </a:rPr>
              <a:t>— आनंदीबेन पटेल, राज्यपाल, उत्तर प्रदेश</a:t>
            </a:r>
            <a:endParaRPr lang="hi-IN"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4"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MESSAGE OF SUPPORT</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A Message from the Hon'ble Chief Minister</a:t>
            </a:r>
            <a:endParaRPr lang="en-US" sz="3000" dirty="0"/>
          </a:p>
        </p:txBody>
      </p:sp>
      <p:sp>
        <p:nvSpPr>
          <p:cNvPr id="8" name="Shape 6"/>
          <p:cNvSpPr/>
          <p:nvPr/>
        </p:nvSpPr>
        <p:spPr>
          <a:xfrm>
            <a:off x="548640" y="1965960"/>
            <a:ext cx="2377440" cy="2651760"/>
          </a:xfrm>
          <a:prstGeom prst="roundRect">
            <a:avLst>
              <a:gd name="adj" fmla="val 3077"/>
            </a:avLst>
          </a:prstGeom>
          <a:solidFill>
            <a:srgbClr val="EAF0FA"/>
          </a:solidFill>
          <a:effectLst>
            <a:outerShdw blurRad="76200" dist="25400" dir="5400000" algn="bl" rotWithShape="0">
              <a:srgbClr val="203864">
                <a:alpha val="18000"/>
              </a:srgbClr>
            </a:outerShdw>
          </a:effectLst>
        </p:spPr>
      </p:sp>
      <p:sp>
        <p:nvSpPr>
          <p:cNvPr id="9" name="Shape 7"/>
          <p:cNvSpPr/>
          <p:nvPr/>
        </p:nvSpPr>
        <p:spPr>
          <a:xfrm>
            <a:off x="1234440" y="2286000"/>
            <a:ext cx="1005840" cy="1005840"/>
          </a:xfrm>
          <a:prstGeom prst="ellipse">
            <a:avLst/>
          </a:prstGeom>
          <a:solidFill>
            <a:srgbClr val="0F1F3D"/>
          </a:solidFill>
        </p:spPr>
      </p:sp>
      <p:sp>
        <p:nvSpPr>
          <p:cNvPr id="11" name="Text 9"/>
          <p:cNvSpPr/>
          <p:nvPr/>
        </p:nvSpPr>
        <p:spPr>
          <a:xfrm>
            <a:off x="685800" y="3429000"/>
            <a:ext cx="2103120" cy="1005840"/>
          </a:xfrm>
          <a:prstGeom prst="rect">
            <a:avLst/>
          </a:prstGeom>
          <a:noFill/>
        </p:spPr>
        <p:txBody>
          <a:bodyPr wrap="square" lIns="0" tIns="0" rIns="0" bIns="0" rtlCol="0" anchor="t"/>
          <a:lstStyle/>
          <a:p>
            <a:pPr marL="0" indent="0" algn="ctr">
              <a:lnSpc>
                <a:spcPct val="120000"/>
              </a:lnSpc>
              <a:buNone/>
            </a:pPr>
            <a:r>
              <a:rPr lang="en-US" sz="1250" b="1" dirty="0">
                <a:solidFill>
                  <a:srgbClr val="13233F"/>
                </a:solidFill>
                <a:latin typeface="Calibri" panose="020F0502020204030204" pitchFamily="34" charset="0"/>
                <a:ea typeface="Calibri" panose="020F0502020204030204" pitchFamily="34" charset="-122"/>
                <a:cs typeface="Calibri" panose="020F0502020204030204" pitchFamily="34" charset="-120"/>
              </a:rPr>
              <a:t>Yogi Adityanath
</a:t>
            </a:r>
            <a:r>
              <a:rPr lang="en-US" sz="1050" dirty="0">
                <a:solidFill>
                  <a:srgbClr val="5B6B85"/>
                </a:solidFill>
                <a:latin typeface="Calibri" panose="020F0502020204030204" pitchFamily="34" charset="0"/>
                <a:ea typeface="Calibri" panose="020F0502020204030204" pitchFamily="34" charset="-122"/>
                <a:cs typeface="Calibri" panose="020F0502020204030204" pitchFamily="34" charset="-120"/>
              </a:rPr>
              <a:t>Chief Minister, Uttar Pradesh</a:t>
            </a:r>
            <a:endParaRPr lang="en-US" sz="1250" dirty="0"/>
          </a:p>
        </p:txBody>
      </p:sp>
      <p:sp>
        <p:nvSpPr>
          <p:cNvPr id="12" name="Shape 10"/>
          <p:cNvSpPr/>
          <p:nvPr/>
        </p:nvSpPr>
        <p:spPr>
          <a:xfrm>
            <a:off x="3246120" y="1965960"/>
            <a:ext cx="8412480" cy="3246120"/>
          </a:xfrm>
          <a:prstGeom prst="roundRect">
            <a:avLst>
              <a:gd name="adj" fmla="val 2254"/>
            </a:avLst>
          </a:prstGeom>
          <a:solidFill>
            <a:srgbClr val="FFFFFF"/>
          </a:solidFill>
          <a:ln w="12700">
            <a:solidFill>
              <a:srgbClr val="E1E6F0"/>
            </a:solidFill>
            <a:prstDash val="solid"/>
          </a:ln>
          <a:effectLst>
            <a:outerShdw blurRad="76200" dist="25400" dir="5400000" algn="bl" rotWithShape="0">
              <a:srgbClr val="203864">
                <a:alpha val="18000"/>
              </a:srgbClr>
            </a:outerShdw>
          </a:effectLst>
        </p:spPr>
      </p:sp>
      <p:sp>
        <p:nvSpPr>
          <p:cNvPr id="13" name="Text 11"/>
          <p:cNvSpPr/>
          <p:nvPr/>
        </p:nvSpPr>
        <p:spPr>
          <a:xfrm>
            <a:off x="3383280" y="1874520"/>
            <a:ext cx="914400" cy="822960"/>
          </a:xfrm>
          <a:prstGeom prst="rect">
            <a:avLst/>
          </a:prstGeom>
          <a:noFill/>
        </p:spPr>
        <p:txBody>
          <a:bodyPr wrap="square" lIns="0" tIns="0" rIns="0" bIns="0" rtlCol="0" anchor="ctr"/>
          <a:lstStyle/>
          <a:p>
            <a:pPr marL="0" indent="0">
              <a:buNone/>
            </a:pPr>
            <a:r>
              <a:rPr lang="en-US" sz="6000" b="1" dirty="0">
                <a:solidFill>
                  <a:srgbClr val="C9A227"/>
                </a:solidFill>
                <a:latin typeface="Georgia" panose="02040502050405020303" pitchFamily="34" charset="0"/>
                <a:ea typeface="Georgia" panose="02040502050405020303" pitchFamily="34" charset="-122"/>
                <a:cs typeface="Georgia" panose="02040502050405020303" pitchFamily="34" charset="-120"/>
              </a:rPr>
              <a:t>“</a:t>
            </a:r>
            <a:endParaRPr lang="en-US" sz="6000" dirty="0"/>
          </a:p>
        </p:txBody>
      </p:sp>
      <p:sp>
        <p:nvSpPr>
          <p:cNvPr id="16" name="Shape 14"/>
          <p:cNvSpPr/>
          <p:nvPr/>
        </p:nvSpPr>
        <p:spPr>
          <a:xfrm>
            <a:off x="548640" y="5486400"/>
            <a:ext cx="11064240" cy="914400"/>
          </a:xfrm>
          <a:prstGeom prst="roundRect">
            <a:avLst>
              <a:gd name="adj" fmla="val 8000"/>
            </a:avLst>
          </a:prstGeom>
          <a:solidFill>
            <a:srgbClr val="FCEFD8"/>
          </a:solidFill>
        </p:spPr>
      </p:sp>
      <p:sp>
        <p:nvSpPr>
          <p:cNvPr id="17" name="Text 15"/>
          <p:cNvSpPr/>
          <p:nvPr/>
        </p:nvSpPr>
        <p:spPr>
          <a:xfrm>
            <a:off x="777240" y="5559552"/>
            <a:ext cx="10607040" cy="777240"/>
          </a:xfrm>
          <a:prstGeom prst="rect">
            <a:avLst/>
          </a:prstGeom>
          <a:noFill/>
        </p:spPr>
        <p:txBody>
          <a:bodyPr wrap="square" lIns="0" tIns="0" rIns="0" bIns="0" rtlCol="0" anchor="ctr"/>
          <a:lstStyle/>
          <a:p>
            <a:pPr marL="0" indent="0">
              <a:lnSpc>
                <a:spcPct val="120000"/>
              </a:lnSpc>
              <a:buNone/>
            </a:pPr>
            <a:r>
              <a:rPr lang="en-US" sz="1100" i="1" dirty="0">
                <a:solidFill>
                  <a:srgbClr val="13233F"/>
                </a:solidFill>
                <a:latin typeface="Calibri" panose="020F0502020204030204" pitchFamily="34" charset="0"/>
                <a:ea typeface="Calibri" panose="020F0502020204030204" pitchFamily="34" charset="-122"/>
                <a:cs typeface="Calibri" panose="020F0502020204030204" pitchFamily="34" charset="-120"/>
              </a:rPr>
              <a:t>“Nar Seva–Narayan Seva” was the guiding motto of Bhaiji Shri Hanuman Prasad Poddar. In his memory, the hospital continues this commendable work of service to society, and the Cancer Awareness Campaign in its Golden Jubilee year is highly commendable.</a:t>
            </a:r>
            <a:endParaRPr lang="en-US" sz="1100" dirty="0"/>
          </a:p>
        </p:txBody>
      </p:sp>
      <p:pic>
        <p:nvPicPr>
          <p:cNvPr id="19" name="Picture 18" descr="hppchri"/>
          <p:cNvPicPr>
            <a:picLocks noChangeAspect="1"/>
          </p:cNvPicPr>
          <p:nvPr/>
        </p:nvPicPr>
        <p:blipFill>
          <a:blip r:embed="rId1"/>
          <a:stretch>
            <a:fillRect/>
          </a:stretch>
        </p:blipFill>
        <p:spPr>
          <a:xfrm>
            <a:off x="210185" y="100965"/>
            <a:ext cx="695325" cy="695325"/>
          </a:xfrm>
          <a:prstGeom prst="rect">
            <a:avLst/>
          </a:prstGeom>
        </p:spPr>
      </p:pic>
      <p:sp>
        <p:nvSpPr>
          <p:cNvPr id="26" name="Text Box 25"/>
          <p:cNvSpPr txBox="1"/>
          <p:nvPr/>
        </p:nvSpPr>
        <p:spPr>
          <a:xfrm>
            <a:off x="3749040" y="2433955"/>
            <a:ext cx="8075930" cy="1753235"/>
          </a:xfrm>
          <a:prstGeom prst="rect">
            <a:avLst/>
          </a:prstGeom>
          <a:noFill/>
        </p:spPr>
        <p:txBody>
          <a:bodyPr wrap="square" rtlCol="0">
            <a:spAutoFit/>
          </a:bodyPr>
          <a:p>
            <a:r>
              <a:rPr lang="hi-IN" altLang="en-US" i="1"/>
              <a:t>मुझे यह जानकर अत्यंत प्रसन्नता की अनुभूति हो रही है कि हनुमान प्रसाद पोद्दार कैंसर अस्पताल एवं शोध संस्थान, गीता वाटिका, गोरखपुर की स्थापना के 50 वर्ष पूर्ण होने के अवसर पर ‘कैंसर जागरूकता अभियान’ संचालित किया जा रहा है।</a:t>
            </a:r>
            <a:r>
              <a:rPr lang="hi-IN" i="1"/>
              <a:t> </a:t>
            </a:r>
            <a:r>
              <a:rPr lang="hi-IN" altLang="en-US" i="1"/>
              <a:t>कैंसर जैसी गंभीर बीमारी के निदान के लिए उचित मार्गदर्शन और समय से उपचार अति आवश्यक है। जागरूकता के माध्यम से लोगों को कैंसर से बचाव और इसके प्रारम्भिक लक्षणों की पहचान की जानकारी सकारात्मक परिणाम दे सकती है।</a:t>
            </a:r>
            <a:endParaRPr lang="hi-IN" altLang="en-US" i="1"/>
          </a:p>
        </p:txBody>
      </p:sp>
      <p:sp>
        <p:nvSpPr>
          <p:cNvPr id="20" name="Text 13"/>
          <p:cNvSpPr/>
          <p:nvPr/>
        </p:nvSpPr>
        <p:spPr>
          <a:xfrm>
            <a:off x="8026400" y="4617860"/>
            <a:ext cx="8412480" cy="365760"/>
          </a:xfrm>
          <a:prstGeom prst="rect">
            <a:avLst/>
          </a:prstGeom>
          <a:noFill/>
        </p:spPr>
        <p:txBody>
          <a:bodyPr wrap="square" lIns="0" tIns="0" rIns="0" bIns="0" rtlCol="0" anchor="ctr"/>
          <a:lstStyle/>
          <a:p>
            <a:pPr marL="0" indent="0">
              <a:buNone/>
            </a:pPr>
            <a:r>
              <a:rPr lang="hi-IN" sz="1300" b="1" dirty="0">
                <a:solidFill>
                  <a:srgbClr val="13284B"/>
                </a:solidFill>
                <a:latin typeface="Nirmala UI" panose="020B0502040204020203" pitchFamily="34" charset="0"/>
                <a:ea typeface="Nirmala UI" panose="020B0502040204020203" pitchFamily="34" charset="-122"/>
                <a:cs typeface="Nirmala UI" panose="020B0502040204020203" pitchFamily="34" charset="-120"/>
              </a:rPr>
              <a:t>— योगी आदित्यनाथ, मुख्यमंत्री, उत्तर प्रदेश</a:t>
            </a:r>
            <a:endParaRPr lang="hi-IN" sz="1300" dirty="0"/>
          </a:p>
        </p:txBody>
      </p:sp>
      <p:pic>
        <p:nvPicPr>
          <p:cNvPr id="21" name="Picture 20" descr="cm"/>
          <p:cNvPicPr>
            <a:picLocks noChangeAspect="1"/>
          </p:cNvPicPr>
          <p:nvPr/>
        </p:nvPicPr>
        <p:blipFill>
          <a:blip r:embed="rId2"/>
          <a:stretch>
            <a:fillRect/>
          </a:stretch>
        </p:blipFill>
        <p:spPr>
          <a:xfrm>
            <a:off x="548640" y="1995805"/>
            <a:ext cx="2400300" cy="27298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Shape 11"/>
          <p:cNvSpPr/>
          <p:nvPr/>
        </p:nvSpPr>
        <p:spPr>
          <a:xfrm>
            <a:off x="3929380" y="2240280"/>
            <a:ext cx="2872740" cy="3044190"/>
          </a:xfrm>
          <a:prstGeom prst="roundRect">
            <a:avLst>
              <a:gd name="adj" fmla="val 9677"/>
            </a:avLst>
          </a:prstGeom>
          <a:solidFill>
            <a:srgbClr val="F3F5FA"/>
          </a:solidFill>
        </p:spPr>
      </p:sp>
      <p:sp>
        <p:nvSpPr>
          <p:cNvPr id="32" name="Shape 11"/>
          <p:cNvSpPr/>
          <p:nvPr/>
        </p:nvSpPr>
        <p:spPr>
          <a:xfrm>
            <a:off x="548640" y="4808220"/>
            <a:ext cx="3237230" cy="1126490"/>
          </a:xfrm>
          <a:prstGeom prst="roundRect">
            <a:avLst>
              <a:gd name="adj" fmla="val 9677"/>
            </a:avLst>
          </a:prstGeom>
          <a:solidFill>
            <a:srgbClr val="F3F5FA"/>
          </a:solidFill>
        </p:spPr>
      </p:sp>
      <p:sp>
        <p:nvSpPr>
          <p:cNvPr id="31" name="Shape 11"/>
          <p:cNvSpPr/>
          <p:nvPr/>
        </p:nvSpPr>
        <p:spPr>
          <a:xfrm>
            <a:off x="548640" y="2221865"/>
            <a:ext cx="3192780" cy="2541905"/>
          </a:xfrm>
          <a:prstGeom prst="roundRect">
            <a:avLst>
              <a:gd name="adj" fmla="val 9677"/>
            </a:avLst>
          </a:prstGeom>
          <a:solidFill>
            <a:srgbClr val="F3F5FA"/>
          </a:solidFill>
        </p:spPr>
      </p:sp>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ABOUT HPPCHRI</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Who We Are</a:t>
            </a:r>
            <a:endParaRPr lang="en-US" sz="3000" dirty="0"/>
          </a:p>
        </p:txBody>
      </p:sp>
      <p:sp>
        <p:nvSpPr>
          <p:cNvPr id="8" name="Text 6"/>
          <p:cNvSpPr/>
          <p:nvPr/>
        </p:nvSpPr>
        <p:spPr>
          <a:xfrm>
            <a:off x="548640" y="1783080"/>
            <a:ext cx="11064240" cy="365760"/>
          </a:xfrm>
          <a:prstGeom prst="rect">
            <a:avLst/>
          </a:prstGeom>
          <a:noFill/>
        </p:spPr>
        <p:txBody>
          <a:bodyPr wrap="square" lIns="0" tIns="0" rIns="0" bIns="0" rtlCol="0" anchor="ctr"/>
          <a:lstStyle/>
          <a:p>
            <a:pPr marL="0" indent="0">
              <a:buNone/>
            </a:pPr>
            <a:r>
              <a:rPr lang="en-US" sz="1300" i="1" dirty="0">
                <a:solidFill>
                  <a:srgbClr val="5B6B85"/>
                </a:solidFill>
                <a:latin typeface="Calibri" panose="020F0502020204030204" pitchFamily="34" charset="0"/>
                <a:ea typeface="Calibri" panose="020F0502020204030204" pitchFamily="34" charset="-122"/>
                <a:cs typeface="Calibri" panose="020F0502020204030204" pitchFamily="34" charset="-120"/>
              </a:rPr>
              <a:t>Hanuman Prasad Poddar Cancer Hospital &amp; Research Institute, Gorakhpur</a:t>
            </a:r>
            <a:endParaRPr lang="en-US" sz="1300" dirty="0"/>
          </a:p>
        </p:txBody>
      </p:sp>
      <p:sp>
        <p:nvSpPr>
          <p:cNvPr id="10" name="Text 8"/>
          <p:cNvSpPr/>
          <p:nvPr/>
        </p:nvSpPr>
        <p:spPr>
          <a:xfrm>
            <a:off x="749808" y="2198116"/>
            <a:ext cx="3154680" cy="292608"/>
          </a:xfrm>
          <a:prstGeom prst="rect">
            <a:avLst/>
          </a:prstGeom>
          <a:noFill/>
        </p:spPr>
        <p:txBody>
          <a:bodyPr wrap="square" lIns="0" tIns="0" rIns="0" bIns="0" rtlCol="0" anchor="ctr"/>
          <a:lstStyle/>
          <a:p>
            <a:pPr marL="0" indent="0">
              <a:buNone/>
            </a:pPr>
            <a:r>
              <a:rPr lang="en-US" sz="1250" b="1" dirty="0">
                <a:solidFill>
                  <a:srgbClr val="0F1F3D"/>
                </a:solidFill>
                <a:latin typeface="Calibri" panose="020F0502020204030204" pitchFamily="34" charset="0"/>
                <a:ea typeface="Calibri" panose="020F0502020204030204" pitchFamily="34" charset="-122"/>
                <a:cs typeface="Calibri" panose="020F0502020204030204" pitchFamily="34" charset="-120"/>
              </a:rPr>
              <a:t>Our Roots</a:t>
            </a:r>
            <a:endParaRPr lang="en-US" sz="1250" dirty="0"/>
          </a:p>
        </p:txBody>
      </p:sp>
      <p:sp>
        <p:nvSpPr>
          <p:cNvPr id="11" name="Text 9"/>
          <p:cNvSpPr/>
          <p:nvPr/>
        </p:nvSpPr>
        <p:spPr>
          <a:xfrm>
            <a:off x="749935" y="2540000"/>
            <a:ext cx="3154680" cy="1224280"/>
          </a:xfrm>
          <a:prstGeom prst="rect">
            <a:avLst/>
          </a:prstGeom>
          <a:noFill/>
        </p:spPr>
        <p:txBody>
          <a:bodyPr wrap="square" lIns="0" tIns="0" rIns="0" bIns="0" rtlCol="0" anchor="t"/>
          <a:lstStyle/>
          <a:p>
            <a:pPr marL="171450" indent="-171450">
              <a:lnSpc>
                <a:spcPct val="115000"/>
              </a:lnSpc>
              <a:buFont typeface="Arial" panose="020B0604020202020204" pitchFamily="34" charset="0"/>
              <a:buChar char="•"/>
            </a:pPr>
            <a:r>
              <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rPr>
              <a:t>Founded in 1982 at Gita Vatika, Gorakhpur, serving 13 districts </a:t>
            </a:r>
            <a:endPar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endParaRPr>
          </a:p>
          <a:p>
            <a:pPr marL="171450" indent="-171450">
              <a:lnSpc>
                <a:spcPct val="115000"/>
              </a:lnSpc>
              <a:buFont typeface="Arial" panose="020B0604020202020204" pitchFamily="34" charset="0"/>
              <a:buChar char="•"/>
            </a:pPr>
            <a:r>
              <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rPr>
              <a:t>of eastern UP, Bihar &amp; Nepal.</a:t>
            </a:r>
            <a:endPar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endParaRPr>
          </a:p>
          <a:p>
            <a:pPr marL="171450" indent="-171450">
              <a:lnSpc>
                <a:spcPct val="115000"/>
              </a:lnSpc>
              <a:buFont typeface="Arial" panose="020B0604020202020204" pitchFamily="34" charset="0"/>
              <a:buChar char="•"/>
            </a:pPr>
            <a:endParaRPr lang="en-US" sz="1400" dirty="0"/>
          </a:p>
          <a:p>
            <a:pPr marL="171450" indent="-171450">
              <a:lnSpc>
                <a:spcPct val="115000"/>
              </a:lnSpc>
              <a:buFont typeface="Arial" panose="020B0604020202020204" pitchFamily="34" charset="0"/>
              <a:buChar char="•"/>
            </a:pPr>
            <a:r>
              <a:rPr lang="en-US" altLang="en-US" sz="1400" dirty="0"/>
              <a:t>With a strong legacy of service and compassion, the hospital aims to make quality cancer care accessible across Eastern Uttar Pradesh and adjoining regions.</a:t>
            </a:r>
            <a:endParaRPr lang="en-US" altLang="en-US" sz="1400" dirty="0"/>
          </a:p>
        </p:txBody>
      </p:sp>
      <p:sp>
        <p:nvSpPr>
          <p:cNvPr id="13" name="Text 11"/>
          <p:cNvSpPr/>
          <p:nvPr/>
        </p:nvSpPr>
        <p:spPr>
          <a:xfrm>
            <a:off x="749808" y="3300476"/>
            <a:ext cx="3154680" cy="292608"/>
          </a:xfrm>
          <a:prstGeom prst="rect">
            <a:avLst/>
          </a:prstGeom>
          <a:noFill/>
        </p:spPr>
        <p:txBody>
          <a:bodyPr wrap="square" lIns="0" tIns="0" rIns="0" bIns="0" rtlCol="0" anchor="ctr"/>
          <a:lstStyle/>
          <a:p>
            <a:pPr marL="0" indent="0">
              <a:buNone/>
            </a:pPr>
            <a:endParaRPr lang="en-US" sz="1250" dirty="0"/>
          </a:p>
        </p:txBody>
      </p:sp>
      <p:sp>
        <p:nvSpPr>
          <p:cNvPr id="19" name="Text 17"/>
          <p:cNvSpPr/>
          <p:nvPr/>
        </p:nvSpPr>
        <p:spPr>
          <a:xfrm>
            <a:off x="749808" y="4744466"/>
            <a:ext cx="3154680" cy="292608"/>
          </a:xfrm>
          <a:prstGeom prst="rect">
            <a:avLst/>
          </a:prstGeom>
          <a:noFill/>
        </p:spPr>
        <p:txBody>
          <a:bodyPr wrap="square" lIns="0" tIns="0" rIns="0" bIns="0" rtlCol="0" anchor="ctr"/>
          <a:lstStyle/>
          <a:p>
            <a:pPr marL="0" indent="0">
              <a:buNone/>
            </a:pPr>
            <a:r>
              <a:rPr lang="en-US" sz="1250" b="1" dirty="0">
                <a:solidFill>
                  <a:srgbClr val="0F1F3D"/>
                </a:solidFill>
                <a:latin typeface="Calibri" panose="020F0502020204030204" pitchFamily="34" charset="0"/>
                <a:ea typeface="Calibri" panose="020F0502020204030204" pitchFamily="34" charset="-122"/>
                <a:cs typeface="Calibri" panose="020F0502020204030204" pitchFamily="34" charset="-120"/>
              </a:rPr>
              <a:t>Growing Reach</a:t>
            </a:r>
            <a:endParaRPr lang="en-US" sz="1250" dirty="0"/>
          </a:p>
        </p:txBody>
      </p:sp>
      <p:sp>
        <p:nvSpPr>
          <p:cNvPr id="20" name="Text 18"/>
          <p:cNvSpPr/>
          <p:nvPr/>
        </p:nvSpPr>
        <p:spPr>
          <a:xfrm>
            <a:off x="749935" y="5036820"/>
            <a:ext cx="3179445" cy="1617345"/>
          </a:xfrm>
          <a:prstGeom prst="rect">
            <a:avLst/>
          </a:prstGeom>
          <a:noFill/>
        </p:spPr>
        <p:txBody>
          <a:bodyPr wrap="square" lIns="0" tIns="0" rIns="0" bIns="0" rtlCol="0" anchor="t"/>
          <a:lstStyle/>
          <a:p>
            <a:pPr marL="0" indent="0">
              <a:lnSpc>
                <a:spcPct val="115000"/>
              </a:lnSpc>
              <a:buNone/>
            </a:pPr>
            <a:r>
              <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rPr>
              <a:t>New patient volumes grew from 4,060 (2022) to 5,036 (2024); NABH-accredited </a:t>
            </a:r>
            <a:endPar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15000"/>
              </a:lnSpc>
              <a:buNone/>
            </a:pPr>
            <a:r>
              <a:rPr lang="en-US" sz="1400" dirty="0">
                <a:solidFill>
                  <a:srgbClr val="13233F"/>
                </a:solidFill>
                <a:latin typeface="Calibri" panose="020F0502020204030204" pitchFamily="34" charset="0"/>
                <a:ea typeface="Calibri" panose="020F0502020204030204" pitchFamily="34" charset="-122"/>
                <a:cs typeface="Calibri" panose="020F0502020204030204" pitchFamily="34" charset="-120"/>
              </a:rPr>
              <a:t>&amp; HBCR-reporting since 2022</a:t>
            </a:r>
            <a:r>
              <a:rPr lang="en-US" sz="1000" dirty="0">
                <a:solidFill>
                  <a:srgbClr val="13233F"/>
                </a:solidFill>
                <a:latin typeface="Calibri" panose="020F0502020204030204" pitchFamily="34" charset="0"/>
                <a:ea typeface="Calibri" panose="020F0502020204030204" pitchFamily="34" charset="-122"/>
                <a:cs typeface="Calibri" panose="020F0502020204030204" pitchFamily="34" charset="-120"/>
              </a:rPr>
              <a:t>.</a:t>
            </a:r>
            <a:endParaRPr lang="en-US" sz="1000" dirty="0">
              <a:solidFill>
                <a:srgbClr val="13233F"/>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15000"/>
              </a:lnSpc>
              <a:buNone/>
            </a:pPr>
            <a:endParaRPr lang="en-US" sz="1000" dirty="0"/>
          </a:p>
          <a:p>
            <a:pPr marL="0" indent="0">
              <a:lnSpc>
                <a:spcPct val="115000"/>
              </a:lnSpc>
              <a:buNone/>
            </a:pPr>
            <a:endParaRPr lang="en-US" altLang="en-US" sz="1000"/>
          </a:p>
          <a:p>
            <a:pPr marL="0" indent="0">
              <a:lnSpc>
                <a:spcPct val="115000"/>
              </a:lnSpc>
              <a:buNone/>
            </a:pPr>
            <a:endParaRPr lang="en-US" sz="1000" dirty="0"/>
          </a:p>
        </p:txBody>
      </p:sp>
      <p:sp>
        <p:nvSpPr>
          <p:cNvPr id="27" name="Shape 25"/>
          <p:cNvSpPr/>
          <p:nvPr/>
        </p:nvSpPr>
        <p:spPr>
          <a:xfrm>
            <a:off x="530225" y="6017260"/>
            <a:ext cx="11082655" cy="476250"/>
          </a:xfrm>
          <a:prstGeom prst="roundRect">
            <a:avLst>
              <a:gd name="adj" fmla="val 9412"/>
            </a:avLst>
          </a:prstGeom>
          <a:solidFill>
            <a:srgbClr val="FCEFD8"/>
          </a:solidFill>
        </p:spPr>
        <p:txBody>
          <a:bodyPr/>
          <a:p>
            <a:endParaRPr lang="en-US"/>
          </a:p>
        </p:txBody>
      </p:sp>
      <p:sp>
        <p:nvSpPr>
          <p:cNvPr id="28" name="Text 26"/>
          <p:cNvSpPr/>
          <p:nvPr/>
        </p:nvSpPr>
        <p:spPr>
          <a:xfrm>
            <a:off x="749935" y="5873750"/>
            <a:ext cx="10607040" cy="685800"/>
          </a:xfrm>
          <a:prstGeom prst="rect">
            <a:avLst/>
          </a:prstGeom>
          <a:noFill/>
        </p:spPr>
        <p:txBody>
          <a:bodyPr wrap="square" lIns="0" tIns="0" rIns="0" bIns="0" rtlCol="0" anchor="ctr"/>
          <a:lstStyle/>
          <a:p>
            <a:pPr marL="0" indent="0">
              <a:lnSpc>
                <a:spcPct val="115000"/>
              </a:lnSpc>
              <a:buNone/>
            </a:pPr>
            <a:r>
              <a:rPr lang="en-US" sz="1000" b="1" dirty="0">
                <a:solidFill>
                  <a:srgbClr val="0F1F3D"/>
                </a:solidFill>
                <a:latin typeface="Calibri" panose="020F0502020204030204" pitchFamily="34" charset="0"/>
                <a:ea typeface="Calibri" panose="020F0502020204030204" pitchFamily="34" charset="-122"/>
                <a:cs typeface="Calibri" panose="020F0502020204030204" pitchFamily="34" charset="-120"/>
                <a:sym typeface="+mn-ea"/>
              </a:rPr>
              <a:t>Our Motto</a:t>
            </a:r>
            <a:endParaRPr lang="en-US" sz="1000" dirty="0">
              <a:solidFill>
                <a:srgbClr val="13233F"/>
              </a:solidFill>
              <a:latin typeface="Calibri" panose="020F0502020204030204" pitchFamily="34" charset="0"/>
              <a:ea typeface="Calibri" panose="020F0502020204030204" pitchFamily="34" charset="-122"/>
              <a:cs typeface="Calibri" panose="020F0502020204030204" pitchFamily="34" charset="-120"/>
              <a:sym typeface="+mn-ea"/>
            </a:endParaRPr>
          </a:p>
          <a:p>
            <a:pPr marL="0" indent="0">
              <a:lnSpc>
                <a:spcPct val="115000"/>
              </a:lnSpc>
              <a:buNone/>
            </a:pPr>
            <a:r>
              <a:rPr lang="en-US" sz="1000" dirty="0">
                <a:solidFill>
                  <a:srgbClr val="13233F"/>
                </a:solidFill>
                <a:latin typeface="Calibri" panose="020F0502020204030204" pitchFamily="34" charset="0"/>
                <a:ea typeface="Calibri" panose="020F0502020204030204" pitchFamily="34" charset="-122"/>
                <a:cs typeface="Calibri" panose="020F0502020204030204" pitchFamily="34" charset="-120"/>
                <a:sym typeface="+mn-ea"/>
              </a:rPr>
              <a:t>“Seva of Artnarayan” — compassionate cancer care for all, regardless of means.</a:t>
            </a:r>
            <a:endParaRPr lang="en-US" sz="100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2" name="Picture 1"/>
          <p:cNvPicPr>
            <a:picLocks noChangeAspect="1"/>
          </p:cNvPicPr>
          <p:nvPr/>
        </p:nvPicPr>
        <p:blipFill>
          <a:blip r:embed="rId2"/>
          <a:srcRect t="15104" r="11183" b="9582"/>
          <a:stretch>
            <a:fillRect/>
          </a:stretch>
        </p:blipFill>
        <p:spPr>
          <a:xfrm>
            <a:off x="7108825" y="2110105"/>
            <a:ext cx="4458335" cy="2814955"/>
          </a:xfrm>
          <a:prstGeom prst="rect">
            <a:avLst/>
          </a:prstGeom>
        </p:spPr>
      </p:pic>
      <p:sp>
        <p:nvSpPr>
          <p:cNvPr id="4" name="Text 8"/>
          <p:cNvSpPr/>
          <p:nvPr/>
        </p:nvSpPr>
        <p:spPr>
          <a:xfrm>
            <a:off x="4110228" y="2276856"/>
            <a:ext cx="3154680" cy="292608"/>
          </a:xfrm>
          <a:prstGeom prst="rect">
            <a:avLst/>
          </a:prstGeom>
          <a:noFill/>
        </p:spPr>
        <p:txBody>
          <a:bodyPr wrap="square" lIns="0" tIns="0" rIns="0" bIns="0" rtlCol="0" anchor="ctr"/>
          <a:lstStyle/>
          <a:p>
            <a:pPr marL="0" indent="0">
              <a:buNone/>
            </a:pPr>
            <a:r>
              <a:rPr lang="en-US" sz="1250" b="1" dirty="0">
                <a:solidFill>
                  <a:srgbClr val="0F1F3D"/>
                </a:solidFill>
                <a:latin typeface="Calibri" panose="020F0502020204030204" pitchFamily="34" charset="0"/>
                <a:ea typeface="Calibri" panose="020F0502020204030204" pitchFamily="34" charset="-122"/>
                <a:cs typeface="Calibri" panose="020F0502020204030204" pitchFamily="34" charset="-120"/>
              </a:rPr>
              <a:t>Our </a:t>
            </a:r>
            <a:r>
              <a:rPr lang="en-IN" altLang="en-US" sz="1250" b="1" dirty="0">
                <a:solidFill>
                  <a:srgbClr val="0F1F3D"/>
                </a:solidFill>
                <a:latin typeface="Calibri" panose="020F0502020204030204" pitchFamily="34" charset="0"/>
                <a:ea typeface="Calibri" panose="020F0502020204030204" pitchFamily="34" charset="-122"/>
                <a:cs typeface="Calibri" panose="020F0502020204030204" pitchFamily="34" charset="-120"/>
              </a:rPr>
              <a:t>Facilities</a:t>
            </a:r>
            <a:endParaRPr lang="en-IN" altLang="en-US" sz="1250" b="1" dirty="0">
              <a:solidFill>
                <a:srgbClr val="0F1F3D"/>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9"/>
          <p:cNvSpPr/>
          <p:nvPr/>
        </p:nvSpPr>
        <p:spPr>
          <a:xfrm>
            <a:off x="4000500" y="2640330"/>
            <a:ext cx="3154680" cy="1224280"/>
          </a:xfrm>
          <a:prstGeom prst="rect">
            <a:avLst/>
          </a:prstGeom>
          <a:noFill/>
        </p:spPr>
        <p:txBody>
          <a:bodyPr wrap="square" lIns="0" tIns="0" rIns="0" bIns="0" rtlCol="0" anchor="t"/>
          <a:lstStyle/>
          <a:p>
            <a:pPr marL="171450" indent="-171450">
              <a:lnSpc>
                <a:spcPct val="115000"/>
              </a:lnSpc>
              <a:buFont typeface="Arial" panose="020B0604020202020204" pitchFamily="34" charset="0"/>
              <a:buChar char="•"/>
            </a:pPr>
            <a:r>
              <a:rPr lang="en-US" altLang="en-US" sz="1400">
                <a:sym typeface="+mn-ea"/>
              </a:rPr>
              <a:t>Major services include Radiation,</a:t>
            </a:r>
            <a:endParaRPr lang="en-US" altLang="en-US" sz="1400">
              <a:sym typeface="+mn-ea"/>
            </a:endParaRPr>
          </a:p>
          <a:p>
            <a:pPr indent="0">
              <a:lnSpc>
                <a:spcPct val="115000"/>
              </a:lnSpc>
              <a:buFont typeface="Arial" panose="020B0604020202020204" pitchFamily="34" charset="0"/>
              <a:buNone/>
            </a:pPr>
            <a:r>
              <a:rPr lang="en-US" altLang="en-US" sz="1400">
                <a:sym typeface="+mn-ea"/>
              </a:rPr>
              <a:t>Medical &amp; Surgical Oncology, </a:t>
            </a:r>
            <a:endParaRPr lang="en-US" altLang="en-US" sz="1400">
              <a:sym typeface="+mn-ea"/>
            </a:endParaRPr>
          </a:p>
          <a:p>
            <a:pPr indent="0">
              <a:lnSpc>
                <a:spcPct val="115000"/>
              </a:lnSpc>
              <a:buFont typeface="Arial" panose="020B0604020202020204" pitchFamily="34" charset="0"/>
              <a:buNone/>
            </a:pPr>
            <a:r>
              <a:rPr lang="en-US" altLang="en-US" sz="1400">
                <a:sym typeface="+mn-ea"/>
              </a:rPr>
              <a:t>Diagnostics, Palliative Care and Rehabilitation.</a:t>
            </a:r>
            <a:endParaRPr lang="en-US" altLang="en-US" sz="1400">
              <a:sym typeface="+mn-ea"/>
            </a:endParaRPr>
          </a:p>
          <a:p>
            <a:pPr marL="171450" indent="-171450">
              <a:lnSpc>
                <a:spcPct val="115000"/>
              </a:lnSpc>
              <a:buFont typeface="Arial" panose="020B0604020202020204" pitchFamily="34" charset="0"/>
              <a:buChar char="•"/>
            </a:pPr>
            <a:endParaRPr lang="en-US" altLang="en-US" sz="1400">
              <a:sym typeface="+mn-ea"/>
            </a:endParaRPr>
          </a:p>
          <a:p>
            <a:pPr marL="171450" indent="-171450">
              <a:lnSpc>
                <a:spcPct val="115000"/>
              </a:lnSpc>
              <a:buFont typeface="Arial" panose="020B0604020202020204" pitchFamily="34" charset="0"/>
              <a:buChar char="•"/>
            </a:pPr>
            <a:r>
              <a:rPr lang="en-US" altLang="en-US" sz="1400">
                <a:sym typeface="+mn-ea"/>
              </a:rPr>
              <a:t>The hospital is equipped with </a:t>
            </a:r>
            <a:endParaRPr lang="en-US" altLang="en-US" sz="1400">
              <a:sym typeface="+mn-ea"/>
            </a:endParaRPr>
          </a:p>
          <a:p>
            <a:pPr indent="0">
              <a:lnSpc>
                <a:spcPct val="115000"/>
              </a:lnSpc>
              <a:buFont typeface="Arial" panose="020B0604020202020204" pitchFamily="34" charset="0"/>
              <a:buNone/>
            </a:pPr>
            <a:r>
              <a:rPr lang="en-US" altLang="en-US" sz="1400">
                <a:sym typeface="+mn-ea"/>
              </a:rPr>
              <a:t>advanced facilities including </a:t>
            </a:r>
            <a:endParaRPr lang="en-US" altLang="en-US" sz="1400">
              <a:sym typeface="+mn-ea"/>
            </a:endParaRPr>
          </a:p>
          <a:p>
            <a:pPr indent="0">
              <a:lnSpc>
                <a:spcPct val="115000"/>
              </a:lnSpc>
              <a:buFont typeface="Arial" panose="020B0604020202020204" pitchFamily="34" charset="0"/>
              <a:buNone/>
            </a:pPr>
            <a:r>
              <a:rPr lang="en-US" altLang="en-US" sz="1400">
                <a:sym typeface="+mn-ea"/>
              </a:rPr>
              <a:t>TrueBeam, Linear Accelerators, Cobalt Teletherapy, HDR Brachytherapy, CT, Mammography and Pathology.</a:t>
            </a:r>
            <a:endParaRPr lang="en-US" altLang="en-US" sz="1400"/>
          </a:p>
          <a:p>
            <a:pPr marL="171450" indent="-171450">
              <a:lnSpc>
                <a:spcPct val="115000"/>
              </a:lnSpc>
              <a:buFont typeface="Arial" panose="020B0604020202020204" pitchFamily="34" charset="0"/>
              <a:buChar char="•"/>
            </a:pPr>
            <a:endParaRPr lang="en-US"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CAMPAIGN INTRODUCTION</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Why This Campaign?</a:t>
            </a:r>
            <a:endParaRPr lang="en-US" sz="3000" dirty="0"/>
          </a:p>
        </p:txBody>
      </p:sp>
      <p:sp>
        <p:nvSpPr>
          <p:cNvPr id="8" name="Text 6"/>
          <p:cNvSpPr/>
          <p:nvPr/>
        </p:nvSpPr>
        <p:spPr>
          <a:xfrm>
            <a:off x="548640" y="1828800"/>
            <a:ext cx="6035040" cy="548640"/>
          </a:xfrm>
          <a:prstGeom prst="rect">
            <a:avLst/>
          </a:prstGeom>
          <a:noFill/>
        </p:spPr>
        <p:txBody>
          <a:bodyPr wrap="square" lIns="0" tIns="0" rIns="0" bIns="0" rtlCol="0" anchor="ctr"/>
          <a:lstStyle/>
          <a:p>
            <a:pPr marL="0" indent="0">
              <a:buNone/>
            </a:pPr>
            <a:r>
              <a:rPr lang="en-US" altLang="en-US" sz="1350" dirty="0"/>
              <a:t>50 Years of Saving Lives — Now, Let’s Help People Come Earlier.</a:t>
            </a:r>
            <a:endParaRPr lang="en-US" altLang="en-US" sz="1350" dirty="0"/>
          </a:p>
        </p:txBody>
      </p:sp>
      <p:sp>
        <p:nvSpPr>
          <p:cNvPr id="9" name="Shape 7"/>
          <p:cNvSpPr/>
          <p:nvPr/>
        </p:nvSpPr>
        <p:spPr>
          <a:xfrm>
            <a:off x="548640" y="2481580"/>
            <a:ext cx="6035040" cy="994410"/>
          </a:xfrm>
          <a:prstGeom prst="roundRect">
            <a:avLst>
              <a:gd name="adj" fmla="val 9677"/>
            </a:avLst>
          </a:prstGeom>
          <a:solidFill>
            <a:srgbClr val="EAF0FA"/>
          </a:solidFill>
        </p:spPr>
      </p:sp>
      <p:sp>
        <p:nvSpPr>
          <p:cNvPr id="10" name="Shape 8"/>
          <p:cNvSpPr/>
          <p:nvPr/>
        </p:nvSpPr>
        <p:spPr>
          <a:xfrm>
            <a:off x="685800" y="2633472"/>
            <a:ext cx="329184" cy="329184"/>
          </a:xfrm>
          <a:prstGeom prst="ellipse">
            <a:avLst/>
          </a:prstGeom>
          <a:solidFill>
            <a:srgbClr val="C9A227"/>
          </a:solidFill>
        </p:spPr>
      </p:sp>
      <p:sp>
        <p:nvSpPr>
          <p:cNvPr id="11" name="Text 9"/>
          <p:cNvSpPr/>
          <p:nvPr/>
        </p:nvSpPr>
        <p:spPr>
          <a:xfrm>
            <a:off x="677545" y="2634107"/>
            <a:ext cx="329184" cy="329184"/>
          </a:xfrm>
          <a:prstGeom prst="rect">
            <a:avLst/>
          </a:prstGeom>
          <a:noFill/>
        </p:spPr>
        <p:txBody>
          <a:bodyPr wrap="square" lIns="0" tIns="0" rIns="0" bIns="0" rtlCol="0" anchor="ctr"/>
          <a:lstStyle/>
          <a:p>
            <a:pPr marL="0" indent="0" algn="ctr">
              <a:buNone/>
            </a:pPr>
            <a:r>
              <a:rPr lang="en-US" sz="865"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865" dirty="0"/>
          </a:p>
        </p:txBody>
      </p:sp>
      <p:sp>
        <p:nvSpPr>
          <p:cNvPr id="12" name="Text 10"/>
          <p:cNvSpPr/>
          <p:nvPr/>
        </p:nvSpPr>
        <p:spPr>
          <a:xfrm>
            <a:off x="1054735" y="2698115"/>
            <a:ext cx="5349240" cy="566928"/>
          </a:xfrm>
          <a:prstGeom prst="rect">
            <a:avLst/>
          </a:prstGeom>
          <a:noFill/>
        </p:spPr>
        <p:txBody>
          <a:bodyPr wrap="square" lIns="0" tIns="0" rIns="0" bIns="0" rtlCol="0" anchor="ctr"/>
          <a:lstStyle/>
          <a:p>
            <a:pPr marL="0" indent="0">
              <a:buNone/>
            </a:pPr>
            <a:r>
              <a:rPr lang="en-US" altLang="en-US" sz="1600" dirty="0"/>
              <a:t>For 50 years, HPPCHRI has stood beside cancer patients and their families, offering treatment, hope and care through some of their most difficult moments.</a:t>
            </a:r>
            <a:endParaRPr lang="en-US" altLang="en-US" sz="1600" dirty="0"/>
          </a:p>
        </p:txBody>
      </p:sp>
      <p:sp>
        <p:nvSpPr>
          <p:cNvPr id="13" name="Shape 11"/>
          <p:cNvSpPr/>
          <p:nvPr/>
        </p:nvSpPr>
        <p:spPr>
          <a:xfrm>
            <a:off x="530225" y="3585845"/>
            <a:ext cx="6035040" cy="967740"/>
          </a:xfrm>
          <a:prstGeom prst="roundRect">
            <a:avLst>
              <a:gd name="adj" fmla="val 9677"/>
            </a:avLst>
          </a:prstGeom>
          <a:solidFill>
            <a:srgbClr val="F3F5FA"/>
          </a:solidFill>
        </p:spPr>
      </p:sp>
      <p:sp>
        <p:nvSpPr>
          <p:cNvPr id="16" name="Text 14"/>
          <p:cNvSpPr/>
          <p:nvPr/>
        </p:nvSpPr>
        <p:spPr>
          <a:xfrm>
            <a:off x="1006475" y="3849116"/>
            <a:ext cx="5349240" cy="566928"/>
          </a:xfrm>
          <a:prstGeom prst="rect">
            <a:avLst/>
          </a:prstGeom>
          <a:noFill/>
        </p:spPr>
        <p:txBody>
          <a:bodyPr wrap="square" lIns="0" tIns="0" rIns="0" bIns="0" rtlCol="0" anchor="ctr"/>
          <a:lstStyle/>
          <a:p>
            <a:pPr marL="0" indent="0">
              <a:buNone/>
            </a:pPr>
            <a:r>
              <a:rPr lang="en-US" altLang="en-US" sz="1600" dirty="0"/>
              <a:t>The challenge is not only treating cancer — it is helping people recognise it before it is too late. A warning sign noticed today, a check-up taken today, can change the course of a life tomorrow.</a:t>
            </a:r>
            <a:endParaRPr lang="en-US" altLang="en-US" sz="1600" dirty="0"/>
          </a:p>
        </p:txBody>
      </p:sp>
      <p:sp>
        <p:nvSpPr>
          <p:cNvPr id="17" name="Shape 15"/>
          <p:cNvSpPr/>
          <p:nvPr/>
        </p:nvSpPr>
        <p:spPr>
          <a:xfrm>
            <a:off x="502920" y="4663440"/>
            <a:ext cx="6035040" cy="1260475"/>
          </a:xfrm>
          <a:prstGeom prst="roundRect">
            <a:avLst>
              <a:gd name="adj" fmla="val 9677"/>
            </a:avLst>
          </a:prstGeom>
          <a:solidFill>
            <a:srgbClr val="EAF0FA"/>
          </a:solidFill>
        </p:spPr>
        <p:txBody>
          <a:bodyPr/>
          <a:p>
            <a:endParaRPr lang="en-US"/>
          </a:p>
        </p:txBody>
      </p:sp>
      <p:sp>
        <p:nvSpPr>
          <p:cNvPr id="20" name="Text 18"/>
          <p:cNvSpPr/>
          <p:nvPr/>
        </p:nvSpPr>
        <p:spPr>
          <a:xfrm>
            <a:off x="1014730" y="4572000"/>
            <a:ext cx="5389245" cy="1388745"/>
          </a:xfrm>
          <a:prstGeom prst="rect">
            <a:avLst/>
          </a:prstGeom>
          <a:noFill/>
        </p:spPr>
        <p:txBody>
          <a:bodyPr wrap="square" lIns="0" tIns="0" rIns="0" bIns="0" rtlCol="0" anchor="ctr"/>
          <a:lstStyle/>
          <a:p>
            <a:pPr marL="0" indent="0">
              <a:buNone/>
            </a:pPr>
            <a:r>
              <a:rPr lang="en-US" altLang="en-US" sz="1600" dirty="0"/>
              <a:t>We want every person to know the signs, seek timely medical advice, and reach a hospital early — because the earlier we find cancer, the more chances we have to save a life.</a:t>
            </a:r>
            <a:endParaRPr lang="en-US" altLang="en-US" sz="1600" dirty="0"/>
          </a:p>
        </p:txBody>
      </p:sp>
      <p:sp>
        <p:nvSpPr>
          <p:cNvPr id="34" name="Text 32"/>
          <p:cNvSpPr/>
          <p:nvPr/>
        </p:nvSpPr>
        <p:spPr>
          <a:xfrm>
            <a:off x="7132320" y="1965960"/>
            <a:ext cx="914400" cy="822960"/>
          </a:xfrm>
          <a:prstGeom prst="rect">
            <a:avLst/>
          </a:prstGeom>
          <a:noFill/>
        </p:spPr>
        <p:txBody>
          <a:bodyPr wrap="square" lIns="0" tIns="0" rIns="0" bIns="0" rtlCol="0" anchor="ctr"/>
          <a:lstStyle/>
          <a:p>
            <a:pPr marL="0" indent="0">
              <a:buNone/>
            </a:pPr>
            <a:endParaRPr lang="en-US" sz="4600" dirty="0"/>
          </a:p>
        </p:txBody>
      </p:sp>
      <p:sp>
        <p:nvSpPr>
          <p:cNvPr id="35" name="Text 33"/>
          <p:cNvSpPr/>
          <p:nvPr/>
        </p:nvSpPr>
        <p:spPr>
          <a:xfrm>
            <a:off x="7315200" y="2651760"/>
            <a:ext cx="4023360" cy="2011680"/>
          </a:xfrm>
          <a:prstGeom prst="rect">
            <a:avLst/>
          </a:prstGeom>
          <a:noFill/>
        </p:spPr>
        <p:txBody>
          <a:bodyPr wrap="square" lIns="0" tIns="0" rIns="0" bIns="0" rtlCol="0" anchor="ctr"/>
          <a:lstStyle/>
          <a:p>
            <a:pPr marL="0" indent="0" algn="l">
              <a:lnSpc>
                <a:spcPct val="135000"/>
              </a:lnSpc>
              <a:buNone/>
            </a:pPr>
            <a:r>
              <a:rPr lang="en-US" sz="1600" i="1" dirty="0">
                <a:solidFill>
                  <a:srgbClr val="FFFFFF"/>
                </a:solidFill>
                <a:latin typeface="Georgia" panose="02040502050405020303" pitchFamily="34" charset="0"/>
                <a:ea typeface="Georgia" panose="02040502050405020303" pitchFamily="34" charset="-122"/>
                <a:cs typeface="Georgia" panose="02040502050405020303" pitchFamily="34" charset="-120"/>
              </a:rPr>
              <a:t>Cancer awareness saves lives — not by promising cures, but by moving people from silence to timely action.</a:t>
            </a:r>
            <a:endParaRPr lang="en-US" sz="1600" dirty="0"/>
          </a:p>
        </p:txBody>
      </p:sp>
      <p:pic>
        <p:nvPicPr>
          <p:cNvPr id="38" name="Picture 37"/>
          <p:cNvPicPr/>
          <p:nvPr/>
        </p:nvPicPr>
        <p:blipFill>
          <a:blip r:embed="rId1"/>
          <a:stretch>
            <a:fillRect/>
          </a:stretch>
        </p:blipFill>
        <p:spPr>
          <a:xfrm>
            <a:off x="6946900" y="2176145"/>
            <a:ext cx="4739005" cy="2872740"/>
          </a:xfrm>
          <a:prstGeom prst="rect">
            <a:avLst/>
          </a:prstGeom>
        </p:spPr>
      </p:pic>
      <p:sp>
        <p:nvSpPr>
          <p:cNvPr id="39"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40"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41"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42" name="Picture 41" descr="hppchri"/>
          <p:cNvPicPr>
            <a:picLocks noChangeAspect="1"/>
          </p:cNvPicPr>
          <p:nvPr/>
        </p:nvPicPr>
        <p:blipFill>
          <a:blip r:embed="rId2"/>
          <a:stretch>
            <a:fillRect/>
          </a:stretch>
        </p:blipFill>
        <p:spPr>
          <a:xfrm>
            <a:off x="210185" y="100965"/>
            <a:ext cx="695325" cy="695325"/>
          </a:xfrm>
          <a:prstGeom prst="rect">
            <a:avLst/>
          </a:prstGeom>
        </p:spPr>
      </p:pic>
      <p:sp>
        <p:nvSpPr>
          <p:cNvPr id="43" name="Shape 16"/>
          <p:cNvSpPr/>
          <p:nvPr/>
        </p:nvSpPr>
        <p:spPr>
          <a:xfrm>
            <a:off x="576580" y="4800219"/>
            <a:ext cx="329184" cy="329184"/>
          </a:xfrm>
          <a:prstGeom prst="ellipse">
            <a:avLst/>
          </a:prstGeom>
          <a:solidFill>
            <a:srgbClr val="C9A227"/>
          </a:solidFill>
        </p:spPr>
      </p:sp>
      <p:sp>
        <p:nvSpPr>
          <p:cNvPr id="44" name="Text 17"/>
          <p:cNvSpPr/>
          <p:nvPr/>
        </p:nvSpPr>
        <p:spPr>
          <a:xfrm>
            <a:off x="576580" y="4800219"/>
            <a:ext cx="329184" cy="329184"/>
          </a:xfrm>
          <a:prstGeom prst="rect">
            <a:avLst/>
          </a:prstGeom>
          <a:noFill/>
        </p:spPr>
        <p:txBody>
          <a:bodyPr wrap="square" lIns="0" tIns="0" rIns="0" bIns="0" rtlCol="0" anchor="ctr"/>
          <a:lstStyle/>
          <a:p>
            <a:pPr marL="0" indent="0" algn="ctr">
              <a:buNone/>
            </a:pPr>
            <a:r>
              <a:rPr lang="en-US" sz="865"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865" dirty="0"/>
          </a:p>
        </p:txBody>
      </p:sp>
      <p:sp>
        <p:nvSpPr>
          <p:cNvPr id="45" name="Shape 12"/>
          <p:cNvSpPr/>
          <p:nvPr/>
        </p:nvSpPr>
        <p:spPr>
          <a:xfrm>
            <a:off x="576580" y="3784473"/>
            <a:ext cx="329184" cy="329184"/>
          </a:xfrm>
          <a:prstGeom prst="ellipse">
            <a:avLst/>
          </a:prstGeom>
          <a:solidFill>
            <a:srgbClr val="C9A227"/>
          </a:solidFill>
        </p:spPr>
      </p:sp>
      <p:sp>
        <p:nvSpPr>
          <p:cNvPr id="46" name="Text 13"/>
          <p:cNvSpPr/>
          <p:nvPr/>
        </p:nvSpPr>
        <p:spPr>
          <a:xfrm>
            <a:off x="576580" y="3784473"/>
            <a:ext cx="329184" cy="329184"/>
          </a:xfrm>
          <a:prstGeom prst="rect">
            <a:avLst/>
          </a:prstGeom>
          <a:noFill/>
        </p:spPr>
        <p:txBody>
          <a:bodyPr wrap="square" lIns="0" tIns="0" rIns="0" bIns="0" rtlCol="0" anchor="ctr"/>
          <a:lstStyle/>
          <a:p>
            <a:pPr marL="0" indent="0" algn="ctr">
              <a:buNone/>
            </a:pPr>
            <a:r>
              <a:rPr lang="en-US" sz="865"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86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A REAL-WORLD EXAMPLE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Hyderabad: Community Awareness in Action</a:t>
            </a:r>
            <a:endParaRPr lang="en-US" sz="3000" dirty="0"/>
          </a:p>
        </p:txBody>
      </p:sp>
      <p:sp>
        <p:nvSpPr>
          <p:cNvPr id="8" name="Shape 6"/>
          <p:cNvSpPr/>
          <p:nvPr/>
        </p:nvSpPr>
        <p:spPr>
          <a:xfrm>
            <a:off x="548640" y="1965960"/>
            <a:ext cx="4968875" cy="4023360"/>
          </a:xfrm>
          <a:prstGeom prst="roundRect">
            <a:avLst>
              <a:gd name="adj" fmla="val 1818"/>
            </a:avLst>
          </a:prstGeom>
          <a:solidFill>
            <a:srgbClr val="EAF0FA"/>
          </a:solidFill>
          <a:effectLst>
            <a:outerShdw blurRad="76200" dist="25400" dir="5400000" algn="bl" rotWithShape="0">
              <a:srgbClr val="203864">
                <a:alpha val="18000"/>
              </a:srgbClr>
            </a:outerShdw>
          </a:effectLst>
        </p:spPr>
      </p:sp>
      <p:sp>
        <p:nvSpPr>
          <p:cNvPr id="9" name="Text 7"/>
          <p:cNvSpPr/>
          <p:nvPr/>
        </p:nvSpPr>
        <p:spPr>
          <a:xfrm>
            <a:off x="658495" y="2012315"/>
            <a:ext cx="4352290" cy="985520"/>
          </a:xfrm>
          <a:prstGeom prst="rect">
            <a:avLst/>
          </a:prstGeom>
          <a:noFill/>
        </p:spPr>
        <p:txBody>
          <a:bodyPr wrap="square" lIns="0" tIns="0" rIns="0" bIns="0" rtlCol="0" anchor="ctr"/>
          <a:lstStyle/>
          <a:p>
            <a:pPr marL="0" indent="0" algn="ctr">
              <a:buNone/>
            </a:pPr>
            <a:r>
              <a:rPr lang="en-US" sz="1300" i="1" dirty="0">
                <a:solidFill>
                  <a:srgbClr val="5B6B85"/>
                </a:solidFill>
                <a:latin typeface="Calibri" panose="020F0502020204030204" pitchFamily="34" charset="0"/>
                <a:ea typeface="Calibri" panose="020F0502020204030204" pitchFamily="34" charset="-122"/>
                <a:cs typeface="Calibri" panose="020F0502020204030204" pitchFamily="34" charset="-120"/>
              </a:rPr>
              <a:t>A city-wide cancer screening &amp; awareness drive — hospitals, students, doctors and community organisations working together.</a:t>
            </a:r>
            <a:endParaRPr lang="en-US" sz="1300" dirty="0"/>
          </a:p>
        </p:txBody>
      </p:sp>
      <p:sp>
        <p:nvSpPr>
          <p:cNvPr id="10" name="Shape 8"/>
          <p:cNvSpPr/>
          <p:nvPr/>
        </p:nvSpPr>
        <p:spPr>
          <a:xfrm>
            <a:off x="1173226" y="2898140"/>
            <a:ext cx="2468880" cy="2468880"/>
          </a:xfrm>
          <a:prstGeom prst="ellipse">
            <a:avLst/>
          </a:prstGeom>
          <a:solidFill>
            <a:srgbClr val="0F1F3D"/>
          </a:solidFill>
        </p:spPr>
        <p:txBody>
          <a:bodyPr/>
          <a:p>
            <a:endParaRPr lang="en-US"/>
          </a:p>
        </p:txBody>
      </p:sp>
      <p:sp>
        <p:nvSpPr>
          <p:cNvPr id="11" name="Text 9"/>
          <p:cNvSpPr/>
          <p:nvPr/>
        </p:nvSpPr>
        <p:spPr>
          <a:xfrm>
            <a:off x="1173226" y="3086100"/>
            <a:ext cx="2468880" cy="1005840"/>
          </a:xfrm>
          <a:prstGeom prst="rect">
            <a:avLst/>
          </a:prstGeom>
          <a:noFill/>
        </p:spPr>
        <p:txBody>
          <a:bodyPr wrap="square" lIns="0" tIns="0" rIns="0" bIns="0" rtlCol="0" anchor="ctr"/>
          <a:lstStyle/>
          <a:p>
            <a:pPr marL="0" indent="0" algn="ctr">
              <a:buNone/>
            </a:pPr>
            <a:r>
              <a:rPr lang="en-US" sz="3800" b="1" dirty="0">
                <a:solidFill>
                  <a:srgbClr val="E4C766"/>
                </a:solidFill>
                <a:latin typeface="Georgia" panose="02040502050405020303" pitchFamily="34" charset="0"/>
                <a:ea typeface="Georgia" panose="02040502050405020303" pitchFamily="34" charset="-122"/>
                <a:cs typeface="Georgia" panose="02040502050405020303" pitchFamily="34" charset="-120"/>
              </a:rPr>
              <a:t>~30%</a:t>
            </a:r>
            <a:endParaRPr lang="en-US" sz="3800" dirty="0"/>
          </a:p>
        </p:txBody>
      </p:sp>
      <p:sp>
        <p:nvSpPr>
          <p:cNvPr id="12" name="Text 10"/>
          <p:cNvSpPr/>
          <p:nvPr/>
        </p:nvSpPr>
        <p:spPr>
          <a:xfrm>
            <a:off x="1173226" y="3898900"/>
            <a:ext cx="2468880" cy="777240"/>
          </a:xfrm>
          <a:prstGeom prst="rect">
            <a:avLst/>
          </a:prstGeom>
          <a:noFill/>
        </p:spPr>
        <p:txBody>
          <a:bodyPr wrap="square" lIns="0" tIns="0" rIns="0" bIns="0" rtlCol="0" anchor="t"/>
          <a:lstStyle/>
          <a:p>
            <a:pPr marL="0" indent="0" algn="ctr">
              <a:lnSpc>
                <a:spcPct val="115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improvement in</a:t>
            </a:r>
            <a:endParaRPr lang="en-US" sz="1100" dirty="0"/>
          </a:p>
          <a:p>
            <a:pPr marL="0" indent="0" algn="ctr">
              <a:lnSpc>
                <a:spcPct val="115000"/>
              </a:lnSpc>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early detection</a:t>
            </a:r>
            <a:endParaRPr lang="en-US" sz="1100" dirty="0"/>
          </a:p>
        </p:txBody>
      </p:sp>
      <p:sp>
        <p:nvSpPr>
          <p:cNvPr id="13" name="Text 11"/>
          <p:cNvSpPr/>
          <p:nvPr/>
        </p:nvSpPr>
        <p:spPr>
          <a:xfrm>
            <a:off x="-2096770" y="5577205"/>
            <a:ext cx="10332720" cy="411480"/>
          </a:xfrm>
          <a:prstGeom prst="rect">
            <a:avLst/>
          </a:prstGeom>
          <a:noFill/>
        </p:spPr>
        <p:txBody>
          <a:bodyPr wrap="square" lIns="0" tIns="0" rIns="0" bIns="0" rtlCol="0" anchor="ctr"/>
          <a:lstStyle/>
          <a:p>
            <a:pPr marL="0" indent="0" algn="ctr">
              <a:buNone/>
            </a:pPr>
            <a:r>
              <a:rPr lang="en-US" sz="1300" b="1" i="1" dirty="0">
                <a:solidFill>
                  <a:srgbClr val="0F1F3D"/>
                </a:solidFill>
                <a:latin typeface="Calibri" panose="020F0502020204030204" pitchFamily="34" charset="0"/>
                <a:ea typeface="Calibri" panose="020F0502020204030204" pitchFamily="34" charset="-122"/>
                <a:cs typeface="Calibri" panose="020F0502020204030204" pitchFamily="34" charset="-120"/>
              </a:rPr>
              <a:t>Earlier detection helped people reach treatment sooner.</a:t>
            </a:r>
            <a:endParaRPr lang="en-US" sz="130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22" name="Picture 21"/>
          <p:cNvPicPr/>
          <p:nvPr/>
        </p:nvPicPr>
        <p:blipFill>
          <a:blip r:embed="rId2"/>
          <a:stretch>
            <a:fillRect/>
          </a:stretch>
        </p:blipFill>
        <p:spPr>
          <a:xfrm>
            <a:off x="6503670" y="2221865"/>
            <a:ext cx="4886325" cy="31565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A REAL-WORLD EXAMPLE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London: Regular Check-Ups, Earlier Diagnosis</a:t>
            </a:r>
            <a:endParaRPr lang="en-US" sz="3000" dirty="0"/>
          </a:p>
        </p:txBody>
      </p:sp>
      <p:sp>
        <p:nvSpPr>
          <p:cNvPr id="8" name="Shape 6"/>
          <p:cNvSpPr/>
          <p:nvPr/>
        </p:nvSpPr>
        <p:spPr>
          <a:xfrm>
            <a:off x="548640" y="1965960"/>
            <a:ext cx="6492240" cy="2856865"/>
          </a:xfrm>
          <a:prstGeom prst="roundRect">
            <a:avLst>
              <a:gd name="adj" fmla="val 2254"/>
            </a:avLst>
          </a:prstGeom>
          <a:solidFill>
            <a:srgbClr val="EAF0FA"/>
          </a:solidFill>
          <a:effectLst>
            <a:outerShdw blurRad="76200" dist="25400" dir="5400000" algn="bl" rotWithShape="0">
              <a:srgbClr val="203864">
                <a:alpha val="18000"/>
              </a:srgbClr>
            </a:outerShdw>
          </a:effectLst>
        </p:spPr>
      </p:sp>
      <p:sp>
        <p:nvSpPr>
          <p:cNvPr id="9" name="Text 7"/>
          <p:cNvSpPr/>
          <p:nvPr/>
        </p:nvSpPr>
        <p:spPr>
          <a:xfrm>
            <a:off x="868680" y="2194560"/>
            <a:ext cx="5943600" cy="320040"/>
          </a:xfrm>
          <a:prstGeom prst="rect">
            <a:avLst/>
          </a:prstGeom>
          <a:noFill/>
        </p:spPr>
        <p:txBody>
          <a:bodyPr wrap="square" lIns="0" tIns="0" rIns="0" bIns="0" rtlCol="0" anchor="ctr"/>
          <a:lstStyle/>
          <a:p>
            <a:pPr marL="0" indent="0">
              <a:buNone/>
            </a:pPr>
            <a:r>
              <a:rPr lang="en-US" sz="1250" b="1" dirty="0">
                <a:solidFill>
                  <a:srgbClr val="0F1F3D"/>
                </a:solidFill>
                <a:latin typeface="Calibri" panose="020F0502020204030204" pitchFamily="34" charset="0"/>
                <a:ea typeface="Calibri" panose="020F0502020204030204" pitchFamily="34" charset="-122"/>
                <a:cs typeface="Calibri" panose="020F0502020204030204" pitchFamily="34" charset="-120"/>
              </a:rPr>
              <a:t>What the model shows</a:t>
            </a:r>
            <a:endParaRPr lang="en-US" sz="1250" dirty="0"/>
          </a:p>
        </p:txBody>
      </p:sp>
      <p:sp>
        <p:nvSpPr>
          <p:cNvPr id="10" name="Text 8"/>
          <p:cNvSpPr/>
          <p:nvPr/>
        </p:nvSpPr>
        <p:spPr>
          <a:xfrm>
            <a:off x="868680" y="2606040"/>
            <a:ext cx="5943600" cy="2468880"/>
          </a:xfrm>
          <a:prstGeom prst="rect">
            <a:avLst/>
          </a:prstGeom>
          <a:noFill/>
        </p:spPr>
        <p:txBody>
          <a:bodyPr wrap="square" lIns="0" tIns="0" rIns="0" bIns="0" rtlCol="0" anchor="t"/>
          <a:lstStyle/>
          <a:p>
            <a:pPr marL="342900" indent="-342900">
              <a:lnSpc>
                <a:spcPct val="105000"/>
              </a:lnSpc>
              <a:spcAft>
                <a:spcPts val="12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A structured community screening effort focused on early-stage (Stage 1–2) diagnosis</a:t>
            </a:r>
            <a:endParaRPr lang="en-US" sz="1600" dirty="0"/>
          </a:p>
          <a:p>
            <a:pPr marL="342900" indent="-342900">
              <a:lnSpc>
                <a:spcPct val="105000"/>
              </a:lnSpc>
              <a:spcAft>
                <a:spcPts val="12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Regular or mandatory workplace/community health check-ups support earlier detection</a:t>
            </a:r>
            <a:endParaRPr lang="en-US" sz="1600" dirty="0"/>
          </a:p>
          <a:p>
            <a:pPr marL="342900" indent="-342900">
              <a:lnSpc>
                <a:spcPct val="105000"/>
              </a:lnSpc>
              <a:spcAft>
                <a:spcPts val="12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Consistent follow-up pathways help move people from screening to timely treatment</a:t>
            </a:r>
            <a:endParaRPr lang="en-US" sz="1600" dirty="0"/>
          </a:p>
        </p:txBody>
      </p:sp>
      <p:sp>
        <p:nvSpPr>
          <p:cNvPr id="11" name="Shape 9"/>
          <p:cNvSpPr/>
          <p:nvPr/>
        </p:nvSpPr>
        <p:spPr>
          <a:xfrm>
            <a:off x="7223760" y="1965960"/>
            <a:ext cx="4389120" cy="1895475"/>
          </a:xfrm>
          <a:prstGeom prst="roundRect">
            <a:avLst>
              <a:gd name="adj" fmla="val 2254"/>
            </a:avLst>
          </a:prstGeom>
          <a:solidFill>
            <a:srgbClr val="0F1F3D"/>
          </a:solidFill>
          <a:effectLst>
            <a:outerShdw blurRad="76200" dist="25400" dir="5400000" algn="bl" rotWithShape="0">
              <a:srgbClr val="203864">
                <a:alpha val="18000"/>
              </a:srgbClr>
            </a:outerShdw>
          </a:effectLst>
        </p:spPr>
      </p:sp>
      <p:sp>
        <p:nvSpPr>
          <p:cNvPr id="12" name="Text 10"/>
          <p:cNvSpPr/>
          <p:nvPr/>
        </p:nvSpPr>
        <p:spPr>
          <a:xfrm>
            <a:off x="7452360" y="2148840"/>
            <a:ext cx="3931920" cy="274320"/>
          </a:xfrm>
          <a:prstGeom prst="rect">
            <a:avLst/>
          </a:prstGeom>
          <a:noFill/>
        </p:spPr>
        <p:txBody>
          <a:bodyPr wrap="square" lIns="0" tIns="0" rIns="0" bIns="0" rtlCol="0" anchor="ctr"/>
          <a:lstStyle/>
          <a:p>
            <a:pPr marL="0" indent="0">
              <a:buNone/>
            </a:pPr>
            <a:r>
              <a:rPr lang="en-US" sz="1000" b="1" kern="0" spc="150" dirty="0">
                <a:solidFill>
                  <a:srgbClr val="E4C766"/>
                </a:solidFill>
                <a:latin typeface="Calibri" panose="020F0502020204030204" pitchFamily="34" charset="0"/>
                <a:ea typeface="Calibri" panose="020F0502020204030204" pitchFamily="34" charset="-122"/>
                <a:cs typeface="Calibri" panose="020F0502020204030204" pitchFamily="34" charset="-120"/>
              </a:rPr>
              <a:t>CAMPAIGN MESSAGE</a:t>
            </a:r>
            <a:endParaRPr lang="en-US" sz="1000" dirty="0"/>
          </a:p>
        </p:txBody>
      </p:sp>
      <p:sp>
        <p:nvSpPr>
          <p:cNvPr id="13" name="Text 11"/>
          <p:cNvSpPr/>
          <p:nvPr/>
        </p:nvSpPr>
        <p:spPr>
          <a:xfrm>
            <a:off x="7452360" y="2468880"/>
            <a:ext cx="3977640" cy="1371600"/>
          </a:xfrm>
          <a:prstGeom prst="rect">
            <a:avLst/>
          </a:prstGeom>
          <a:noFill/>
        </p:spPr>
        <p:txBody>
          <a:bodyPr wrap="square" lIns="0" tIns="0" rIns="0" bIns="0" rtlCol="0" anchor="ctr"/>
          <a:lstStyle/>
          <a:p>
            <a:pPr marL="0" indent="0">
              <a:lnSpc>
                <a:spcPct val="130000"/>
              </a:lnSpc>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Regular check-ups can catch cancer at Stage 1–2, when treatment options are strongest.</a:t>
            </a:r>
            <a:endParaRPr lang="en-US" sz="1600" dirty="0"/>
          </a:p>
        </p:txBody>
      </p:sp>
      <p:sp>
        <p:nvSpPr>
          <p:cNvPr id="14" name="Shape 12"/>
          <p:cNvSpPr/>
          <p:nvPr/>
        </p:nvSpPr>
        <p:spPr>
          <a:xfrm>
            <a:off x="548640" y="5394960"/>
            <a:ext cx="11064240" cy="1051560"/>
          </a:xfrm>
          <a:prstGeom prst="roundRect">
            <a:avLst>
              <a:gd name="adj" fmla="val 6957"/>
            </a:avLst>
          </a:prstGeom>
          <a:solidFill>
            <a:srgbClr val="FBEAEA"/>
          </a:solidFill>
          <a:ln w="12700">
            <a:solidFill>
              <a:srgbClr val="C1272D"/>
            </a:solidFill>
            <a:prstDash val="solid"/>
          </a:ln>
        </p:spPr>
      </p:sp>
      <p:sp>
        <p:nvSpPr>
          <p:cNvPr id="15" name="Text 13"/>
          <p:cNvSpPr/>
          <p:nvPr/>
        </p:nvSpPr>
        <p:spPr>
          <a:xfrm>
            <a:off x="777240" y="5468112"/>
            <a:ext cx="10607040" cy="914400"/>
          </a:xfrm>
          <a:prstGeom prst="rect">
            <a:avLst/>
          </a:prstGeom>
          <a:noFill/>
        </p:spPr>
        <p:txBody>
          <a:bodyPr wrap="square" lIns="0" tIns="0" rIns="0" bIns="0" rtlCol="0" anchor="t"/>
          <a:lstStyle/>
          <a:p>
            <a:pPr marL="0" indent="0">
              <a:lnSpc>
                <a:spcPct val="115000"/>
              </a:lnSpc>
              <a:buNone/>
            </a:pPr>
            <a:r>
              <a:rPr lang="en-US" sz="1150" b="1" dirty="0">
                <a:solidFill>
                  <a:srgbClr val="C1272D"/>
                </a:solidFill>
                <a:latin typeface="Calibri" panose="020F0502020204030204" pitchFamily="34" charset="0"/>
                <a:ea typeface="Calibri" panose="020F0502020204030204" pitchFamily="34" charset="-122"/>
                <a:cs typeface="Calibri" panose="020F0502020204030204" pitchFamily="34" charset="-120"/>
              </a:rPr>
              <a:t>⚠  Needs verification before publishing:  </a:t>
            </a:r>
            <a:r>
              <a:rPr lang="en-US" sz="1030" dirty="0">
                <a:solidFill>
                  <a:srgbClr val="13233F"/>
                </a:solidFill>
                <a:latin typeface="Calibri" panose="020F0502020204030204" pitchFamily="34" charset="0"/>
                <a:ea typeface="Calibri" panose="020F0502020204030204" pitchFamily="34" charset="-122"/>
                <a:cs typeface="Calibri" panose="020F0502020204030204" pitchFamily="34" charset="-120"/>
              </a:rPr>
              <a:t>the requested claim that the London programme recorded “no Stage 3–4 diagnoses” could not be confirmed from available sources and appears inconsistent with how cancer screening programmes typically report outcomes. Please supply the exact source/report before this statistic is used publicly — until then, keep this slide to the verified points above.</a:t>
            </a:r>
            <a:endParaRPr lang="en-US" sz="115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FROM AWARENESS TO ACTION</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Why Gorakhpur Needs This</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300" i="1" dirty="0">
                <a:solidFill>
                  <a:srgbClr val="5B6B85"/>
                </a:solidFill>
                <a:latin typeface="Calibri" panose="020F0502020204030204" pitchFamily="34" charset="0"/>
                <a:ea typeface="Calibri" panose="020F0502020204030204" pitchFamily="34" charset="-122"/>
                <a:cs typeface="Calibri" panose="020F0502020204030204" pitchFamily="34" charset="-120"/>
              </a:rPr>
              <a:t>The campaign aims to make cancer awareness a city-wide conversation.</a:t>
            </a:r>
            <a:endParaRPr lang="en-US" sz="130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19" name="Picture 18" descr="gkp"/>
          <p:cNvPicPr>
            <a:picLocks noChangeAspect="1"/>
          </p:cNvPicPr>
          <p:nvPr/>
        </p:nvPicPr>
        <p:blipFill>
          <a:blip r:embed="rId2"/>
          <a:srcRect t="44490"/>
          <a:stretch>
            <a:fillRect/>
          </a:stretch>
        </p:blipFill>
        <p:spPr>
          <a:xfrm>
            <a:off x="548640" y="2221865"/>
            <a:ext cx="11137265" cy="3930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THE CORE IDEA</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The Campaign Concept</a:t>
            </a:r>
            <a:endParaRPr lang="en-US" sz="3000" dirty="0"/>
          </a:p>
        </p:txBody>
      </p:sp>
      <p:sp>
        <p:nvSpPr>
          <p:cNvPr id="8" name="Text 6"/>
          <p:cNvSpPr/>
          <p:nvPr/>
        </p:nvSpPr>
        <p:spPr>
          <a:xfrm>
            <a:off x="548640" y="1791970"/>
            <a:ext cx="4678680" cy="3126105"/>
          </a:xfrm>
          <a:prstGeom prst="rect">
            <a:avLst/>
          </a:prstGeom>
          <a:noFill/>
        </p:spPr>
        <p:txBody>
          <a:bodyPr wrap="square" lIns="0" tIns="0" rIns="0" bIns="0" rtlCol="0" anchor="ctr"/>
          <a:lstStyle/>
          <a:p>
            <a:pPr marL="0" indent="0">
              <a:lnSpc>
                <a:spcPct val="130000"/>
              </a:lnSpc>
              <a:buNone/>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A city-wide digital cancer awareness movement led by citizens, students, influencers, institutions and HPPCHRI — encouraging people to understand cancer risk, recognise warning signs, and take timely medical advice or screening where appropriate.</a:t>
            </a:r>
            <a:endParaRPr lang="en-US" sz="1600" dirty="0"/>
          </a:p>
        </p:txBody>
      </p:sp>
      <p:sp>
        <p:nvSpPr>
          <p:cNvPr id="17" name="Shape 15"/>
          <p:cNvSpPr/>
          <p:nvPr/>
        </p:nvSpPr>
        <p:spPr>
          <a:xfrm>
            <a:off x="548640" y="4924425"/>
            <a:ext cx="11064240" cy="1314450"/>
          </a:xfrm>
          <a:prstGeom prst="roundRect">
            <a:avLst>
              <a:gd name="adj" fmla="val 4324"/>
            </a:avLst>
          </a:prstGeom>
          <a:solidFill>
            <a:srgbClr val="FCEFD8"/>
          </a:solidFill>
        </p:spPr>
      </p:sp>
      <p:sp>
        <p:nvSpPr>
          <p:cNvPr id="18" name="Text 16"/>
          <p:cNvSpPr/>
          <p:nvPr/>
        </p:nvSpPr>
        <p:spPr>
          <a:xfrm>
            <a:off x="822960" y="5037455"/>
            <a:ext cx="10424160" cy="292608"/>
          </a:xfrm>
          <a:prstGeom prst="rect">
            <a:avLst/>
          </a:prstGeom>
          <a:noFill/>
        </p:spPr>
        <p:txBody>
          <a:bodyPr wrap="square" lIns="0" tIns="0" rIns="0" bIns="0" rtlCol="0" anchor="ctr"/>
          <a:lstStyle/>
          <a:p>
            <a:pPr marL="0" indent="0">
              <a:buNone/>
            </a:pPr>
            <a:r>
              <a:rPr lang="en-US" sz="1100" b="1" kern="0" spc="100" dirty="0">
                <a:solidFill>
                  <a:srgbClr val="C9A227"/>
                </a:solidFill>
                <a:latin typeface="Calibri" panose="020F0502020204030204" pitchFamily="34" charset="0"/>
                <a:ea typeface="Calibri" panose="020F0502020204030204" pitchFamily="34" charset="-122"/>
                <a:cs typeface="Calibri" panose="020F0502020204030204" pitchFamily="34" charset="-120"/>
              </a:rPr>
              <a:t>AN IMPORTANT DISTINCTION</a:t>
            </a:r>
            <a:endParaRPr lang="en-US" sz="1100" dirty="0"/>
          </a:p>
        </p:txBody>
      </p:sp>
      <p:sp>
        <p:nvSpPr>
          <p:cNvPr id="19" name="Text 17"/>
          <p:cNvSpPr/>
          <p:nvPr/>
        </p:nvSpPr>
        <p:spPr>
          <a:xfrm>
            <a:off x="822960" y="5029200"/>
            <a:ext cx="10424160" cy="1097280"/>
          </a:xfrm>
          <a:prstGeom prst="rect">
            <a:avLst/>
          </a:prstGeom>
          <a:noFill/>
        </p:spPr>
        <p:txBody>
          <a:bodyPr wrap="square" lIns="0" tIns="0" rIns="0" bIns="0" rtlCol="0" anchor="ctr"/>
          <a:lstStyle/>
          <a:p>
            <a:pPr marL="0" indent="0">
              <a:lnSpc>
                <a:spcPct val="130000"/>
              </a:lnSpc>
              <a:buNone/>
            </a:pPr>
            <a:r>
              <a:rPr lang="en-US" sz="1250" dirty="0">
                <a:solidFill>
                  <a:srgbClr val="13233F"/>
                </a:solidFill>
                <a:latin typeface="Calibri" panose="020F0502020204030204" pitchFamily="34" charset="0"/>
                <a:ea typeface="Calibri" panose="020F0502020204030204" pitchFamily="34" charset="-122"/>
                <a:cs typeface="Calibri" panose="020F0502020204030204" pitchFamily="34" charset="-120"/>
              </a:rPr>
              <a:t>HPPCHRI is the organiser and facilitator of awareness — not the only destination being promoted for screening. This keeps the campaign genuinely public-interest focused, and is exactly what makes it credible to sponsors.</a:t>
            </a:r>
            <a:endParaRPr lang="en-US" sz="125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20" name="Picture 19" descr="gkp"/>
          <p:cNvPicPr>
            <a:picLocks noChangeAspect="1"/>
          </p:cNvPicPr>
          <p:nvPr/>
        </p:nvPicPr>
        <p:blipFill>
          <a:blip r:embed="rId2"/>
          <a:srcRect l="16994" r="17012" b="55602"/>
          <a:stretch>
            <a:fillRect/>
          </a:stretch>
        </p:blipFill>
        <p:spPr>
          <a:xfrm>
            <a:off x="5227320" y="1745615"/>
            <a:ext cx="6019800" cy="27000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4" name="Text 2"/>
          <p:cNvSpPr/>
          <p:nvPr/>
        </p:nvSpPr>
        <p:spPr>
          <a:xfrm>
            <a:off x="932688" y="292608"/>
            <a:ext cx="2743200" cy="457200"/>
          </a:xfrm>
          <a:prstGeom prst="rect">
            <a:avLst/>
          </a:prstGeom>
          <a:noFill/>
        </p:spPr>
        <p:txBody>
          <a:bodyPr wrap="square" lIns="0" tIns="0" rIns="0" bIns="0" rtlCol="0" anchor="ctr"/>
          <a:lstStyle/>
          <a:p>
            <a:pPr marL="0" indent="0">
              <a:buNone/>
            </a:pPr>
            <a:r>
              <a:rPr lang="en-US" sz="1300" b="1" kern="0" spc="100" dirty="0">
                <a:solidFill>
                  <a:srgbClr val="0F1F3D"/>
                </a:solidFill>
                <a:latin typeface="Calibri" panose="020F0502020204030204" pitchFamily="34" charset="0"/>
                <a:ea typeface="Calibri" panose="020F0502020204030204" pitchFamily="34" charset="-122"/>
                <a:cs typeface="Calibri" panose="020F0502020204030204" pitchFamily="34" charset="-120"/>
              </a:rPr>
              <a:t>HPPCHRI</a:t>
            </a:r>
            <a:endParaRPr lang="en-US" sz="1300" dirty="0"/>
          </a:p>
        </p:txBody>
      </p:sp>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DIGITAL HOME BASE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The Campaign Landing Page</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250" i="1" dirty="0">
                <a:solidFill>
                  <a:srgbClr val="5B6B85"/>
                </a:solidFill>
                <a:latin typeface="Calibri" panose="020F0502020204030204" pitchFamily="34" charset="0"/>
                <a:ea typeface="Calibri" panose="020F0502020204030204" pitchFamily="34" charset="-122"/>
                <a:cs typeface="Calibri" panose="020F0502020204030204" pitchFamily="34" charset="-120"/>
              </a:rPr>
              <a:t>A single dedicated page on the HPPCHRI website — now built around a proper registration form.</a:t>
            </a:r>
            <a:endParaRPr lang="en-US" sz="1250" dirty="0"/>
          </a:p>
        </p:txBody>
      </p:sp>
      <p:sp>
        <p:nvSpPr>
          <p:cNvPr id="9" name="Shape 7"/>
          <p:cNvSpPr/>
          <p:nvPr/>
        </p:nvSpPr>
        <p:spPr>
          <a:xfrm>
            <a:off x="548640" y="2286000"/>
            <a:ext cx="4663440" cy="4114800"/>
          </a:xfrm>
          <a:prstGeom prst="roundRect">
            <a:avLst>
              <a:gd name="adj" fmla="val 1778"/>
            </a:avLst>
          </a:prstGeom>
          <a:solidFill>
            <a:srgbClr val="EAF0FA"/>
          </a:solidFill>
          <a:effectLst>
            <a:outerShdw blurRad="76200" dist="25400" dir="5400000" algn="bl" rotWithShape="0">
              <a:srgbClr val="203864">
                <a:alpha val="18000"/>
              </a:srgbClr>
            </a:outerShdw>
          </a:effectLst>
        </p:spPr>
      </p:sp>
      <p:sp>
        <p:nvSpPr>
          <p:cNvPr id="10" name="Text 8"/>
          <p:cNvSpPr/>
          <p:nvPr/>
        </p:nvSpPr>
        <p:spPr>
          <a:xfrm>
            <a:off x="822960" y="2468880"/>
            <a:ext cx="4114800" cy="274320"/>
          </a:xfrm>
          <a:prstGeom prst="rect">
            <a:avLst/>
          </a:prstGeom>
          <a:noFill/>
        </p:spPr>
        <p:txBody>
          <a:bodyPr wrap="square" lIns="0" tIns="0" rIns="0" bIns="0" rtlCol="0" anchor="ctr"/>
          <a:lstStyle/>
          <a:p>
            <a:pPr marL="0" indent="0">
              <a:buNone/>
            </a:pPr>
            <a:r>
              <a:rPr lang="en-US" sz="1100" b="1" kern="0" spc="150" dirty="0">
                <a:solidFill>
                  <a:srgbClr val="C9A227"/>
                </a:solidFill>
                <a:latin typeface="Calibri" panose="020F0502020204030204" pitchFamily="34" charset="0"/>
                <a:ea typeface="Calibri" panose="020F0502020204030204" pitchFamily="34" charset="-122"/>
                <a:cs typeface="Calibri" panose="020F0502020204030204" pitchFamily="34" charset="-120"/>
              </a:rPr>
              <a:t>PAGE SECTIONS</a:t>
            </a:r>
            <a:endParaRPr lang="en-US" sz="1100" dirty="0"/>
          </a:p>
        </p:txBody>
      </p:sp>
      <p:sp>
        <p:nvSpPr>
          <p:cNvPr id="11" name="Text 9"/>
          <p:cNvSpPr/>
          <p:nvPr/>
        </p:nvSpPr>
        <p:spPr>
          <a:xfrm>
            <a:off x="822960" y="2788920"/>
            <a:ext cx="4114800" cy="3474720"/>
          </a:xfrm>
          <a:prstGeom prst="rect">
            <a:avLst/>
          </a:prstGeom>
          <a:noFill/>
        </p:spPr>
        <p:txBody>
          <a:bodyPr wrap="square" lIns="0" tIns="0" rIns="0" bIns="0" rtlCol="0" anchor="t"/>
          <a:lstStyle/>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What is the campaign?</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Why early detection matters</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Who can participate?</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How to participate — Registration Form</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Rules</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Topics</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Prizes</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Participating institutions</a:t>
            </a:r>
            <a:endParaRPr lang="en-US" sz="1600" dirty="0"/>
          </a:p>
          <a:p>
            <a:pPr marL="342900" indent="-342900">
              <a:lnSpc>
                <a:spcPct val="105000"/>
              </a:lnSpc>
              <a:spcAft>
                <a:spcPts val="800"/>
              </a:spcAft>
              <a:buSzPct val="100000"/>
              <a:buChar char="▪"/>
            </a:pPr>
            <a:r>
              <a:rPr lang="en-US" sz="1600" dirty="0">
                <a:solidFill>
                  <a:srgbClr val="13233F"/>
                </a:solidFill>
                <a:latin typeface="Calibri" panose="020F0502020204030204" pitchFamily="34" charset="0"/>
                <a:ea typeface="Calibri" panose="020F0502020204030204" pitchFamily="34" charset="-122"/>
                <a:cs typeface="Calibri" panose="020F0502020204030204" pitchFamily="34" charset="-120"/>
              </a:rPr>
              <a:t>Sponsors</a:t>
            </a:r>
            <a:endParaRPr lang="en-US" sz="1600" dirty="0"/>
          </a:p>
        </p:txBody>
      </p:sp>
      <p:sp>
        <p:nvSpPr>
          <p:cNvPr id="12" name="Shape 10"/>
          <p:cNvSpPr/>
          <p:nvPr/>
        </p:nvSpPr>
        <p:spPr>
          <a:xfrm>
            <a:off x="5440680" y="2286000"/>
            <a:ext cx="6172200" cy="4114800"/>
          </a:xfrm>
          <a:prstGeom prst="roundRect">
            <a:avLst>
              <a:gd name="adj" fmla="val 1778"/>
            </a:avLst>
          </a:prstGeom>
          <a:solidFill>
            <a:srgbClr val="0F1F3D"/>
          </a:solidFill>
          <a:effectLst>
            <a:outerShdw blurRad="76200" dist="25400" dir="5400000" algn="bl" rotWithShape="0">
              <a:srgbClr val="203864">
                <a:alpha val="18000"/>
              </a:srgbClr>
            </a:outerShdw>
          </a:effectLst>
        </p:spPr>
      </p:sp>
      <p:sp>
        <p:nvSpPr>
          <p:cNvPr id="13" name="Text 11"/>
          <p:cNvSpPr/>
          <p:nvPr/>
        </p:nvSpPr>
        <p:spPr>
          <a:xfrm>
            <a:off x="5715000" y="2450592"/>
            <a:ext cx="5669280" cy="292608"/>
          </a:xfrm>
          <a:prstGeom prst="rect">
            <a:avLst/>
          </a:prstGeom>
          <a:noFill/>
        </p:spPr>
        <p:txBody>
          <a:bodyPr wrap="square" lIns="0" tIns="0" rIns="0" bIns="0" rtlCol="0" anchor="ctr"/>
          <a:lstStyle/>
          <a:p>
            <a:pPr marL="0" indent="0">
              <a:buNone/>
            </a:pPr>
            <a:r>
              <a:rPr lang="en-US" sz="1100" b="1" kern="0" spc="100" dirty="0">
                <a:solidFill>
                  <a:srgbClr val="E4C766"/>
                </a:solidFill>
                <a:latin typeface="Calibri" panose="020F0502020204030204" pitchFamily="34" charset="0"/>
                <a:ea typeface="Calibri" panose="020F0502020204030204" pitchFamily="34" charset="-122"/>
                <a:cs typeface="Calibri" panose="020F0502020204030204" pitchFamily="34" charset="-120"/>
              </a:rPr>
              <a:t>REGISTRATION FORM — FIELDS COLLECTED</a:t>
            </a:r>
            <a:endParaRPr lang="en-US" sz="1100" dirty="0"/>
          </a:p>
        </p:txBody>
      </p:sp>
      <p:sp>
        <p:nvSpPr>
          <p:cNvPr id="14" name="Shape 12"/>
          <p:cNvSpPr/>
          <p:nvPr/>
        </p:nvSpPr>
        <p:spPr>
          <a:xfrm>
            <a:off x="5715000" y="2834640"/>
            <a:ext cx="5623560" cy="420624"/>
          </a:xfrm>
          <a:prstGeom prst="roundRect">
            <a:avLst>
              <a:gd name="adj" fmla="val 10870"/>
            </a:avLst>
          </a:prstGeom>
          <a:solidFill>
            <a:srgbClr val="1B2E52"/>
          </a:solidFill>
        </p:spPr>
      </p:sp>
      <p:sp>
        <p:nvSpPr>
          <p:cNvPr id="15" name="Text 13"/>
          <p:cNvSpPr/>
          <p:nvPr/>
        </p:nvSpPr>
        <p:spPr>
          <a:xfrm>
            <a:off x="5943600" y="2834640"/>
            <a:ext cx="5212080" cy="420624"/>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Full Name</a:t>
            </a:r>
            <a:endParaRPr lang="en-US" sz="1100" dirty="0"/>
          </a:p>
        </p:txBody>
      </p:sp>
      <p:sp>
        <p:nvSpPr>
          <p:cNvPr id="16" name="Shape 14"/>
          <p:cNvSpPr/>
          <p:nvPr/>
        </p:nvSpPr>
        <p:spPr>
          <a:xfrm>
            <a:off x="5715000" y="3310128"/>
            <a:ext cx="5623560" cy="420624"/>
          </a:xfrm>
          <a:prstGeom prst="roundRect">
            <a:avLst>
              <a:gd name="adj" fmla="val 10870"/>
            </a:avLst>
          </a:prstGeom>
          <a:solidFill>
            <a:srgbClr val="1B2E52"/>
          </a:solidFill>
        </p:spPr>
      </p:sp>
      <p:sp>
        <p:nvSpPr>
          <p:cNvPr id="17" name="Text 15"/>
          <p:cNvSpPr/>
          <p:nvPr/>
        </p:nvSpPr>
        <p:spPr>
          <a:xfrm>
            <a:off x="5943600" y="3310128"/>
            <a:ext cx="5212080" cy="420624"/>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WhatsApp Number</a:t>
            </a:r>
            <a:endParaRPr lang="en-US" sz="1100" dirty="0"/>
          </a:p>
        </p:txBody>
      </p:sp>
      <p:sp>
        <p:nvSpPr>
          <p:cNvPr id="18" name="Shape 16"/>
          <p:cNvSpPr/>
          <p:nvPr/>
        </p:nvSpPr>
        <p:spPr>
          <a:xfrm>
            <a:off x="5715000" y="3785616"/>
            <a:ext cx="5623560" cy="420624"/>
          </a:xfrm>
          <a:prstGeom prst="roundRect">
            <a:avLst>
              <a:gd name="adj" fmla="val 10870"/>
            </a:avLst>
          </a:prstGeom>
          <a:solidFill>
            <a:srgbClr val="1B2E52"/>
          </a:solidFill>
        </p:spPr>
      </p:sp>
      <p:sp>
        <p:nvSpPr>
          <p:cNvPr id="19" name="Text 17"/>
          <p:cNvSpPr/>
          <p:nvPr/>
        </p:nvSpPr>
        <p:spPr>
          <a:xfrm>
            <a:off x="5943600" y="3785616"/>
            <a:ext cx="5212080" cy="420624"/>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Institution / Club</a:t>
            </a:r>
            <a:endParaRPr lang="en-US" sz="1100" dirty="0"/>
          </a:p>
        </p:txBody>
      </p:sp>
      <p:sp>
        <p:nvSpPr>
          <p:cNvPr id="20" name="Shape 18"/>
          <p:cNvSpPr/>
          <p:nvPr/>
        </p:nvSpPr>
        <p:spPr>
          <a:xfrm>
            <a:off x="5715000" y="4261104"/>
            <a:ext cx="5623560" cy="420624"/>
          </a:xfrm>
          <a:prstGeom prst="roundRect">
            <a:avLst>
              <a:gd name="adj" fmla="val 10870"/>
            </a:avLst>
          </a:prstGeom>
          <a:solidFill>
            <a:srgbClr val="1B2E52"/>
          </a:solidFill>
        </p:spPr>
      </p:sp>
      <p:sp>
        <p:nvSpPr>
          <p:cNvPr id="21" name="Text 19"/>
          <p:cNvSpPr/>
          <p:nvPr/>
        </p:nvSpPr>
        <p:spPr>
          <a:xfrm>
            <a:off x="5943600" y="4261104"/>
            <a:ext cx="5212080" cy="420624"/>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Are you active on social media?  (Yes / No)</a:t>
            </a:r>
            <a:endParaRPr lang="en-US" sz="1100" dirty="0"/>
          </a:p>
        </p:txBody>
      </p:sp>
      <p:sp>
        <p:nvSpPr>
          <p:cNvPr id="22" name="Shape 20"/>
          <p:cNvSpPr/>
          <p:nvPr/>
        </p:nvSpPr>
        <p:spPr>
          <a:xfrm>
            <a:off x="5989320" y="4736592"/>
            <a:ext cx="5349240" cy="420624"/>
          </a:xfrm>
          <a:prstGeom prst="roundRect">
            <a:avLst>
              <a:gd name="adj" fmla="val 10870"/>
            </a:avLst>
          </a:prstGeom>
          <a:solidFill>
            <a:srgbClr val="1E3663"/>
          </a:solidFill>
        </p:spPr>
      </p:sp>
      <p:sp>
        <p:nvSpPr>
          <p:cNvPr id="23" name="Text 21"/>
          <p:cNvSpPr/>
          <p:nvPr/>
        </p:nvSpPr>
        <p:spPr>
          <a:xfrm>
            <a:off x="6172200" y="4736592"/>
            <a:ext cx="5029200" cy="420624"/>
          </a:xfrm>
          <a:prstGeom prst="rect">
            <a:avLst/>
          </a:prstGeom>
          <a:noFill/>
        </p:spPr>
        <p:txBody>
          <a:bodyPr wrap="square" lIns="0" tIns="0" rIns="0" bIns="0" rtlCol="0" anchor="ctr"/>
          <a:lstStyle/>
          <a:p>
            <a:pPr marL="0" indent="0">
              <a:buNone/>
            </a:pPr>
            <a:r>
              <a:rPr lang="en-US" sz="1000" i="1" dirty="0">
                <a:solidFill>
                  <a:srgbClr val="C7D2E6"/>
                </a:solidFill>
                <a:latin typeface="Calibri" panose="020F0502020204030204" pitchFamily="34" charset="0"/>
                <a:ea typeface="Calibri" panose="020F0502020204030204" pitchFamily="34" charset="-122"/>
                <a:cs typeface="Calibri" panose="020F0502020204030204" pitchFamily="34" charset="-120"/>
              </a:rPr>
              <a:t>↳ If Yes: Platform + User ID / Handle</a:t>
            </a:r>
            <a:endParaRPr lang="en-US" sz="1000" dirty="0"/>
          </a:p>
        </p:txBody>
      </p:sp>
      <p:sp>
        <p:nvSpPr>
          <p:cNvPr id="24" name="Shape 22"/>
          <p:cNvSpPr/>
          <p:nvPr/>
        </p:nvSpPr>
        <p:spPr>
          <a:xfrm>
            <a:off x="5715000" y="5212080"/>
            <a:ext cx="5623560" cy="420624"/>
          </a:xfrm>
          <a:prstGeom prst="roundRect">
            <a:avLst>
              <a:gd name="adj" fmla="val 10870"/>
            </a:avLst>
          </a:prstGeom>
          <a:solidFill>
            <a:srgbClr val="1B2E52"/>
          </a:solidFill>
        </p:spPr>
      </p:sp>
      <p:sp>
        <p:nvSpPr>
          <p:cNvPr id="25" name="Text 23"/>
          <p:cNvSpPr/>
          <p:nvPr/>
        </p:nvSpPr>
        <p:spPr>
          <a:xfrm>
            <a:off x="5943600" y="5212080"/>
            <a:ext cx="5212080" cy="420624"/>
          </a:xfrm>
          <a:prstGeom prst="rect">
            <a:avLst/>
          </a:prstGeom>
          <a:noFill/>
        </p:spPr>
        <p:txBody>
          <a:bodyPr wrap="square" lIns="0" tIns="0" rIns="0" bIns="0"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  Participant Category — Club Member / Student / Influencer</a:t>
            </a:r>
            <a:endParaRPr lang="en-US" sz="1100" dirty="0"/>
          </a:p>
        </p:txBody>
      </p:sp>
      <p:sp>
        <p:nvSpPr>
          <p:cNvPr id="26" name="Text 24"/>
          <p:cNvSpPr/>
          <p:nvPr/>
        </p:nvSpPr>
        <p:spPr>
          <a:xfrm>
            <a:off x="5715000" y="5760720"/>
            <a:ext cx="5623560" cy="548640"/>
          </a:xfrm>
          <a:prstGeom prst="rect">
            <a:avLst/>
          </a:prstGeom>
          <a:noFill/>
        </p:spPr>
        <p:txBody>
          <a:bodyPr wrap="square" lIns="0" tIns="0" rIns="0" bIns="0" rtlCol="0" anchor="ctr"/>
          <a:lstStyle/>
          <a:p>
            <a:pPr marL="0" indent="0">
              <a:lnSpc>
                <a:spcPct val="120000"/>
              </a:lnSpc>
              <a:buNone/>
            </a:pPr>
            <a:r>
              <a:rPr lang="en-US" sz="950" i="1" dirty="0">
                <a:solidFill>
                  <a:srgbClr val="9FB0CC"/>
                </a:solidFill>
                <a:latin typeface="Calibri" panose="020F0502020204030204" pitchFamily="34" charset="0"/>
                <a:ea typeface="Calibri" panose="020F0502020204030204" pitchFamily="34" charset="-122"/>
                <a:cs typeface="Calibri" panose="020F0502020204030204" pitchFamily="34" charset="-120"/>
              </a:rPr>
              <a:t>Participant category feeds directly into Contest Categories &amp; the Influencer follower-benchmark check.</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EXECUTION PLAN</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IN" alt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Campaign Duration</a:t>
            </a:r>
            <a:endParaRPr lang="en-IN" alt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endParaRPr>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300" i="1" dirty="0">
                <a:solidFill>
                  <a:srgbClr val="5B6B85"/>
                </a:solidFill>
                <a:latin typeface="Calibri" panose="020F0502020204030204" pitchFamily="34" charset="0"/>
                <a:ea typeface="Calibri" panose="020F0502020204030204" pitchFamily="34" charset="-122"/>
                <a:cs typeface="Calibri" panose="020F0502020204030204" pitchFamily="34" charset="-120"/>
              </a:rPr>
              <a:t>A highly visible launch event — the HPPCHRI Cancer Awareness Drive Launch.</a:t>
            </a:r>
            <a:endParaRPr lang="en-US" sz="1300" dirty="0"/>
          </a:p>
        </p:txBody>
      </p:sp>
      <p:sp>
        <p:nvSpPr>
          <p:cNvPr id="9" name="Shape 7"/>
          <p:cNvSpPr/>
          <p:nvPr/>
        </p:nvSpPr>
        <p:spPr>
          <a:xfrm>
            <a:off x="530225" y="2286000"/>
            <a:ext cx="4693285" cy="2828290"/>
          </a:xfrm>
          <a:prstGeom prst="roundRect">
            <a:avLst>
              <a:gd name="adj" fmla="val 1951"/>
            </a:avLst>
          </a:prstGeom>
          <a:solidFill>
            <a:srgbClr val="EAF0FA"/>
          </a:solidFill>
          <a:effectLst>
            <a:outerShdw blurRad="76200" dist="25400" dir="5400000" algn="bl" rotWithShape="0">
              <a:srgbClr val="203864">
                <a:alpha val="18000"/>
              </a:srgbClr>
            </a:outerShdw>
          </a:effectLst>
        </p:spPr>
      </p:sp>
      <p:sp>
        <p:nvSpPr>
          <p:cNvPr id="11" name="Text 9"/>
          <p:cNvSpPr/>
          <p:nvPr/>
        </p:nvSpPr>
        <p:spPr>
          <a:xfrm>
            <a:off x="822960" y="2834640"/>
            <a:ext cx="4846320" cy="3017520"/>
          </a:xfrm>
          <a:prstGeom prst="rect">
            <a:avLst/>
          </a:prstGeom>
          <a:noFill/>
        </p:spPr>
        <p:txBody>
          <a:bodyPr wrap="square" lIns="0" tIns="0" rIns="0" bIns="0" rtlCol="0" anchor="t"/>
          <a:lstStyle/>
          <a:p>
            <a:pPr marL="342900" indent="-342900">
              <a:lnSpc>
                <a:spcPct val="105000"/>
              </a:lnSpc>
              <a:spcAft>
                <a:spcPts val="1300"/>
              </a:spcAft>
              <a:buSzPct val="100000"/>
              <a:buChar char="▪"/>
            </a:pPr>
            <a:endParaRPr lang="en-US" sz="1250" dirty="0"/>
          </a:p>
        </p:txBody>
      </p:sp>
      <p:sp>
        <p:nvSpPr>
          <p:cNvPr id="14" name="Shape 12"/>
          <p:cNvSpPr/>
          <p:nvPr/>
        </p:nvSpPr>
        <p:spPr>
          <a:xfrm>
            <a:off x="6263640" y="4160520"/>
            <a:ext cx="5349240" cy="1874520"/>
          </a:xfrm>
          <a:prstGeom prst="roundRect">
            <a:avLst>
              <a:gd name="adj" fmla="val 3902"/>
            </a:avLst>
          </a:prstGeom>
          <a:solidFill>
            <a:srgbClr val="FCEFD8"/>
          </a:solidFill>
        </p:spPr>
      </p:sp>
      <p:sp>
        <p:nvSpPr>
          <p:cNvPr id="15" name="Text 13"/>
          <p:cNvSpPr/>
          <p:nvPr/>
        </p:nvSpPr>
        <p:spPr>
          <a:xfrm>
            <a:off x="6537960" y="4343400"/>
            <a:ext cx="4800600" cy="365760"/>
          </a:xfrm>
          <a:prstGeom prst="rect">
            <a:avLst/>
          </a:prstGeom>
          <a:noFill/>
        </p:spPr>
        <p:txBody>
          <a:bodyPr wrap="square" lIns="0" tIns="0" rIns="0" bIns="0" rtlCol="0" anchor="ctr"/>
          <a:lstStyle/>
          <a:p>
            <a:pPr marL="0" indent="0">
              <a:buNone/>
            </a:pPr>
            <a:r>
              <a:rPr lang="en-US" sz="1100" i="1" dirty="0">
                <a:solidFill>
                  <a:srgbClr val="5B6B85"/>
                </a:solidFill>
                <a:latin typeface="Calibri" panose="020F0502020204030204" pitchFamily="34" charset="0"/>
                <a:ea typeface="Calibri" panose="020F0502020204030204" pitchFamily="34" charset="-122"/>
                <a:cs typeface="Calibri" panose="020F0502020204030204" pitchFamily="34" charset="-120"/>
              </a:rPr>
              <a:t>Simultaneous publishing creates the initial spike</a:t>
            </a:r>
            <a:endParaRPr lang="en-US" sz="1100" dirty="0"/>
          </a:p>
        </p:txBody>
      </p:sp>
      <p:sp>
        <p:nvSpPr>
          <p:cNvPr id="16" name="Shape 14"/>
          <p:cNvSpPr/>
          <p:nvPr/>
        </p:nvSpPr>
        <p:spPr>
          <a:xfrm>
            <a:off x="6537960" y="5303520"/>
            <a:ext cx="292608" cy="502920"/>
          </a:xfrm>
          <a:prstGeom prst="roundRect">
            <a:avLst>
              <a:gd name="adj" fmla="val 15625"/>
            </a:avLst>
          </a:prstGeom>
          <a:solidFill>
            <a:srgbClr val="0F1F3D"/>
          </a:solidFill>
        </p:spPr>
      </p:sp>
      <p:sp>
        <p:nvSpPr>
          <p:cNvPr id="17" name="Text 15"/>
          <p:cNvSpPr/>
          <p:nvPr/>
        </p:nvSpPr>
        <p:spPr>
          <a:xfrm>
            <a:off x="6537960" y="5321808"/>
            <a:ext cx="292608" cy="228600"/>
          </a:xfrm>
          <a:prstGeom prst="rect">
            <a:avLst/>
          </a:prstGeom>
          <a:noFill/>
        </p:spPr>
        <p:txBody>
          <a:bodyPr wrap="square" lIns="0" tIns="0" rIns="0" bIns="0" rtlCol="0" anchor="ctr"/>
          <a:lstStyle/>
          <a:p>
            <a:pPr marL="0" indent="0" algn="ctr">
              <a:buNone/>
            </a:pPr>
            <a:r>
              <a:rPr lang="en-US" sz="1000" b="1" dirty="0">
                <a:solidFill>
                  <a:srgbClr val="E4C766"/>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18" name="Shape 16"/>
          <p:cNvSpPr/>
          <p:nvPr/>
        </p:nvSpPr>
        <p:spPr>
          <a:xfrm>
            <a:off x="7680960" y="5047488"/>
            <a:ext cx="292608" cy="502920"/>
          </a:xfrm>
          <a:prstGeom prst="roundRect">
            <a:avLst>
              <a:gd name="adj" fmla="val 15625"/>
            </a:avLst>
          </a:prstGeom>
          <a:solidFill>
            <a:srgbClr val="0F1F3D"/>
          </a:solidFill>
        </p:spPr>
      </p:sp>
      <p:sp>
        <p:nvSpPr>
          <p:cNvPr id="19" name="Text 17"/>
          <p:cNvSpPr/>
          <p:nvPr/>
        </p:nvSpPr>
        <p:spPr>
          <a:xfrm>
            <a:off x="7680960" y="5065776"/>
            <a:ext cx="292608" cy="228600"/>
          </a:xfrm>
          <a:prstGeom prst="rect">
            <a:avLst/>
          </a:prstGeom>
          <a:noFill/>
        </p:spPr>
        <p:txBody>
          <a:bodyPr wrap="square" lIns="0" tIns="0" rIns="0" bIns="0" rtlCol="0" anchor="ctr"/>
          <a:lstStyle/>
          <a:p>
            <a:pPr marL="0" indent="0" algn="ctr">
              <a:buNone/>
            </a:pPr>
            <a:r>
              <a:rPr lang="en-US" sz="1000" b="1" dirty="0">
                <a:solidFill>
                  <a:srgbClr val="E4C766"/>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20" name="Shape 18"/>
          <p:cNvSpPr/>
          <p:nvPr/>
        </p:nvSpPr>
        <p:spPr>
          <a:xfrm>
            <a:off x="8823960" y="4791456"/>
            <a:ext cx="292608" cy="502920"/>
          </a:xfrm>
          <a:prstGeom prst="roundRect">
            <a:avLst>
              <a:gd name="adj" fmla="val 15625"/>
            </a:avLst>
          </a:prstGeom>
          <a:solidFill>
            <a:srgbClr val="0F1F3D"/>
          </a:solidFill>
        </p:spPr>
      </p:sp>
      <p:sp>
        <p:nvSpPr>
          <p:cNvPr id="21" name="Text 19"/>
          <p:cNvSpPr/>
          <p:nvPr/>
        </p:nvSpPr>
        <p:spPr>
          <a:xfrm>
            <a:off x="8823960" y="4809744"/>
            <a:ext cx="292608" cy="228600"/>
          </a:xfrm>
          <a:prstGeom prst="rect">
            <a:avLst/>
          </a:prstGeom>
          <a:noFill/>
        </p:spPr>
        <p:txBody>
          <a:bodyPr wrap="square" lIns="0" tIns="0" rIns="0" bIns="0" rtlCol="0" anchor="ctr"/>
          <a:lstStyle/>
          <a:p>
            <a:pPr marL="0" indent="0" algn="ctr">
              <a:buNone/>
            </a:pPr>
            <a:r>
              <a:rPr lang="en-US" sz="1000" b="1" dirty="0">
                <a:solidFill>
                  <a:srgbClr val="E4C766"/>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22" name="Shape 20"/>
          <p:cNvSpPr/>
          <p:nvPr/>
        </p:nvSpPr>
        <p:spPr>
          <a:xfrm>
            <a:off x="9966960" y="4535424"/>
            <a:ext cx="292608" cy="502920"/>
          </a:xfrm>
          <a:prstGeom prst="roundRect">
            <a:avLst>
              <a:gd name="adj" fmla="val 15625"/>
            </a:avLst>
          </a:prstGeom>
          <a:solidFill>
            <a:srgbClr val="0F1F3D"/>
          </a:solidFill>
        </p:spPr>
      </p:sp>
      <p:sp>
        <p:nvSpPr>
          <p:cNvPr id="23" name="Text 21"/>
          <p:cNvSpPr/>
          <p:nvPr/>
        </p:nvSpPr>
        <p:spPr>
          <a:xfrm>
            <a:off x="9966960" y="4553712"/>
            <a:ext cx="292608" cy="228600"/>
          </a:xfrm>
          <a:prstGeom prst="rect">
            <a:avLst/>
          </a:prstGeom>
          <a:noFill/>
        </p:spPr>
        <p:txBody>
          <a:bodyPr wrap="square" lIns="0" tIns="0" rIns="0" bIns="0" rtlCol="0" anchor="ctr"/>
          <a:lstStyle/>
          <a:p>
            <a:pPr marL="0" indent="0" algn="ctr">
              <a:buNone/>
            </a:pPr>
            <a:r>
              <a:rPr lang="en-US" sz="1000" b="1" dirty="0">
                <a:solidFill>
                  <a:srgbClr val="E4C766"/>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30" name="Picture 29"/>
          <p:cNvPicPr>
            <a:picLocks noChangeAspect="1"/>
          </p:cNvPicPr>
          <p:nvPr/>
        </p:nvPicPr>
        <p:blipFill>
          <a:blip r:embed="rId2"/>
          <a:stretch>
            <a:fillRect/>
          </a:stretch>
        </p:blipFill>
        <p:spPr>
          <a:xfrm>
            <a:off x="6370320" y="1497965"/>
            <a:ext cx="4968240" cy="2626360"/>
          </a:xfrm>
          <a:prstGeom prst="rect">
            <a:avLst/>
          </a:prstGeom>
        </p:spPr>
      </p:pic>
      <p:sp>
        <p:nvSpPr>
          <p:cNvPr id="24" name="Text Box 23"/>
          <p:cNvSpPr txBox="1"/>
          <p:nvPr/>
        </p:nvSpPr>
        <p:spPr>
          <a:xfrm>
            <a:off x="873125" y="2834640"/>
            <a:ext cx="4064000" cy="2223770"/>
          </a:xfrm>
          <a:prstGeom prst="rect">
            <a:avLst/>
          </a:prstGeom>
          <a:noFill/>
        </p:spPr>
        <p:txBody>
          <a:bodyPr wrap="square" rtlCol="0">
            <a:noAutofit/>
          </a:bodyPr>
          <a:p>
            <a:r>
              <a:rPr lang="en-IN" altLang="en-US" b="1"/>
              <a:t>Inaguration:</a:t>
            </a:r>
            <a:r>
              <a:rPr lang="en-IN" altLang="en-US"/>
              <a:t> October 7, 2026 </a:t>
            </a:r>
            <a:endParaRPr lang="en-IN" altLang="en-US"/>
          </a:p>
          <a:p>
            <a:r>
              <a:rPr lang="en-IN" altLang="en-US">
                <a:solidFill>
                  <a:srgbClr val="FF0000"/>
                </a:solidFill>
              </a:rPr>
              <a:t>(Bhaiji Jayanti)</a:t>
            </a:r>
            <a:endParaRPr lang="en-IN" altLang="en-US">
              <a:solidFill>
                <a:srgbClr val="FF0000"/>
              </a:solidFill>
            </a:endParaRPr>
          </a:p>
          <a:p>
            <a:endParaRPr lang="en-IN" altLang="en-US"/>
          </a:p>
          <a:p>
            <a:r>
              <a:rPr lang="en-IN" altLang="en-US" b="1"/>
              <a:t>Closing Cermony:</a:t>
            </a:r>
            <a:r>
              <a:rPr lang="en-IN" altLang="en-US"/>
              <a:t> Februrary 4, 2027 </a:t>
            </a:r>
            <a:r>
              <a:rPr lang="en-IN" altLang="en-US">
                <a:solidFill>
                  <a:srgbClr val="FF0000"/>
                </a:solidFill>
              </a:rPr>
              <a:t>(World Cancer Day)</a:t>
            </a:r>
            <a:endParaRPr lang="en-IN" altLang="en-US">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PARTICIPATION &amp; REACH MODEL</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The Audience We're Aiming to Reach</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250" i="1" dirty="0">
                <a:solidFill>
                  <a:srgbClr val="5B6B85"/>
                </a:solidFill>
                <a:latin typeface="Calibri" panose="020F0502020204030204" pitchFamily="34" charset="0"/>
                <a:ea typeface="Calibri" panose="020F0502020204030204" pitchFamily="34" charset="-122"/>
                <a:cs typeface="Calibri" panose="020F0502020204030204" pitchFamily="34" charset="-120"/>
              </a:rPr>
              <a:t>Working estimates from our planning model — before organic sharing and word-of-mouth amplification.</a:t>
            </a:r>
            <a:endParaRPr lang="en-US" sz="1250" dirty="0"/>
          </a:p>
        </p:txBody>
      </p:sp>
      <p:sp>
        <p:nvSpPr>
          <p:cNvPr id="9" name="Shape 7"/>
          <p:cNvSpPr/>
          <p:nvPr/>
        </p:nvSpPr>
        <p:spPr>
          <a:xfrm>
            <a:off x="548640" y="233172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10" name="Shape 8"/>
          <p:cNvSpPr/>
          <p:nvPr/>
        </p:nvSpPr>
        <p:spPr>
          <a:xfrm>
            <a:off x="777240" y="2560320"/>
            <a:ext cx="384048" cy="384048"/>
          </a:xfrm>
          <a:prstGeom prst="ellipse">
            <a:avLst/>
          </a:prstGeom>
          <a:solidFill>
            <a:srgbClr val="C9A227"/>
          </a:solidFill>
        </p:spPr>
      </p:sp>
      <p:sp>
        <p:nvSpPr>
          <p:cNvPr id="11" name="Text 9"/>
          <p:cNvSpPr/>
          <p:nvPr/>
        </p:nvSpPr>
        <p:spPr>
          <a:xfrm>
            <a:off x="777240" y="256032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10" dirty="0"/>
          </a:p>
        </p:txBody>
      </p:sp>
      <p:sp>
        <p:nvSpPr>
          <p:cNvPr id="12" name="Text 10"/>
          <p:cNvSpPr/>
          <p:nvPr/>
        </p:nvSpPr>
        <p:spPr>
          <a:xfrm>
            <a:off x="731520" y="3108960"/>
            <a:ext cx="2240280" cy="640080"/>
          </a:xfrm>
          <a:prstGeom prst="rect">
            <a:avLst/>
          </a:prstGeom>
          <a:noFill/>
        </p:spPr>
        <p:txBody>
          <a:bodyPr wrap="square" lIns="0" tIns="0" rIns="0" bIns="0" rtlCol="0" anchor="ctr"/>
          <a:lstStyle/>
          <a:p>
            <a:pPr marL="0" indent="0">
              <a:lnSpc>
                <a:spcPct val="110000"/>
              </a:lnSpc>
              <a:buNone/>
            </a:pPr>
            <a:r>
              <a:rPr lang="en-US" sz="1350" b="1" dirty="0">
                <a:solidFill>
                  <a:srgbClr val="0F1F3D"/>
                </a:solidFill>
                <a:latin typeface="Calibri" panose="020F0502020204030204" pitchFamily="34" charset="0"/>
                <a:ea typeface="Calibri" panose="020F0502020204030204" pitchFamily="34" charset="-122"/>
                <a:cs typeface="Calibri" panose="020F0502020204030204" pitchFamily="34" charset="-120"/>
              </a:rPr>
              <a:t>Colleges &amp;</a:t>
            </a:r>
            <a:endParaRPr lang="en-US" sz="1350" dirty="0"/>
          </a:p>
          <a:p>
            <a:pPr marL="0" indent="0">
              <a:lnSpc>
                <a:spcPct val="110000"/>
              </a:lnSpc>
              <a:buNone/>
            </a:pPr>
            <a:r>
              <a:rPr lang="en-US" sz="1350" b="1" dirty="0">
                <a:solidFill>
                  <a:srgbClr val="0F1F3D"/>
                </a:solidFill>
                <a:latin typeface="Calibri" panose="020F0502020204030204" pitchFamily="34" charset="0"/>
                <a:ea typeface="Calibri" panose="020F0502020204030204" pitchFamily="34" charset="-122"/>
                <a:cs typeface="Calibri" panose="020F0502020204030204" pitchFamily="34" charset="-120"/>
              </a:rPr>
              <a:t>Universities</a:t>
            </a:r>
            <a:endParaRPr lang="en-US" sz="1350" dirty="0"/>
          </a:p>
        </p:txBody>
      </p:sp>
      <p:sp>
        <p:nvSpPr>
          <p:cNvPr id="13" name="Text 11"/>
          <p:cNvSpPr/>
          <p:nvPr/>
        </p:nvSpPr>
        <p:spPr>
          <a:xfrm>
            <a:off x="731520" y="3749040"/>
            <a:ext cx="2240280" cy="457200"/>
          </a:xfrm>
          <a:prstGeom prst="rect">
            <a:avLst/>
          </a:prstGeom>
          <a:noFill/>
        </p:spPr>
        <p:txBody>
          <a:bodyPr wrap="square" lIns="0" tIns="0" rIns="0" bIns="0" rtlCol="0" anchor="ctr"/>
          <a:lstStyle/>
          <a:p>
            <a:pPr marL="0" indent="0">
              <a:buNone/>
            </a:pPr>
            <a:r>
              <a:rPr lang="en-US" sz="1700" b="1" dirty="0">
                <a:solidFill>
                  <a:srgbClr val="D6336C"/>
                </a:solidFill>
                <a:latin typeface="Georgia" panose="02040502050405020303" pitchFamily="34" charset="0"/>
                <a:ea typeface="Georgia" panose="02040502050405020303" pitchFamily="34" charset="-122"/>
                <a:cs typeface="Georgia" panose="02040502050405020303" pitchFamily="34" charset="-120"/>
              </a:rPr>
              <a:t>180,000 students</a:t>
            </a:r>
            <a:endParaRPr lang="en-US" sz="1700" dirty="0"/>
          </a:p>
        </p:txBody>
      </p:sp>
      <p:sp>
        <p:nvSpPr>
          <p:cNvPr id="14" name="Text 12"/>
          <p:cNvSpPr/>
          <p:nvPr/>
        </p:nvSpPr>
        <p:spPr>
          <a:xfrm>
            <a:off x="731520" y="4206240"/>
            <a:ext cx="2240280" cy="91440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25% reach assumption across 150 colleges (~900,000 population)</a:t>
            </a:r>
            <a:endParaRPr lang="en-US" sz="900" dirty="0"/>
          </a:p>
        </p:txBody>
      </p:sp>
      <p:sp>
        <p:nvSpPr>
          <p:cNvPr id="15" name="Shape 13"/>
          <p:cNvSpPr/>
          <p:nvPr/>
        </p:nvSpPr>
        <p:spPr>
          <a:xfrm>
            <a:off x="3337560" y="233172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16" name="Shape 14"/>
          <p:cNvSpPr/>
          <p:nvPr/>
        </p:nvSpPr>
        <p:spPr>
          <a:xfrm>
            <a:off x="3566160" y="2560320"/>
            <a:ext cx="384048" cy="384048"/>
          </a:xfrm>
          <a:prstGeom prst="ellipse">
            <a:avLst/>
          </a:prstGeom>
          <a:solidFill>
            <a:srgbClr val="C9A227"/>
          </a:solidFill>
        </p:spPr>
      </p:sp>
      <p:sp>
        <p:nvSpPr>
          <p:cNvPr id="17" name="Text 15"/>
          <p:cNvSpPr/>
          <p:nvPr/>
        </p:nvSpPr>
        <p:spPr>
          <a:xfrm>
            <a:off x="3566160" y="256032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10" dirty="0"/>
          </a:p>
        </p:txBody>
      </p:sp>
      <p:sp>
        <p:nvSpPr>
          <p:cNvPr id="18" name="Text 16"/>
          <p:cNvSpPr/>
          <p:nvPr/>
        </p:nvSpPr>
        <p:spPr>
          <a:xfrm>
            <a:off x="3520440" y="3108960"/>
            <a:ext cx="2240280" cy="640080"/>
          </a:xfrm>
          <a:prstGeom prst="rect">
            <a:avLst/>
          </a:prstGeom>
          <a:noFill/>
        </p:spPr>
        <p:txBody>
          <a:bodyPr wrap="square" lIns="0" tIns="0" rIns="0" bIns="0" rtlCol="0" anchor="ctr"/>
          <a:lstStyle/>
          <a:p>
            <a:pPr marL="0" indent="0">
              <a:lnSpc>
                <a:spcPct val="110000"/>
              </a:lnSpc>
              <a:buNone/>
            </a:pPr>
            <a:r>
              <a:rPr lang="en-US" sz="1350" b="1" dirty="0">
                <a:solidFill>
                  <a:srgbClr val="0F1F3D"/>
                </a:solidFill>
                <a:latin typeface="Calibri" panose="020F0502020204030204" pitchFamily="34" charset="0"/>
                <a:ea typeface="Calibri" panose="020F0502020204030204" pitchFamily="34" charset="-122"/>
                <a:cs typeface="Calibri" panose="020F0502020204030204" pitchFamily="34" charset="-120"/>
              </a:rPr>
              <a:t>Schools</a:t>
            </a:r>
            <a:endParaRPr lang="en-US" sz="1350" dirty="0"/>
          </a:p>
        </p:txBody>
      </p:sp>
      <p:sp>
        <p:nvSpPr>
          <p:cNvPr id="19" name="Text 17"/>
          <p:cNvSpPr/>
          <p:nvPr/>
        </p:nvSpPr>
        <p:spPr>
          <a:xfrm>
            <a:off x="3520440" y="3749040"/>
            <a:ext cx="2240280" cy="457200"/>
          </a:xfrm>
          <a:prstGeom prst="rect">
            <a:avLst/>
          </a:prstGeom>
          <a:noFill/>
        </p:spPr>
        <p:txBody>
          <a:bodyPr wrap="square" lIns="0" tIns="0" rIns="0" bIns="0" rtlCol="0" anchor="ctr"/>
          <a:lstStyle/>
          <a:p>
            <a:pPr marL="0" indent="0">
              <a:buNone/>
            </a:pPr>
            <a:r>
              <a:rPr lang="en-US" sz="1700" b="1" dirty="0">
                <a:solidFill>
                  <a:srgbClr val="D6336C"/>
                </a:solidFill>
                <a:latin typeface="Georgia" panose="02040502050405020303" pitchFamily="34" charset="0"/>
                <a:ea typeface="Georgia" panose="02040502050405020303" pitchFamily="34" charset="-122"/>
                <a:cs typeface="Georgia" panose="02040502050405020303" pitchFamily="34" charset="-120"/>
              </a:rPr>
              <a:t>150,000 students</a:t>
            </a:r>
            <a:endParaRPr lang="en-US" sz="1700" dirty="0"/>
          </a:p>
        </p:txBody>
      </p:sp>
      <p:sp>
        <p:nvSpPr>
          <p:cNvPr id="20" name="Text 18"/>
          <p:cNvSpPr/>
          <p:nvPr/>
        </p:nvSpPr>
        <p:spPr>
          <a:xfrm>
            <a:off x="3520440" y="4206240"/>
            <a:ext cx="2240280" cy="91440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10% reach assumption across 1,500 schools (~1,500,000 population)</a:t>
            </a:r>
            <a:endParaRPr lang="en-US" sz="900" dirty="0"/>
          </a:p>
        </p:txBody>
      </p:sp>
      <p:sp>
        <p:nvSpPr>
          <p:cNvPr id="21" name="Shape 19"/>
          <p:cNvSpPr/>
          <p:nvPr/>
        </p:nvSpPr>
        <p:spPr>
          <a:xfrm>
            <a:off x="6126480" y="233172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22" name="Shape 20"/>
          <p:cNvSpPr/>
          <p:nvPr/>
        </p:nvSpPr>
        <p:spPr>
          <a:xfrm>
            <a:off x="6355080" y="2560320"/>
            <a:ext cx="384048" cy="384048"/>
          </a:xfrm>
          <a:prstGeom prst="ellipse">
            <a:avLst/>
          </a:prstGeom>
          <a:solidFill>
            <a:srgbClr val="C9A227"/>
          </a:solidFill>
        </p:spPr>
      </p:sp>
      <p:sp>
        <p:nvSpPr>
          <p:cNvPr id="23" name="Text 21"/>
          <p:cNvSpPr/>
          <p:nvPr/>
        </p:nvSpPr>
        <p:spPr>
          <a:xfrm>
            <a:off x="6355080" y="256032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10" dirty="0"/>
          </a:p>
        </p:txBody>
      </p:sp>
      <p:sp>
        <p:nvSpPr>
          <p:cNvPr id="24" name="Text 22"/>
          <p:cNvSpPr/>
          <p:nvPr/>
        </p:nvSpPr>
        <p:spPr>
          <a:xfrm>
            <a:off x="6309360" y="3108960"/>
            <a:ext cx="2240280" cy="640080"/>
          </a:xfrm>
          <a:prstGeom prst="rect">
            <a:avLst/>
          </a:prstGeom>
          <a:noFill/>
        </p:spPr>
        <p:txBody>
          <a:bodyPr wrap="square" lIns="0" tIns="0" rIns="0" bIns="0" rtlCol="0" anchor="ctr"/>
          <a:lstStyle/>
          <a:p>
            <a:pPr marL="0" indent="0">
              <a:lnSpc>
                <a:spcPct val="110000"/>
              </a:lnSpc>
              <a:buNone/>
            </a:pPr>
            <a:r>
              <a:rPr lang="en-US" sz="1350" b="1" dirty="0">
                <a:solidFill>
                  <a:srgbClr val="0F1F3D"/>
                </a:solidFill>
                <a:latin typeface="Calibri" panose="020F0502020204030204" pitchFamily="34" charset="0"/>
                <a:ea typeface="Calibri" panose="020F0502020204030204" pitchFamily="34" charset="-122"/>
                <a:cs typeface="Calibri" panose="020F0502020204030204" pitchFamily="34" charset="-120"/>
              </a:rPr>
              <a:t>Influencers &amp;</a:t>
            </a:r>
            <a:endParaRPr lang="en-US" sz="1350" dirty="0"/>
          </a:p>
          <a:p>
            <a:pPr marL="0" indent="0">
              <a:lnSpc>
                <a:spcPct val="110000"/>
              </a:lnSpc>
              <a:buNone/>
            </a:pPr>
            <a:r>
              <a:rPr lang="en-US" sz="1350" b="1" dirty="0">
                <a:solidFill>
                  <a:srgbClr val="0F1F3D"/>
                </a:solidFill>
                <a:latin typeface="Calibri" panose="020F0502020204030204" pitchFamily="34" charset="0"/>
                <a:ea typeface="Calibri" panose="020F0502020204030204" pitchFamily="34" charset="-122"/>
                <a:cs typeface="Calibri" panose="020F0502020204030204" pitchFamily="34" charset="-120"/>
              </a:rPr>
              <a:t>Creators</a:t>
            </a:r>
            <a:endParaRPr lang="en-US" sz="1350" dirty="0"/>
          </a:p>
        </p:txBody>
      </p:sp>
      <p:sp>
        <p:nvSpPr>
          <p:cNvPr id="25" name="Text 23"/>
          <p:cNvSpPr/>
          <p:nvPr/>
        </p:nvSpPr>
        <p:spPr>
          <a:xfrm>
            <a:off x="6309360" y="3749040"/>
            <a:ext cx="2240280" cy="457200"/>
          </a:xfrm>
          <a:prstGeom prst="rect">
            <a:avLst/>
          </a:prstGeom>
          <a:noFill/>
        </p:spPr>
        <p:txBody>
          <a:bodyPr wrap="square" lIns="0" tIns="0" rIns="0" bIns="0" rtlCol="0" anchor="ctr"/>
          <a:lstStyle/>
          <a:p>
            <a:pPr marL="0" indent="0">
              <a:buNone/>
            </a:pPr>
            <a:r>
              <a:rPr lang="en-US" sz="1700" b="1" dirty="0">
                <a:solidFill>
                  <a:srgbClr val="D6336C"/>
                </a:solidFill>
                <a:latin typeface="Georgia" panose="02040502050405020303" pitchFamily="34" charset="0"/>
                <a:ea typeface="Georgia" panose="02040502050405020303" pitchFamily="34" charset="-122"/>
                <a:cs typeface="Georgia" panose="02040502050405020303" pitchFamily="34" charset="-120"/>
              </a:rPr>
              <a:t>25 influencers</a:t>
            </a:r>
            <a:endParaRPr lang="en-US" sz="1700" dirty="0"/>
          </a:p>
        </p:txBody>
      </p:sp>
      <p:sp>
        <p:nvSpPr>
          <p:cNvPr id="26" name="Text 24"/>
          <p:cNvSpPr/>
          <p:nvPr/>
        </p:nvSpPr>
        <p:spPr>
          <a:xfrm>
            <a:off x="6309360" y="4206240"/>
            <a:ext cx="2240280" cy="91440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50% participation assumption from ~50 Gorakhpur creators</a:t>
            </a:r>
            <a:endParaRPr lang="en-US" sz="900" dirty="0"/>
          </a:p>
        </p:txBody>
      </p:sp>
      <p:sp>
        <p:nvSpPr>
          <p:cNvPr id="27" name="Shape 25"/>
          <p:cNvSpPr/>
          <p:nvPr/>
        </p:nvSpPr>
        <p:spPr>
          <a:xfrm>
            <a:off x="8915400" y="233172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28" name="Shape 26"/>
          <p:cNvSpPr/>
          <p:nvPr/>
        </p:nvSpPr>
        <p:spPr>
          <a:xfrm>
            <a:off x="9144000" y="2560320"/>
            <a:ext cx="384048" cy="384048"/>
          </a:xfrm>
          <a:prstGeom prst="ellipse">
            <a:avLst/>
          </a:prstGeom>
          <a:solidFill>
            <a:srgbClr val="C9A227"/>
          </a:solidFill>
        </p:spPr>
      </p:sp>
      <p:sp>
        <p:nvSpPr>
          <p:cNvPr id="29" name="Text 27"/>
          <p:cNvSpPr/>
          <p:nvPr/>
        </p:nvSpPr>
        <p:spPr>
          <a:xfrm>
            <a:off x="9144000" y="256032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10" dirty="0"/>
          </a:p>
        </p:txBody>
      </p:sp>
      <p:sp>
        <p:nvSpPr>
          <p:cNvPr id="30" name="Text 28"/>
          <p:cNvSpPr/>
          <p:nvPr/>
        </p:nvSpPr>
        <p:spPr>
          <a:xfrm>
            <a:off x="9098280" y="3108960"/>
            <a:ext cx="2240280" cy="640080"/>
          </a:xfrm>
          <a:prstGeom prst="rect">
            <a:avLst/>
          </a:prstGeom>
          <a:noFill/>
        </p:spPr>
        <p:txBody>
          <a:bodyPr wrap="square" lIns="0" tIns="0" rIns="0" bIns="0" rtlCol="0" anchor="ctr"/>
          <a:lstStyle/>
          <a:p>
            <a:pPr marL="0" indent="0">
              <a:lnSpc>
                <a:spcPct val="110000"/>
              </a:lnSpc>
              <a:buNone/>
            </a:pPr>
            <a:r>
              <a:rPr lang="en-US" sz="1350" b="1" dirty="0">
                <a:solidFill>
                  <a:srgbClr val="0F1F3D"/>
                </a:solidFill>
                <a:latin typeface="Calibri" panose="020F0502020204030204" pitchFamily="34" charset="0"/>
                <a:ea typeface="Calibri" panose="020F0502020204030204" pitchFamily="34" charset="-122"/>
                <a:cs typeface="Calibri" panose="020F0502020204030204" pitchFamily="34" charset="-120"/>
              </a:rPr>
              <a:t>Co-Host Clubs</a:t>
            </a:r>
            <a:endParaRPr lang="en-US" sz="1350" dirty="0"/>
          </a:p>
        </p:txBody>
      </p:sp>
      <p:sp>
        <p:nvSpPr>
          <p:cNvPr id="31" name="Text 29"/>
          <p:cNvSpPr/>
          <p:nvPr/>
        </p:nvSpPr>
        <p:spPr>
          <a:xfrm>
            <a:off x="9098280" y="3749040"/>
            <a:ext cx="2240280" cy="457200"/>
          </a:xfrm>
          <a:prstGeom prst="rect">
            <a:avLst/>
          </a:prstGeom>
          <a:noFill/>
        </p:spPr>
        <p:txBody>
          <a:bodyPr wrap="square" lIns="0" tIns="0" rIns="0" bIns="0" rtlCol="0" anchor="ctr"/>
          <a:lstStyle/>
          <a:p>
            <a:pPr marL="0" indent="0">
              <a:buNone/>
            </a:pPr>
            <a:r>
              <a:rPr lang="en-IN" altLang="en-US" sz="1700" b="1" dirty="0">
                <a:solidFill>
                  <a:srgbClr val="D6336C"/>
                </a:solidFill>
                <a:latin typeface="Georgia" panose="02040502050405020303" pitchFamily="34" charset="0"/>
                <a:ea typeface="Georgia" panose="02040502050405020303" pitchFamily="34" charset="-122"/>
                <a:cs typeface="Georgia" panose="02040502050405020303" pitchFamily="34" charset="-120"/>
              </a:rPr>
              <a:t>20 Clubs</a:t>
            </a:r>
            <a:endParaRPr lang="en-IN" altLang="en-US" sz="1700" b="1" dirty="0">
              <a:solidFill>
                <a:srgbClr val="D6336C"/>
              </a:solidFill>
              <a:latin typeface="Georgia" panose="02040502050405020303" pitchFamily="34" charset="0"/>
              <a:ea typeface="Georgia" panose="02040502050405020303" pitchFamily="34" charset="-122"/>
              <a:cs typeface="Georgia" panose="02040502050405020303" pitchFamily="34" charset="-120"/>
            </a:endParaRPr>
          </a:p>
        </p:txBody>
      </p:sp>
      <p:sp>
        <p:nvSpPr>
          <p:cNvPr id="32" name="Text 30"/>
          <p:cNvSpPr/>
          <p:nvPr/>
        </p:nvSpPr>
        <p:spPr>
          <a:xfrm>
            <a:off x="9098280" y="4206240"/>
            <a:ext cx="2240280" cy="91440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Reach figures pending confirmation with partner clubs</a:t>
            </a:r>
            <a:endParaRPr lang="en-US" sz="900" dirty="0"/>
          </a:p>
        </p:txBody>
      </p:sp>
      <p:sp>
        <p:nvSpPr>
          <p:cNvPr id="33" name="Shape 31"/>
          <p:cNvSpPr/>
          <p:nvPr/>
        </p:nvSpPr>
        <p:spPr>
          <a:xfrm>
            <a:off x="548640" y="5440680"/>
            <a:ext cx="11064240" cy="960120"/>
          </a:xfrm>
          <a:prstGeom prst="roundRect">
            <a:avLst>
              <a:gd name="adj" fmla="val 7619"/>
            </a:avLst>
          </a:prstGeom>
          <a:solidFill>
            <a:srgbClr val="0F1F3D"/>
          </a:solidFill>
          <a:effectLst>
            <a:outerShdw blurRad="76200" dist="25400" dir="5400000" algn="bl" rotWithShape="0">
              <a:srgbClr val="203864">
                <a:alpha val="18000"/>
              </a:srgbClr>
            </a:outerShdw>
          </a:effectLst>
        </p:spPr>
      </p:sp>
      <p:sp>
        <p:nvSpPr>
          <p:cNvPr id="34" name="Text 32"/>
          <p:cNvSpPr/>
          <p:nvPr/>
        </p:nvSpPr>
        <p:spPr>
          <a:xfrm>
            <a:off x="822960" y="5440680"/>
            <a:ext cx="10515600" cy="960120"/>
          </a:xfrm>
          <a:prstGeom prst="rect">
            <a:avLst/>
          </a:prstGeom>
          <a:noFill/>
        </p:spPr>
        <p:txBody>
          <a:bodyPr wrap="square" lIns="0" tIns="0" rIns="0" bIns="0" rtlCol="0" anchor="ctr"/>
          <a:lstStyle/>
          <a:p>
            <a:pPr marL="0" indent="0" algn="ctr">
              <a:lnSpc>
                <a:spcPct val="120000"/>
              </a:lnSpc>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Combined potential reach: 330,000+ students across colleges and schools, plus 25 activated influencer accounts — before organic sharing multiplies it further.</a:t>
            </a:r>
            <a:endParaRPr lang="en-US" sz="1250" dirty="0"/>
          </a:p>
        </p:txBody>
      </p:sp>
      <p:sp>
        <p:nvSpPr>
          <p:cNvPr id="35"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6"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7"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8" name="Picture 37" descr="hppchri"/>
          <p:cNvPicPr>
            <a:picLocks noChangeAspect="1"/>
          </p:cNvPicPr>
          <p:nvPr/>
        </p:nvPicPr>
        <p:blipFill>
          <a:blip r:embed="rId1"/>
          <a:stretch>
            <a:fillRect/>
          </a:stretch>
        </p:blipFill>
        <p:spPr>
          <a:xfrm>
            <a:off x="210185" y="100965"/>
            <a:ext cx="695325" cy="695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CONTEST STRUCTURE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Contest Categories</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250" i="1" dirty="0">
                <a:solidFill>
                  <a:srgbClr val="5B6B85"/>
                </a:solidFill>
                <a:latin typeface="Calibri" panose="020F0502020204030204" pitchFamily="34" charset="0"/>
                <a:ea typeface="Calibri" panose="020F0502020204030204" pitchFamily="34" charset="-122"/>
                <a:cs typeface="Calibri" panose="020F0502020204030204" pitchFamily="34" charset="-120"/>
              </a:rPr>
              <a:t>General participation categories — judged within their own group, separate from the Influencer category.</a:t>
            </a:r>
            <a:endParaRPr lang="en-US" sz="1250" dirty="0"/>
          </a:p>
        </p:txBody>
      </p:sp>
      <p:sp>
        <p:nvSpPr>
          <p:cNvPr id="9" name="Shape 7"/>
          <p:cNvSpPr/>
          <p:nvPr/>
        </p:nvSpPr>
        <p:spPr>
          <a:xfrm>
            <a:off x="548640" y="2331720"/>
            <a:ext cx="5074920" cy="2377440"/>
          </a:xfrm>
          <a:prstGeom prst="roundRect">
            <a:avLst>
              <a:gd name="adj" fmla="val 3077"/>
            </a:avLst>
          </a:prstGeom>
          <a:solidFill>
            <a:srgbClr val="EAF0FA"/>
          </a:solidFill>
          <a:effectLst>
            <a:outerShdw blurRad="76200" dist="25400" dir="5400000" algn="bl" rotWithShape="0">
              <a:srgbClr val="203864">
                <a:alpha val="18000"/>
              </a:srgbClr>
            </a:outerShdw>
          </a:effectLst>
        </p:spPr>
      </p:sp>
      <p:sp>
        <p:nvSpPr>
          <p:cNvPr id="12" name="Text 10"/>
          <p:cNvSpPr/>
          <p:nvPr/>
        </p:nvSpPr>
        <p:spPr>
          <a:xfrm>
            <a:off x="1554480" y="2606040"/>
            <a:ext cx="4069080" cy="502920"/>
          </a:xfrm>
          <a:prstGeom prst="rect">
            <a:avLst/>
          </a:prstGeom>
          <a:noFill/>
        </p:spPr>
        <p:txBody>
          <a:bodyPr wrap="square" lIns="0" tIns="0" rIns="0" bIns="0" rtlCol="0" anchor="ctr"/>
          <a:lstStyle/>
          <a:p>
            <a:pPr marL="0" indent="0">
              <a:buNone/>
            </a:pPr>
            <a:r>
              <a:rPr lang="en-US" sz="1700" b="1" dirty="0">
                <a:solidFill>
                  <a:srgbClr val="0F1F3D"/>
                </a:solidFill>
                <a:latin typeface="Calibri" panose="020F0502020204030204" pitchFamily="34" charset="0"/>
                <a:ea typeface="Calibri" panose="020F0502020204030204" pitchFamily="34" charset="-122"/>
                <a:cs typeface="Calibri" panose="020F0502020204030204" pitchFamily="34" charset="-120"/>
              </a:rPr>
              <a:t>Club Members</a:t>
            </a:r>
            <a:endParaRPr lang="en-US" sz="1700" dirty="0"/>
          </a:p>
        </p:txBody>
      </p:sp>
      <p:sp>
        <p:nvSpPr>
          <p:cNvPr id="13" name="Text 11"/>
          <p:cNvSpPr/>
          <p:nvPr/>
        </p:nvSpPr>
        <p:spPr>
          <a:xfrm>
            <a:off x="868680" y="3291840"/>
            <a:ext cx="4709160" cy="1280160"/>
          </a:xfrm>
          <a:prstGeom prst="rect">
            <a:avLst/>
          </a:prstGeom>
          <a:noFill/>
        </p:spPr>
        <p:txBody>
          <a:bodyPr wrap="square" lIns="0" tIns="0" rIns="0" bIns="0" rtlCol="0" anchor="ctr"/>
          <a:lstStyle/>
          <a:p>
            <a:pPr marL="0" indent="0">
              <a:lnSpc>
                <a:spcPct val="130000"/>
              </a:lnSpc>
              <a:buNone/>
            </a:pPr>
            <a:r>
              <a:rPr lang="en-US" sz="1250" dirty="0">
                <a:solidFill>
                  <a:srgbClr val="13233F"/>
                </a:solidFill>
                <a:latin typeface="Calibri" panose="020F0502020204030204" pitchFamily="34" charset="0"/>
                <a:ea typeface="Calibri" panose="020F0502020204030204" pitchFamily="34" charset="-122"/>
                <a:cs typeface="Calibri" panose="020F0502020204030204" pitchFamily="34" charset="-120"/>
              </a:rPr>
              <a:t>Participants from the GKP clubs co-hosting the Cancer Awareness Drive with HPPCHRI.</a:t>
            </a:r>
            <a:endParaRPr lang="en-US" sz="1250" dirty="0"/>
          </a:p>
        </p:txBody>
      </p:sp>
      <p:sp>
        <p:nvSpPr>
          <p:cNvPr id="14" name="Shape 12"/>
          <p:cNvSpPr/>
          <p:nvPr/>
        </p:nvSpPr>
        <p:spPr>
          <a:xfrm>
            <a:off x="6263640" y="2331720"/>
            <a:ext cx="5079365" cy="2377440"/>
          </a:xfrm>
          <a:prstGeom prst="roundRect">
            <a:avLst>
              <a:gd name="adj" fmla="val 3077"/>
            </a:avLst>
          </a:prstGeom>
          <a:solidFill>
            <a:srgbClr val="EAF0FA"/>
          </a:solidFill>
          <a:effectLst>
            <a:outerShdw blurRad="76200" dist="25400" dir="5400000" algn="bl" rotWithShape="0">
              <a:srgbClr val="203864">
                <a:alpha val="18000"/>
              </a:srgbClr>
            </a:outerShdw>
          </a:effectLst>
        </p:spPr>
      </p:sp>
      <p:sp>
        <p:nvSpPr>
          <p:cNvPr id="17" name="Text 15"/>
          <p:cNvSpPr/>
          <p:nvPr/>
        </p:nvSpPr>
        <p:spPr>
          <a:xfrm>
            <a:off x="7269480" y="2606040"/>
            <a:ext cx="4069080" cy="502920"/>
          </a:xfrm>
          <a:prstGeom prst="rect">
            <a:avLst/>
          </a:prstGeom>
          <a:noFill/>
        </p:spPr>
        <p:txBody>
          <a:bodyPr wrap="square" lIns="0" tIns="0" rIns="0" bIns="0" rtlCol="0" anchor="ctr"/>
          <a:lstStyle/>
          <a:p>
            <a:pPr marL="0" indent="0">
              <a:buNone/>
            </a:pPr>
            <a:r>
              <a:rPr lang="en-US" sz="1700" b="1" dirty="0">
                <a:solidFill>
                  <a:srgbClr val="0F1F3D"/>
                </a:solidFill>
                <a:latin typeface="Calibri" panose="020F0502020204030204" pitchFamily="34" charset="0"/>
                <a:ea typeface="Calibri" panose="020F0502020204030204" pitchFamily="34" charset="-122"/>
                <a:cs typeface="Calibri" panose="020F0502020204030204" pitchFamily="34" charset="-120"/>
              </a:rPr>
              <a:t>Students</a:t>
            </a:r>
            <a:endParaRPr lang="en-US" sz="1700" dirty="0"/>
          </a:p>
        </p:txBody>
      </p:sp>
      <p:sp>
        <p:nvSpPr>
          <p:cNvPr id="18" name="Text 16"/>
          <p:cNvSpPr/>
          <p:nvPr/>
        </p:nvSpPr>
        <p:spPr>
          <a:xfrm>
            <a:off x="6583680" y="3291840"/>
            <a:ext cx="4709160" cy="1280160"/>
          </a:xfrm>
          <a:prstGeom prst="rect">
            <a:avLst/>
          </a:prstGeom>
          <a:noFill/>
        </p:spPr>
        <p:txBody>
          <a:bodyPr wrap="square" lIns="0" tIns="0" rIns="0" bIns="0" rtlCol="0" anchor="ctr"/>
          <a:lstStyle/>
          <a:p>
            <a:pPr marL="0" indent="0">
              <a:lnSpc>
                <a:spcPct val="130000"/>
              </a:lnSpc>
              <a:buNone/>
            </a:pPr>
            <a:r>
              <a:rPr lang="en-US" sz="1250" dirty="0">
                <a:solidFill>
                  <a:srgbClr val="13233F"/>
                </a:solidFill>
                <a:latin typeface="Calibri" panose="020F0502020204030204" pitchFamily="34" charset="0"/>
                <a:ea typeface="Calibri" panose="020F0502020204030204" pitchFamily="34" charset="-122"/>
                <a:cs typeface="Calibri" panose="020F0502020204030204" pitchFamily="34" charset="-120"/>
              </a:rPr>
              <a:t>School and college students taking part individually or through their institution.</a:t>
            </a:r>
            <a:endParaRPr lang="en-US" sz="1250" dirty="0"/>
          </a:p>
        </p:txBody>
      </p:sp>
      <p:sp>
        <p:nvSpPr>
          <p:cNvPr id="19" name="Shape 17"/>
          <p:cNvSpPr/>
          <p:nvPr/>
        </p:nvSpPr>
        <p:spPr>
          <a:xfrm>
            <a:off x="548640" y="5029200"/>
            <a:ext cx="11064240" cy="1234440"/>
          </a:xfrm>
          <a:prstGeom prst="roundRect">
            <a:avLst>
              <a:gd name="adj" fmla="val 5926"/>
            </a:avLst>
          </a:prstGeom>
          <a:solidFill>
            <a:srgbClr val="FCEFD8"/>
          </a:solidFill>
        </p:spPr>
      </p:sp>
      <p:sp>
        <p:nvSpPr>
          <p:cNvPr id="20" name="Text 18"/>
          <p:cNvSpPr/>
          <p:nvPr/>
        </p:nvSpPr>
        <p:spPr>
          <a:xfrm>
            <a:off x="822960" y="5120640"/>
            <a:ext cx="10515600" cy="1051560"/>
          </a:xfrm>
          <a:prstGeom prst="rect">
            <a:avLst/>
          </a:prstGeom>
          <a:noFill/>
        </p:spPr>
        <p:txBody>
          <a:bodyPr wrap="square" lIns="0" tIns="0" rIns="0" bIns="0" rtlCol="0" anchor="ctr"/>
          <a:lstStyle/>
          <a:p>
            <a:pPr marL="0" indent="0">
              <a:lnSpc>
                <a:spcPct val="125000"/>
              </a:lnSpc>
              <a:buNone/>
            </a:pPr>
            <a:r>
              <a:rPr lang="en-US" sz="1250" dirty="0">
                <a:solidFill>
                  <a:srgbClr val="13233F"/>
                </a:solidFill>
                <a:latin typeface="Calibri" panose="020F0502020204030204" pitchFamily="34" charset="0"/>
                <a:ea typeface="Calibri" panose="020F0502020204030204" pitchFamily="34" charset="-122"/>
                <a:cs typeface="Calibri" panose="020F0502020204030204" pitchFamily="34" charset="-120"/>
              </a:rPr>
              <a:t>In each category, the prize goes to the participant who spreads the most awareness — judged by reach and impressions on their posts. Club Members and Students compete only within their own category.</a:t>
            </a:r>
            <a:endParaRPr lang="en-US" sz="125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sp>
        <p:nvSpPr>
          <p:cNvPr id="21" name="Shape 7"/>
          <p:cNvSpPr/>
          <p:nvPr/>
        </p:nvSpPr>
        <p:spPr>
          <a:xfrm>
            <a:off x="731520" y="2454910"/>
            <a:ext cx="659130" cy="695325"/>
          </a:xfrm>
          <a:prstGeom prst="ellipse">
            <a:avLst/>
          </a:prstGeom>
          <a:solidFill>
            <a:srgbClr val="D6336C"/>
          </a:solidFill>
        </p:spPr>
      </p:sp>
      <p:sp>
        <p:nvSpPr>
          <p:cNvPr id="22" name="Shape 7"/>
          <p:cNvSpPr/>
          <p:nvPr/>
        </p:nvSpPr>
        <p:spPr>
          <a:xfrm>
            <a:off x="6446520" y="2454910"/>
            <a:ext cx="629285" cy="697230"/>
          </a:xfrm>
          <a:prstGeom prst="ellipse">
            <a:avLst/>
          </a:prstGeom>
          <a:solidFill>
            <a:srgbClr val="D6336C"/>
          </a:solidFill>
        </p:spPr>
      </p:sp>
      <p:sp>
        <p:nvSpPr>
          <p:cNvPr id="23" name="Text Box 22"/>
          <p:cNvSpPr txBox="1"/>
          <p:nvPr/>
        </p:nvSpPr>
        <p:spPr>
          <a:xfrm>
            <a:off x="905510" y="2591435"/>
            <a:ext cx="418465" cy="441325"/>
          </a:xfrm>
          <a:prstGeom prst="rect">
            <a:avLst/>
          </a:prstGeom>
          <a:noFill/>
        </p:spPr>
        <p:txBody>
          <a:bodyPr wrap="square" rtlCol="0">
            <a:noAutofit/>
          </a:bodyPr>
          <a:p>
            <a:r>
              <a:rPr lang="en-IN" altLang="en-US">
                <a:solidFill>
                  <a:schemeClr val="bg1"/>
                </a:solidFill>
              </a:rPr>
              <a:t>1</a:t>
            </a:r>
            <a:endParaRPr lang="en-IN" altLang="en-US">
              <a:solidFill>
                <a:schemeClr val="bg1"/>
              </a:solidFill>
            </a:endParaRPr>
          </a:p>
        </p:txBody>
      </p:sp>
      <p:sp>
        <p:nvSpPr>
          <p:cNvPr id="24" name="Text Box 23"/>
          <p:cNvSpPr txBox="1"/>
          <p:nvPr/>
        </p:nvSpPr>
        <p:spPr>
          <a:xfrm>
            <a:off x="6583680" y="2591435"/>
            <a:ext cx="418465" cy="441325"/>
          </a:xfrm>
          <a:prstGeom prst="rect">
            <a:avLst/>
          </a:prstGeom>
          <a:noFill/>
        </p:spPr>
        <p:txBody>
          <a:bodyPr wrap="square" rtlCol="0">
            <a:noAutofit/>
          </a:bodyPr>
          <a:p>
            <a:r>
              <a:rPr lang="en-IN" altLang="en-US">
                <a:solidFill>
                  <a:schemeClr val="bg1"/>
                </a:solidFill>
              </a:rPr>
              <a:t>2</a:t>
            </a:r>
            <a:endParaRPr lang="en-IN" altLang="en-US">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CONTEST STRUCTURE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Influencer Category</a:t>
            </a:r>
            <a:endParaRPr lang="en-US" sz="3000" dirty="0"/>
          </a:p>
        </p:txBody>
      </p:sp>
      <p:sp>
        <p:nvSpPr>
          <p:cNvPr id="8" name="Shape 6"/>
          <p:cNvSpPr/>
          <p:nvPr/>
        </p:nvSpPr>
        <p:spPr>
          <a:xfrm>
            <a:off x="548640" y="1828800"/>
            <a:ext cx="5212080" cy="4114800"/>
          </a:xfrm>
          <a:prstGeom prst="roundRect">
            <a:avLst>
              <a:gd name="adj" fmla="val 1778"/>
            </a:avLst>
          </a:prstGeom>
          <a:solidFill>
            <a:srgbClr val="0F1F3D"/>
          </a:solidFill>
          <a:effectLst>
            <a:outerShdw blurRad="76200" dist="25400" dir="5400000" algn="bl" rotWithShape="0">
              <a:srgbClr val="203864">
                <a:alpha val="18000"/>
              </a:srgbClr>
            </a:outerShdw>
          </a:effectLst>
        </p:spPr>
      </p:sp>
      <p:sp>
        <p:nvSpPr>
          <p:cNvPr id="9" name="Shape 7"/>
          <p:cNvSpPr/>
          <p:nvPr/>
        </p:nvSpPr>
        <p:spPr>
          <a:xfrm>
            <a:off x="868680" y="2148840"/>
            <a:ext cx="822960" cy="822960"/>
          </a:xfrm>
          <a:prstGeom prst="ellipse">
            <a:avLst/>
          </a:prstGeom>
          <a:solidFill>
            <a:srgbClr val="D6336C"/>
          </a:solidFill>
        </p:spPr>
      </p:sp>
      <p:sp>
        <p:nvSpPr>
          <p:cNvPr id="10" name="Text 8"/>
          <p:cNvSpPr/>
          <p:nvPr/>
        </p:nvSpPr>
        <p:spPr>
          <a:xfrm>
            <a:off x="868680" y="2148840"/>
            <a:ext cx="822960" cy="822960"/>
          </a:xfrm>
          <a:prstGeom prst="rect">
            <a:avLst/>
          </a:prstGeom>
          <a:noFill/>
        </p:spPr>
        <p:txBody>
          <a:bodyPr wrap="square" lIns="0" tIns="0" rIns="0" bIns="0" rtlCol="0" anchor="ctr"/>
          <a:lstStyle/>
          <a:p>
            <a:pPr marL="0" indent="0" algn="ctr">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400" dirty="0"/>
          </a:p>
        </p:txBody>
      </p:sp>
      <p:sp>
        <p:nvSpPr>
          <p:cNvPr id="11" name="Text 9"/>
          <p:cNvSpPr/>
          <p:nvPr/>
        </p:nvSpPr>
        <p:spPr>
          <a:xfrm>
            <a:off x="1874520" y="2194560"/>
            <a:ext cx="3657600" cy="777240"/>
          </a:xfrm>
          <a:prstGeom prst="rect">
            <a:avLst/>
          </a:prstGeom>
          <a:noFill/>
        </p:spPr>
        <p:txBody>
          <a:bodyPr wrap="square" lIns="0" tIns="0" rIns="0" bIns="0" rtlCol="0" anchor="ctr"/>
          <a:lstStyle/>
          <a:p>
            <a:pPr marL="0" indent="0">
              <a:lnSpc>
                <a:spcPct val="115000"/>
              </a:lnSpc>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Content creators and social-media influencers</a:t>
            </a:r>
            <a:endParaRPr lang="en-US" sz="1500" dirty="0"/>
          </a:p>
        </p:txBody>
      </p:sp>
      <p:sp>
        <p:nvSpPr>
          <p:cNvPr id="12" name="Text 10"/>
          <p:cNvSpPr/>
          <p:nvPr/>
        </p:nvSpPr>
        <p:spPr>
          <a:xfrm>
            <a:off x="868680" y="3200400"/>
            <a:ext cx="4617720" cy="1005840"/>
          </a:xfrm>
          <a:prstGeom prst="rect">
            <a:avLst/>
          </a:prstGeom>
          <a:noFill/>
        </p:spPr>
        <p:txBody>
          <a:bodyPr wrap="square" lIns="0" tIns="0" rIns="0" bIns="0" rtlCol="0" anchor="ctr"/>
          <a:lstStyle/>
          <a:p>
            <a:pPr marL="0" indent="0">
              <a:lnSpc>
                <a:spcPct val="130000"/>
              </a:lnSpc>
              <a:buNone/>
            </a:pPr>
            <a:r>
              <a:rPr lang="en-US" sz="1200" i="1" dirty="0">
                <a:solidFill>
                  <a:srgbClr val="C7D2E6"/>
                </a:solidFill>
                <a:latin typeface="Calibri" panose="020F0502020204030204" pitchFamily="34" charset="0"/>
                <a:ea typeface="Calibri" panose="020F0502020204030204" pitchFamily="34" charset="-122"/>
                <a:cs typeface="Calibri" panose="020F0502020204030204" pitchFamily="34" charset="-120"/>
              </a:rPr>
              <a:t>A dedicated category so genuine reach and content quality are rewarded fairly — without competing against student or club submissions.</a:t>
            </a:r>
            <a:endParaRPr lang="en-US" sz="1200" dirty="0"/>
          </a:p>
        </p:txBody>
      </p:sp>
      <p:sp>
        <p:nvSpPr>
          <p:cNvPr id="13" name="Shape 11"/>
          <p:cNvSpPr/>
          <p:nvPr/>
        </p:nvSpPr>
        <p:spPr>
          <a:xfrm>
            <a:off x="868680" y="4297680"/>
            <a:ext cx="4572000" cy="0"/>
          </a:xfrm>
          <a:prstGeom prst="line">
            <a:avLst/>
          </a:prstGeom>
          <a:noFill/>
          <a:ln w="12700">
            <a:solidFill>
              <a:srgbClr val="C9A227"/>
            </a:solidFill>
            <a:prstDash val="solid"/>
          </a:ln>
        </p:spPr>
      </p:sp>
      <p:sp>
        <p:nvSpPr>
          <p:cNvPr id="14" name="Text 12"/>
          <p:cNvSpPr/>
          <p:nvPr/>
        </p:nvSpPr>
        <p:spPr>
          <a:xfrm>
            <a:off x="868680" y="4434840"/>
            <a:ext cx="4572000" cy="274320"/>
          </a:xfrm>
          <a:prstGeom prst="rect">
            <a:avLst/>
          </a:prstGeom>
          <a:noFill/>
        </p:spPr>
        <p:txBody>
          <a:bodyPr wrap="square" lIns="0" tIns="0" rIns="0" bIns="0" rtlCol="0" anchor="ctr"/>
          <a:lstStyle/>
          <a:p>
            <a:pPr marL="0" indent="0">
              <a:buNone/>
            </a:pPr>
            <a:r>
              <a:rPr lang="en-US" sz="1050" b="1" kern="0" spc="150" dirty="0">
                <a:solidFill>
                  <a:srgbClr val="E4C766"/>
                </a:solidFill>
                <a:latin typeface="Calibri" panose="020F0502020204030204" pitchFamily="34" charset="0"/>
                <a:ea typeface="Calibri" panose="020F0502020204030204" pitchFamily="34" charset="-122"/>
                <a:cs typeface="Calibri" panose="020F0502020204030204" pitchFamily="34" charset="-120"/>
              </a:rPr>
              <a:t>ELIGIBILITY BENCHMARK</a:t>
            </a:r>
            <a:endParaRPr lang="en-US" sz="1050" dirty="0"/>
          </a:p>
        </p:txBody>
      </p:sp>
      <p:sp>
        <p:nvSpPr>
          <p:cNvPr id="15" name="Text 13"/>
          <p:cNvSpPr/>
          <p:nvPr/>
        </p:nvSpPr>
        <p:spPr>
          <a:xfrm>
            <a:off x="868680" y="4709160"/>
            <a:ext cx="2743200" cy="731520"/>
          </a:xfrm>
          <a:prstGeom prst="rect">
            <a:avLst/>
          </a:prstGeom>
          <a:noFill/>
        </p:spPr>
        <p:txBody>
          <a:bodyPr wrap="square" lIns="0" tIns="0" rIns="0" bIns="0" rtlCol="0" anchor="ctr"/>
          <a:lstStyle/>
          <a:p>
            <a:pPr marL="0" indent="0">
              <a:buNone/>
            </a:pPr>
            <a:r>
              <a:rPr lang="en-IN" altLang="en-US" sz="3800" b="1" dirty="0">
                <a:solidFill>
                  <a:srgbClr val="E4C766"/>
                </a:solidFill>
                <a:latin typeface="Georgia" panose="02040502050405020303" pitchFamily="34" charset="0"/>
                <a:ea typeface="Georgia" panose="02040502050405020303" pitchFamily="34" charset="-122"/>
                <a:cs typeface="Georgia" panose="02040502050405020303" pitchFamily="34" charset="-120"/>
              </a:rPr>
              <a:t>10</a:t>
            </a:r>
            <a:r>
              <a:rPr lang="en-US" sz="3800" b="1" dirty="0">
                <a:solidFill>
                  <a:srgbClr val="E4C766"/>
                </a:solidFill>
                <a:latin typeface="Georgia" panose="02040502050405020303" pitchFamily="34" charset="0"/>
                <a:ea typeface="Georgia" panose="02040502050405020303" pitchFamily="34" charset="-122"/>
                <a:cs typeface="Georgia" panose="02040502050405020303" pitchFamily="34" charset="-120"/>
              </a:rPr>
              <a:t>,000+</a:t>
            </a:r>
            <a:endParaRPr lang="en-US" sz="3800" dirty="0"/>
          </a:p>
        </p:txBody>
      </p:sp>
      <p:sp>
        <p:nvSpPr>
          <p:cNvPr id="16" name="Text 14"/>
          <p:cNvSpPr/>
          <p:nvPr/>
        </p:nvSpPr>
        <p:spPr>
          <a:xfrm>
            <a:off x="868680" y="5394960"/>
            <a:ext cx="4572000" cy="502920"/>
          </a:xfrm>
          <a:prstGeom prst="rect">
            <a:avLst/>
          </a:prstGeom>
          <a:noFill/>
        </p:spPr>
        <p:txBody>
          <a:bodyPr wrap="square" lIns="0" tIns="0" rIns="0" bIns="0" rtlCol="0" anchor="ctr"/>
          <a:lstStyle/>
          <a:p>
            <a:pPr marL="0" indent="0">
              <a:lnSpc>
                <a:spcPct val="120000"/>
              </a:lnSpc>
              <a:buNone/>
            </a:pPr>
            <a:r>
              <a:rPr lang="en-US" sz="1050" dirty="0">
                <a:solidFill>
                  <a:srgbClr val="C7D2E6"/>
                </a:solidFill>
                <a:latin typeface="Calibri" panose="020F0502020204030204" pitchFamily="34" charset="0"/>
                <a:ea typeface="Calibri" panose="020F0502020204030204" pitchFamily="34" charset="-122"/>
                <a:cs typeface="Calibri" panose="020F0502020204030204" pitchFamily="34" charset="-120"/>
              </a:rPr>
              <a:t>followers on the platform of participation, verified at registration</a:t>
            </a:r>
            <a:endParaRPr lang="en-US" sz="1050" dirty="0"/>
          </a:p>
        </p:txBody>
      </p:sp>
      <p:sp>
        <p:nvSpPr>
          <p:cNvPr id="17" name="Shape 15"/>
          <p:cNvSpPr/>
          <p:nvPr/>
        </p:nvSpPr>
        <p:spPr>
          <a:xfrm>
            <a:off x="5943600" y="1828800"/>
            <a:ext cx="5669280" cy="4114800"/>
          </a:xfrm>
          <a:prstGeom prst="roundRect">
            <a:avLst>
              <a:gd name="adj" fmla="val 1778"/>
            </a:avLst>
          </a:prstGeom>
          <a:solidFill>
            <a:srgbClr val="EAF0FA"/>
          </a:solidFill>
          <a:effectLst>
            <a:outerShdw blurRad="76200" dist="25400" dir="5400000" algn="bl" rotWithShape="0">
              <a:srgbClr val="203864">
                <a:alpha val="18000"/>
              </a:srgbClr>
            </a:outerShdw>
          </a:effectLst>
        </p:spPr>
      </p:sp>
      <p:sp>
        <p:nvSpPr>
          <p:cNvPr id="18" name="Text 16"/>
          <p:cNvSpPr/>
          <p:nvPr/>
        </p:nvSpPr>
        <p:spPr>
          <a:xfrm>
            <a:off x="6217920" y="2057400"/>
            <a:ext cx="5120640" cy="292608"/>
          </a:xfrm>
          <a:prstGeom prst="rect">
            <a:avLst/>
          </a:prstGeom>
          <a:noFill/>
        </p:spPr>
        <p:txBody>
          <a:bodyPr wrap="square" lIns="0" tIns="0" rIns="0" bIns="0" rtlCol="0" anchor="ctr"/>
          <a:lstStyle/>
          <a:p>
            <a:pPr marL="0" indent="0">
              <a:buNone/>
            </a:pPr>
            <a:r>
              <a:rPr lang="en-US" sz="1100" b="1" kern="0" spc="100" dirty="0">
                <a:solidFill>
                  <a:srgbClr val="C9A227"/>
                </a:solidFill>
                <a:latin typeface="Calibri" panose="020F0502020204030204" pitchFamily="34" charset="0"/>
                <a:ea typeface="Calibri" panose="020F0502020204030204" pitchFamily="34" charset="-122"/>
                <a:cs typeface="Calibri" panose="020F0502020204030204" pitchFamily="34" charset="-120"/>
              </a:rPr>
              <a:t>WHY A SEPARATE CATEGORY</a:t>
            </a:r>
            <a:endParaRPr lang="en-US" sz="1100" dirty="0"/>
          </a:p>
        </p:txBody>
      </p:sp>
      <p:sp>
        <p:nvSpPr>
          <p:cNvPr id="19" name="Text 17"/>
          <p:cNvSpPr/>
          <p:nvPr/>
        </p:nvSpPr>
        <p:spPr>
          <a:xfrm>
            <a:off x="6217920" y="2423160"/>
            <a:ext cx="5120640" cy="1737360"/>
          </a:xfrm>
          <a:prstGeom prst="rect">
            <a:avLst/>
          </a:prstGeom>
          <a:noFill/>
        </p:spPr>
        <p:txBody>
          <a:bodyPr wrap="square" lIns="0" tIns="0" rIns="0" bIns="0" rtlCol="0" anchor="t"/>
          <a:lstStyle/>
          <a:p>
            <a:pPr marL="342900" indent="-342900">
              <a:lnSpc>
                <a:spcPct val="105000"/>
              </a:lnSpc>
              <a:spcAft>
                <a:spcPts val="1000"/>
              </a:spcAft>
              <a:buSzPct val="100000"/>
              <a:buChar char="▪"/>
            </a:pPr>
            <a:r>
              <a:rPr lang="en-US" sz="1200" dirty="0">
                <a:solidFill>
                  <a:srgbClr val="13233F"/>
                </a:solidFill>
                <a:latin typeface="Calibri" panose="020F0502020204030204" pitchFamily="34" charset="0"/>
                <a:ea typeface="Calibri" panose="020F0502020204030204" pitchFamily="34" charset="-122"/>
                <a:cs typeface="Calibri" panose="020F0502020204030204" pitchFamily="34" charset="-120"/>
              </a:rPr>
              <a:t>Influencers reach very different audience sizes than students or club members</a:t>
            </a:r>
            <a:endParaRPr lang="en-US" sz="1200" dirty="0"/>
          </a:p>
          <a:p>
            <a:pPr marL="342900" indent="-342900">
              <a:lnSpc>
                <a:spcPct val="105000"/>
              </a:lnSpc>
              <a:spcAft>
                <a:spcPts val="1000"/>
              </a:spcAft>
              <a:buSzPct val="100000"/>
              <a:buChar char="▪"/>
            </a:pPr>
            <a:r>
              <a:rPr lang="en-US" sz="1200" dirty="0">
                <a:solidFill>
                  <a:srgbClr val="13233F"/>
                </a:solidFill>
                <a:latin typeface="Calibri" panose="020F0502020204030204" pitchFamily="34" charset="0"/>
                <a:ea typeface="Calibri" panose="020F0502020204030204" pitchFamily="34" charset="-122"/>
                <a:cs typeface="Calibri" panose="020F0502020204030204" pitchFamily="34" charset="-120"/>
              </a:rPr>
              <a:t>Judging influencers separately keeps the leaderboard fair for first-time student participants</a:t>
            </a:r>
            <a:endParaRPr lang="en-US" sz="1200" dirty="0"/>
          </a:p>
          <a:p>
            <a:pPr marL="342900" indent="-342900">
              <a:lnSpc>
                <a:spcPct val="105000"/>
              </a:lnSpc>
              <a:spcAft>
                <a:spcPts val="1000"/>
              </a:spcAft>
              <a:buSzPct val="100000"/>
              <a:buChar char="▪"/>
            </a:pPr>
            <a:r>
              <a:rPr lang="en-US" sz="1200" dirty="0">
                <a:solidFill>
                  <a:srgbClr val="13233F"/>
                </a:solidFill>
                <a:latin typeface="Calibri" panose="020F0502020204030204" pitchFamily="34" charset="0"/>
                <a:ea typeface="Calibri" panose="020F0502020204030204" pitchFamily="34" charset="-122"/>
                <a:cs typeface="Calibri" panose="020F0502020204030204" pitchFamily="34" charset="-120"/>
              </a:rPr>
              <a:t>Rewards genuine, high-quality awareness content from established creators</a:t>
            </a:r>
            <a:endParaRPr lang="en-US" sz="1200" dirty="0"/>
          </a:p>
        </p:txBody>
      </p:sp>
      <p:sp>
        <p:nvSpPr>
          <p:cNvPr id="20" name="Shape 18"/>
          <p:cNvSpPr/>
          <p:nvPr/>
        </p:nvSpPr>
        <p:spPr>
          <a:xfrm>
            <a:off x="6217920" y="4251960"/>
            <a:ext cx="5120640" cy="0"/>
          </a:xfrm>
          <a:prstGeom prst="line">
            <a:avLst/>
          </a:prstGeom>
          <a:noFill/>
          <a:ln w="12700">
            <a:solidFill>
              <a:srgbClr val="D6DCEA"/>
            </a:solidFill>
            <a:prstDash val="solid"/>
          </a:ln>
        </p:spPr>
      </p:sp>
      <p:sp>
        <p:nvSpPr>
          <p:cNvPr id="21" name="Text 19"/>
          <p:cNvSpPr/>
          <p:nvPr/>
        </p:nvSpPr>
        <p:spPr>
          <a:xfrm>
            <a:off x="6217920" y="4389120"/>
            <a:ext cx="5120640" cy="274320"/>
          </a:xfrm>
          <a:prstGeom prst="rect">
            <a:avLst/>
          </a:prstGeom>
          <a:noFill/>
        </p:spPr>
        <p:txBody>
          <a:bodyPr wrap="square" lIns="0" tIns="0" rIns="0" bIns="0" rtlCol="0" anchor="ctr"/>
          <a:lstStyle/>
          <a:p>
            <a:pPr marL="0" indent="0">
              <a:buNone/>
            </a:pPr>
            <a:r>
              <a:rPr lang="en-US" sz="1100" b="1" kern="0" spc="100" dirty="0">
                <a:solidFill>
                  <a:srgbClr val="0F1F3D"/>
                </a:solidFill>
                <a:latin typeface="Calibri" panose="020F0502020204030204" pitchFamily="34" charset="0"/>
                <a:ea typeface="Calibri" panose="020F0502020204030204" pitchFamily="34" charset="-122"/>
                <a:cs typeface="Calibri" panose="020F0502020204030204" pitchFamily="34" charset="-120"/>
              </a:rPr>
              <a:t>HOW INFLUENCERS ARE JUDGED</a:t>
            </a:r>
            <a:endParaRPr lang="en-US" sz="1100" dirty="0"/>
          </a:p>
        </p:txBody>
      </p:sp>
      <p:sp>
        <p:nvSpPr>
          <p:cNvPr id="22" name="Text 20"/>
          <p:cNvSpPr/>
          <p:nvPr/>
        </p:nvSpPr>
        <p:spPr>
          <a:xfrm>
            <a:off x="6217920" y="4709160"/>
            <a:ext cx="5120640" cy="1188720"/>
          </a:xfrm>
          <a:prstGeom prst="rect">
            <a:avLst/>
          </a:prstGeom>
          <a:noFill/>
        </p:spPr>
        <p:txBody>
          <a:bodyPr wrap="square" lIns="0" tIns="0" rIns="0" bIns="0" rtlCol="0" anchor="t"/>
          <a:lstStyle/>
          <a:p>
            <a:pPr marL="342900" indent="-342900">
              <a:lnSpc>
                <a:spcPct val="105000"/>
              </a:lnSpc>
              <a:spcAft>
                <a:spcPts val="8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Ranked by reach &amp; impressions, within the Influencer category only</a:t>
            </a:r>
            <a:endParaRPr lang="en-US" sz="1150" dirty="0"/>
          </a:p>
          <a:p>
            <a:pPr marL="342900" indent="-342900">
              <a:lnSpc>
                <a:spcPct val="105000"/>
              </a:lnSpc>
              <a:spcAft>
                <a:spcPts val="8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Top performers receive premium goodies (see Recognition slide)</a:t>
            </a:r>
            <a:endParaRPr lang="en-US" sz="115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PARTNER RECOGNITION</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Institute &amp; Club Recognition</a:t>
            </a:r>
            <a:endParaRPr lang="en-US" sz="3000" dirty="0"/>
          </a:p>
        </p:txBody>
      </p:sp>
      <p:sp>
        <p:nvSpPr>
          <p:cNvPr id="8" name="Shape 6"/>
          <p:cNvSpPr/>
          <p:nvPr/>
        </p:nvSpPr>
        <p:spPr>
          <a:xfrm>
            <a:off x="548640" y="1965960"/>
            <a:ext cx="2606040" cy="1920240"/>
          </a:xfrm>
          <a:prstGeom prst="roundRect">
            <a:avLst>
              <a:gd name="adj" fmla="val 3810"/>
            </a:avLst>
          </a:prstGeom>
          <a:solidFill>
            <a:srgbClr val="EAF0FA"/>
          </a:solidFill>
          <a:effectLst>
            <a:outerShdw blurRad="76200" dist="25400" dir="5400000" algn="bl" rotWithShape="0">
              <a:srgbClr val="203864">
                <a:alpha val="18000"/>
              </a:srgbClr>
            </a:outerShdw>
          </a:effectLst>
        </p:spPr>
      </p:sp>
      <p:sp>
        <p:nvSpPr>
          <p:cNvPr id="9" name="Shape 7"/>
          <p:cNvSpPr/>
          <p:nvPr/>
        </p:nvSpPr>
        <p:spPr>
          <a:xfrm>
            <a:off x="1531620" y="2194560"/>
            <a:ext cx="640080" cy="640080"/>
          </a:xfrm>
          <a:prstGeom prst="ellipse">
            <a:avLst/>
          </a:prstGeom>
          <a:solidFill>
            <a:srgbClr val="0F1F3D"/>
          </a:solidFill>
        </p:spPr>
      </p:sp>
      <p:sp>
        <p:nvSpPr>
          <p:cNvPr id="10" name="Text 8"/>
          <p:cNvSpPr/>
          <p:nvPr/>
        </p:nvSpPr>
        <p:spPr>
          <a:xfrm>
            <a:off x="1531620" y="2194560"/>
            <a:ext cx="640080" cy="640080"/>
          </a:xfrm>
          <a:prstGeom prst="rect">
            <a:avLst/>
          </a:prstGeom>
          <a:noFill/>
        </p:spPr>
        <p:txBody>
          <a:bodyPr wrap="square" lIns="0" tIns="0" rIns="0" bIns="0" rtlCol="0" anchor="ctr"/>
          <a:lstStyle/>
          <a:p>
            <a:pPr marL="0" indent="0" algn="ctr">
              <a:buNone/>
            </a:pPr>
            <a:r>
              <a:rPr lang="en-US" sz="1800" b="1" dirty="0">
                <a:solidFill>
                  <a:srgbClr val="E4C766"/>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11" name="Text 9"/>
          <p:cNvSpPr/>
          <p:nvPr/>
        </p:nvSpPr>
        <p:spPr>
          <a:xfrm>
            <a:off x="685800" y="2926080"/>
            <a:ext cx="2331720" cy="365760"/>
          </a:xfrm>
          <a:prstGeom prst="rect">
            <a:avLst/>
          </a:prstGeom>
          <a:noFill/>
        </p:spPr>
        <p:txBody>
          <a:bodyPr wrap="square" lIns="0" tIns="0" rIns="0" bIns="0" rtlCol="0" anchor="ctr"/>
          <a:lstStyle/>
          <a:p>
            <a:pPr marL="0" indent="0" algn="ctr">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Memento</a:t>
            </a:r>
            <a:endParaRPr lang="en-US" sz="1300" dirty="0"/>
          </a:p>
        </p:txBody>
      </p:sp>
      <p:sp>
        <p:nvSpPr>
          <p:cNvPr id="12" name="Text 10"/>
          <p:cNvSpPr/>
          <p:nvPr/>
        </p:nvSpPr>
        <p:spPr>
          <a:xfrm>
            <a:off x="731520" y="3291840"/>
            <a:ext cx="2240280" cy="548640"/>
          </a:xfrm>
          <a:prstGeom prst="rect">
            <a:avLst/>
          </a:prstGeom>
          <a:noFill/>
        </p:spPr>
        <p:txBody>
          <a:bodyPr wrap="square" lIns="0" tIns="0" rIns="0" bIns="0" rtlCol="0" anchor="ctr"/>
          <a:lstStyle/>
          <a:p>
            <a:pPr marL="0" indent="0" algn="ctr">
              <a:lnSpc>
                <a:spcPct val="115000"/>
              </a:lnSpc>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Presented to every participating institute</a:t>
            </a:r>
            <a:endParaRPr lang="en-US" sz="950" dirty="0"/>
          </a:p>
        </p:txBody>
      </p:sp>
      <p:sp>
        <p:nvSpPr>
          <p:cNvPr id="13" name="Shape 11"/>
          <p:cNvSpPr/>
          <p:nvPr/>
        </p:nvSpPr>
        <p:spPr>
          <a:xfrm>
            <a:off x="3337560" y="1965960"/>
            <a:ext cx="2606040" cy="1920240"/>
          </a:xfrm>
          <a:prstGeom prst="roundRect">
            <a:avLst>
              <a:gd name="adj" fmla="val 3810"/>
            </a:avLst>
          </a:prstGeom>
          <a:solidFill>
            <a:srgbClr val="EAF0FA"/>
          </a:solidFill>
          <a:effectLst>
            <a:outerShdw blurRad="76200" dist="25400" dir="5400000" algn="bl" rotWithShape="0">
              <a:srgbClr val="203864">
                <a:alpha val="18000"/>
              </a:srgbClr>
            </a:outerShdw>
          </a:effectLst>
        </p:spPr>
      </p:sp>
      <p:sp>
        <p:nvSpPr>
          <p:cNvPr id="14" name="Shape 12"/>
          <p:cNvSpPr/>
          <p:nvPr/>
        </p:nvSpPr>
        <p:spPr>
          <a:xfrm>
            <a:off x="4320540" y="2194560"/>
            <a:ext cx="640080" cy="640080"/>
          </a:xfrm>
          <a:prstGeom prst="ellipse">
            <a:avLst/>
          </a:prstGeom>
          <a:solidFill>
            <a:srgbClr val="0F1F3D"/>
          </a:solidFill>
        </p:spPr>
      </p:sp>
      <p:sp>
        <p:nvSpPr>
          <p:cNvPr id="15" name="Text 13"/>
          <p:cNvSpPr/>
          <p:nvPr/>
        </p:nvSpPr>
        <p:spPr>
          <a:xfrm>
            <a:off x="4320540" y="2194560"/>
            <a:ext cx="640080" cy="640080"/>
          </a:xfrm>
          <a:prstGeom prst="rect">
            <a:avLst/>
          </a:prstGeom>
          <a:noFill/>
        </p:spPr>
        <p:txBody>
          <a:bodyPr wrap="square" lIns="0" tIns="0" rIns="0" bIns="0" rtlCol="0" anchor="ctr"/>
          <a:lstStyle/>
          <a:p>
            <a:pPr marL="0" indent="0" algn="ctr">
              <a:buNone/>
            </a:pPr>
            <a:r>
              <a:rPr lang="en-US" sz="1800" b="1" dirty="0">
                <a:solidFill>
                  <a:srgbClr val="E4C766"/>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6" name="Text 14"/>
          <p:cNvSpPr/>
          <p:nvPr/>
        </p:nvSpPr>
        <p:spPr>
          <a:xfrm>
            <a:off x="3474720" y="2926080"/>
            <a:ext cx="2331720" cy="365760"/>
          </a:xfrm>
          <a:prstGeom prst="rect">
            <a:avLst/>
          </a:prstGeom>
          <a:noFill/>
        </p:spPr>
        <p:txBody>
          <a:bodyPr wrap="square" lIns="0" tIns="0" rIns="0" bIns="0" rtlCol="0" anchor="ctr"/>
          <a:lstStyle/>
          <a:p>
            <a:pPr marL="0" indent="0" algn="ctr">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Certificate</a:t>
            </a:r>
            <a:endParaRPr lang="en-US" sz="1300" dirty="0"/>
          </a:p>
        </p:txBody>
      </p:sp>
      <p:sp>
        <p:nvSpPr>
          <p:cNvPr id="17" name="Text 15"/>
          <p:cNvSpPr/>
          <p:nvPr/>
        </p:nvSpPr>
        <p:spPr>
          <a:xfrm>
            <a:off x="3520440" y="3291840"/>
            <a:ext cx="2240280" cy="548640"/>
          </a:xfrm>
          <a:prstGeom prst="rect">
            <a:avLst/>
          </a:prstGeom>
          <a:noFill/>
        </p:spPr>
        <p:txBody>
          <a:bodyPr wrap="square" lIns="0" tIns="0" rIns="0" bIns="0" rtlCol="0" anchor="ctr"/>
          <a:lstStyle/>
          <a:p>
            <a:pPr marL="0" indent="0" algn="ctr">
              <a:lnSpc>
                <a:spcPct val="115000"/>
              </a:lnSpc>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Awarded to every influencer and every participating club</a:t>
            </a:r>
            <a:endParaRPr lang="en-US" sz="950" dirty="0"/>
          </a:p>
        </p:txBody>
      </p:sp>
      <p:sp>
        <p:nvSpPr>
          <p:cNvPr id="18" name="Shape 16"/>
          <p:cNvSpPr/>
          <p:nvPr/>
        </p:nvSpPr>
        <p:spPr>
          <a:xfrm>
            <a:off x="6126480" y="1965960"/>
            <a:ext cx="2606040" cy="1920240"/>
          </a:xfrm>
          <a:prstGeom prst="roundRect">
            <a:avLst>
              <a:gd name="adj" fmla="val 3810"/>
            </a:avLst>
          </a:prstGeom>
          <a:solidFill>
            <a:srgbClr val="EAF0FA"/>
          </a:solidFill>
          <a:effectLst>
            <a:outerShdw blurRad="76200" dist="25400" dir="5400000" algn="bl" rotWithShape="0">
              <a:srgbClr val="203864">
                <a:alpha val="18000"/>
              </a:srgbClr>
            </a:outerShdw>
          </a:effectLst>
        </p:spPr>
      </p:sp>
      <p:sp>
        <p:nvSpPr>
          <p:cNvPr id="19" name="Shape 17"/>
          <p:cNvSpPr/>
          <p:nvPr/>
        </p:nvSpPr>
        <p:spPr>
          <a:xfrm>
            <a:off x="7109460" y="2194560"/>
            <a:ext cx="640080" cy="640080"/>
          </a:xfrm>
          <a:prstGeom prst="ellipse">
            <a:avLst/>
          </a:prstGeom>
          <a:solidFill>
            <a:srgbClr val="0F1F3D"/>
          </a:solidFill>
        </p:spPr>
      </p:sp>
      <p:sp>
        <p:nvSpPr>
          <p:cNvPr id="20" name="Text 18"/>
          <p:cNvSpPr/>
          <p:nvPr/>
        </p:nvSpPr>
        <p:spPr>
          <a:xfrm>
            <a:off x="7109460" y="2194560"/>
            <a:ext cx="640080" cy="640080"/>
          </a:xfrm>
          <a:prstGeom prst="rect">
            <a:avLst/>
          </a:prstGeom>
          <a:noFill/>
        </p:spPr>
        <p:txBody>
          <a:bodyPr wrap="square" lIns="0" tIns="0" rIns="0" bIns="0" rtlCol="0" anchor="ctr"/>
          <a:lstStyle/>
          <a:p>
            <a:pPr marL="0" indent="0" algn="ctr">
              <a:buNone/>
            </a:pPr>
            <a:r>
              <a:rPr lang="en-US" sz="1800" b="1" dirty="0">
                <a:solidFill>
                  <a:srgbClr val="E4C766"/>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21" name="Text 19"/>
          <p:cNvSpPr/>
          <p:nvPr/>
        </p:nvSpPr>
        <p:spPr>
          <a:xfrm>
            <a:off x="6263640" y="2926080"/>
            <a:ext cx="2331720" cy="365760"/>
          </a:xfrm>
          <a:prstGeom prst="rect">
            <a:avLst/>
          </a:prstGeom>
          <a:noFill/>
        </p:spPr>
        <p:txBody>
          <a:bodyPr wrap="square" lIns="0" tIns="0" rIns="0" bIns="0" rtlCol="0" anchor="ctr"/>
          <a:lstStyle/>
          <a:p>
            <a:pPr marL="0" indent="0" algn="ctr">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Display Banner</a:t>
            </a:r>
            <a:endParaRPr lang="en-US" sz="1300" dirty="0"/>
          </a:p>
        </p:txBody>
      </p:sp>
      <p:sp>
        <p:nvSpPr>
          <p:cNvPr id="22" name="Text 20"/>
          <p:cNvSpPr/>
          <p:nvPr/>
        </p:nvSpPr>
        <p:spPr>
          <a:xfrm>
            <a:off x="6309360" y="3291840"/>
            <a:ext cx="2240280" cy="548640"/>
          </a:xfrm>
          <a:prstGeom prst="rect">
            <a:avLst/>
          </a:prstGeom>
          <a:noFill/>
        </p:spPr>
        <p:txBody>
          <a:bodyPr wrap="square" lIns="0" tIns="0" rIns="0" bIns="0" rtlCol="0" anchor="ctr"/>
          <a:lstStyle/>
          <a:p>
            <a:pPr marL="0" indent="0" algn="ctr">
              <a:lnSpc>
                <a:spcPct val="115000"/>
              </a:lnSpc>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Provided to each club for display outside their office</a:t>
            </a:r>
            <a:endParaRPr lang="en-US" sz="950" dirty="0"/>
          </a:p>
        </p:txBody>
      </p:sp>
      <p:sp>
        <p:nvSpPr>
          <p:cNvPr id="23" name="Shape 21"/>
          <p:cNvSpPr/>
          <p:nvPr/>
        </p:nvSpPr>
        <p:spPr>
          <a:xfrm>
            <a:off x="8915400" y="1965960"/>
            <a:ext cx="2606040" cy="1920240"/>
          </a:xfrm>
          <a:prstGeom prst="roundRect">
            <a:avLst>
              <a:gd name="adj" fmla="val 3810"/>
            </a:avLst>
          </a:prstGeom>
          <a:solidFill>
            <a:srgbClr val="EAF0FA"/>
          </a:solidFill>
          <a:effectLst>
            <a:outerShdw blurRad="76200" dist="25400" dir="5400000" algn="bl" rotWithShape="0">
              <a:srgbClr val="203864">
                <a:alpha val="18000"/>
              </a:srgbClr>
            </a:outerShdw>
          </a:effectLst>
        </p:spPr>
      </p:sp>
      <p:sp>
        <p:nvSpPr>
          <p:cNvPr id="24" name="Shape 22"/>
          <p:cNvSpPr/>
          <p:nvPr/>
        </p:nvSpPr>
        <p:spPr>
          <a:xfrm>
            <a:off x="9898380" y="2194560"/>
            <a:ext cx="640080" cy="640080"/>
          </a:xfrm>
          <a:prstGeom prst="ellipse">
            <a:avLst/>
          </a:prstGeom>
          <a:solidFill>
            <a:srgbClr val="0F1F3D"/>
          </a:solidFill>
        </p:spPr>
      </p:sp>
      <p:sp>
        <p:nvSpPr>
          <p:cNvPr id="25" name="Text 23"/>
          <p:cNvSpPr/>
          <p:nvPr/>
        </p:nvSpPr>
        <p:spPr>
          <a:xfrm>
            <a:off x="9898380" y="2194560"/>
            <a:ext cx="640080" cy="640080"/>
          </a:xfrm>
          <a:prstGeom prst="rect">
            <a:avLst/>
          </a:prstGeom>
          <a:noFill/>
        </p:spPr>
        <p:txBody>
          <a:bodyPr wrap="square" lIns="0" tIns="0" rIns="0" bIns="0" rtlCol="0" anchor="ctr"/>
          <a:lstStyle/>
          <a:p>
            <a:pPr marL="0" indent="0" algn="ctr">
              <a:buNone/>
            </a:pPr>
            <a:r>
              <a:rPr lang="en-US" sz="1800" b="1" dirty="0">
                <a:solidFill>
                  <a:srgbClr val="E4C766"/>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6" name="Text 24"/>
          <p:cNvSpPr/>
          <p:nvPr/>
        </p:nvSpPr>
        <p:spPr>
          <a:xfrm>
            <a:off x="9052560" y="2926080"/>
            <a:ext cx="2331720" cy="365760"/>
          </a:xfrm>
          <a:prstGeom prst="rect">
            <a:avLst/>
          </a:prstGeom>
          <a:noFill/>
        </p:spPr>
        <p:txBody>
          <a:bodyPr wrap="square" lIns="0" tIns="0" rIns="0" bIns="0" rtlCol="0" anchor="ctr"/>
          <a:lstStyle/>
          <a:p>
            <a:pPr marL="0" indent="0" algn="ctr">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Awareness Posters</a:t>
            </a:r>
            <a:endParaRPr lang="en-US" sz="1300" dirty="0"/>
          </a:p>
        </p:txBody>
      </p:sp>
      <p:sp>
        <p:nvSpPr>
          <p:cNvPr id="27" name="Text 25"/>
          <p:cNvSpPr/>
          <p:nvPr/>
        </p:nvSpPr>
        <p:spPr>
          <a:xfrm>
            <a:off x="9098280" y="3291840"/>
            <a:ext cx="2240280" cy="548640"/>
          </a:xfrm>
          <a:prstGeom prst="rect">
            <a:avLst/>
          </a:prstGeom>
          <a:noFill/>
        </p:spPr>
        <p:txBody>
          <a:bodyPr wrap="square" lIns="0" tIns="0" rIns="0" bIns="0" rtlCol="0" anchor="ctr"/>
          <a:lstStyle/>
          <a:p>
            <a:pPr marL="0" indent="0" algn="ctr">
              <a:lnSpc>
                <a:spcPct val="115000"/>
              </a:lnSpc>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5 posters provided to each club member for local distribution</a:t>
            </a:r>
            <a:endParaRPr lang="en-US" sz="950" dirty="0"/>
          </a:p>
        </p:txBody>
      </p:sp>
      <p:sp>
        <p:nvSpPr>
          <p:cNvPr id="28" name="Shape 26"/>
          <p:cNvSpPr/>
          <p:nvPr/>
        </p:nvSpPr>
        <p:spPr>
          <a:xfrm>
            <a:off x="548640" y="4160520"/>
            <a:ext cx="5394960" cy="1920240"/>
          </a:xfrm>
          <a:prstGeom prst="roundRect">
            <a:avLst>
              <a:gd name="adj" fmla="val 3810"/>
            </a:avLst>
          </a:prstGeom>
          <a:solidFill>
            <a:srgbClr val="0F1F3D"/>
          </a:solidFill>
          <a:effectLst>
            <a:outerShdw blurRad="76200" dist="25400" dir="5400000" algn="bl" rotWithShape="0">
              <a:srgbClr val="203864">
                <a:alpha val="18000"/>
              </a:srgbClr>
            </a:outerShdw>
          </a:effectLst>
        </p:spPr>
      </p:sp>
      <p:sp>
        <p:nvSpPr>
          <p:cNvPr id="29" name="Text 27"/>
          <p:cNvSpPr/>
          <p:nvPr/>
        </p:nvSpPr>
        <p:spPr>
          <a:xfrm>
            <a:off x="822960" y="4343400"/>
            <a:ext cx="4846320" cy="274320"/>
          </a:xfrm>
          <a:prstGeom prst="rect">
            <a:avLst/>
          </a:prstGeom>
          <a:noFill/>
        </p:spPr>
        <p:txBody>
          <a:bodyPr wrap="square" lIns="0" tIns="0" rIns="0" bIns="0" rtlCol="0" anchor="ctr"/>
          <a:lstStyle/>
          <a:p>
            <a:pPr marL="0" indent="0">
              <a:buNone/>
            </a:pPr>
            <a:r>
              <a:rPr lang="en-US" sz="1100" b="1" kern="0" spc="150" dirty="0">
                <a:solidFill>
                  <a:srgbClr val="E4C766"/>
                </a:solidFill>
                <a:latin typeface="Calibri" panose="020F0502020204030204" pitchFamily="34" charset="0"/>
                <a:ea typeface="Calibri" panose="020F0502020204030204" pitchFamily="34" charset="-122"/>
                <a:cs typeface="Calibri" panose="020F0502020204030204" pitchFamily="34" charset="-120"/>
              </a:rPr>
              <a:t>CLUB CONTRIBUTION</a:t>
            </a:r>
            <a:endParaRPr lang="en-US" sz="1100" dirty="0"/>
          </a:p>
        </p:txBody>
      </p:sp>
      <p:sp>
        <p:nvSpPr>
          <p:cNvPr id="30" name="Text 28"/>
          <p:cNvSpPr/>
          <p:nvPr/>
        </p:nvSpPr>
        <p:spPr>
          <a:xfrm>
            <a:off x="822960" y="4617720"/>
            <a:ext cx="4846320" cy="685800"/>
          </a:xfrm>
          <a:prstGeom prst="rect">
            <a:avLst/>
          </a:prstGeom>
          <a:noFill/>
        </p:spPr>
        <p:txBody>
          <a:bodyPr wrap="square" lIns="0" tIns="0" rIns="0" bIns="0" rtlCol="0" anchor="ctr"/>
          <a:lstStyle/>
          <a:p>
            <a:pPr marL="0" indent="0">
              <a:buNone/>
            </a:pPr>
            <a:r>
              <a:rPr lang="en-US" sz="3400" b="1" dirty="0">
                <a:solidFill>
                  <a:srgbClr val="FFFFFF"/>
                </a:solidFill>
                <a:latin typeface="Georgia" panose="02040502050405020303" pitchFamily="34" charset="0"/>
                <a:ea typeface="Georgia" panose="02040502050405020303" pitchFamily="34" charset="-122"/>
                <a:cs typeface="Georgia" panose="02040502050405020303" pitchFamily="34" charset="-120"/>
              </a:rPr>
              <a:t>₹11,000</a:t>
            </a:r>
            <a:endParaRPr lang="en-US" sz="3400" dirty="0"/>
          </a:p>
        </p:txBody>
      </p:sp>
      <p:sp>
        <p:nvSpPr>
          <p:cNvPr id="31" name="Text 29"/>
          <p:cNvSpPr/>
          <p:nvPr/>
        </p:nvSpPr>
        <p:spPr>
          <a:xfrm>
            <a:off x="822960" y="5303520"/>
            <a:ext cx="4846320" cy="731520"/>
          </a:xfrm>
          <a:prstGeom prst="rect">
            <a:avLst/>
          </a:prstGeom>
          <a:noFill/>
        </p:spPr>
        <p:txBody>
          <a:bodyPr wrap="square" lIns="0" tIns="0" rIns="0" bIns="0" rtlCol="0" anchor="ctr"/>
          <a:lstStyle/>
          <a:p>
            <a:pPr marL="0" indent="0">
              <a:lnSpc>
                <a:spcPct val="120000"/>
              </a:lnSpc>
              <a:buNone/>
            </a:pPr>
            <a:r>
              <a:rPr lang="en-US" sz="1050" dirty="0">
                <a:solidFill>
                  <a:srgbClr val="C7D2E6"/>
                </a:solidFill>
                <a:latin typeface="Calibri" panose="020F0502020204030204" pitchFamily="34" charset="0"/>
                <a:ea typeface="Calibri" panose="020F0502020204030204" pitchFamily="34" charset="-122"/>
                <a:cs typeface="Calibri" panose="020F0502020204030204" pitchFamily="34" charset="-120"/>
              </a:rPr>
              <a:t>requested contribution from each participating club, toward mementos, banners, posters &amp; certificates</a:t>
            </a:r>
            <a:endParaRPr lang="en-US" sz="1050" dirty="0"/>
          </a:p>
        </p:txBody>
      </p:sp>
      <p:sp>
        <p:nvSpPr>
          <p:cNvPr id="32" name="Shape 30"/>
          <p:cNvSpPr/>
          <p:nvPr/>
        </p:nvSpPr>
        <p:spPr>
          <a:xfrm>
            <a:off x="6217920" y="4160520"/>
            <a:ext cx="5212080" cy="1920240"/>
          </a:xfrm>
          <a:prstGeom prst="roundRect">
            <a:avLst>
              <a:gd name="adj" fmla="val 3810"/>
            </a:avLst>
          </a:prstGeom>
          <a:solidFill>
            <a:srgbClr val="FCEFD8"/>
          </a:solidFill>
        </p:spPr>
      </p:sp>
      <p:sp>
        <p:nvSpPr>
          <p:cNvPr id="33" name="Text 31"/>
          <p:cNvSpPr/>
          <p:nvPr/>
        </p:nvSpPr>
        <p:spPr>
          <a:xfrm>
            <a:off x="6492240" y="4343400"/>
            <a:ext cx="4663440" cy="274320"/>
          </a:xfrm>
          <a:prstGeom prst="rect">
            <a:avLst/>
          </a:prstGeom>
          <a:noFill/>
        </p:spPr>
        <p:txBody>
          <a:bodyPr wrap="square" lIns="0" tIns="0" rIns="0" bIns="0" rtlCol="0" anchor="ctr"/>
          <a:lstStyle/>
          <a:p>
            <a:pPr marL="0" indent="0">
              <a:buNone/>
            </a:pPr>
            <a:r>
              <a:rPr lang="en-US" sz="1100" b="1" kern="0" spc="150" dirty="0">
                <a:solidFill>
                  <a:srgbClr val="C9A227"/>
                </a:solidFill>
                <a:latin typeface="Calibri" panose="020F0502020204030204" pitchFamily="34" charset="0"/>
                <a:ea typeface="Calibri" panose="020F0502020204030204" pitchFamily="34" charset="-122"/>
                <a:cs typeface="Calibri" panose="020F0502020204030204" pitchFamily="34" charset="-120"/>
              </a:rPr>
              <a:t>TARGET REACH</a:t>
            </a:r>
            <a:endParaRPr lang="en-US" sz="1100" dirty="0"/>
          </a:p>
        </p:txBody>
      </p:sp>
      <p:sp>
        <p:nvSpPr>
          <p:cNvPr id="34" name="Text 32"/>
          <p:cNvSpPr/>
          <p:nvPr/>
        </p:nvSpPr>
        <p:spPr>
          <a:xfrm>
            <a:off x="6492240" y="4617720"/>
            <a:ext cx="4663440" cy="685800"/>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19–20 clubs</a:t>
            </a:r>
            <a:endParaRPr lang="en-US" sz="3000" dirty="0"/>
          </a:p>
        </p:txBody>
      </p:sp>
      <p:sp>
        <p:nvSpPr>
          <p:cNvPr id="35" name="Text 33"/>
          <p:cNvSpPr/>
          <p:nvPr/>
        </p:nvSpPr>
        <p:spPr>
          <a:xfrm>
            <a:off x="6492240" y="5303520"/>
            <a:ext cx="4663440" cy="548640"/>
          </a:xfrm>
          <a:prstGeom prst="rect">
            <a:avLst/>
          </a:prstGeom>
          <a:noFill/>
        </p:spPr>
        <p:txBody>
          <a:bodyPr wrap="square" lIns="0" tIns="0" rIns="0" bIns="0" rtlCol="0" anchor="ctr"/>
          <a:lstStyle/>
          <a:p>
            <a:pPr marL="0" indent="0">
              <a:lnSpc>
                <a:spcPct val="120000"/>
              </a:lnSpc>
              <a:buNone/>
            </a:pPr>
            <a:r>
              <a:rPr lang="en-US" sz="1050" dirty="0">
                <a:solidFill>
                  <a:srgbClr val="13233F"/>
                </a:solidFill>
                <a:latin typeface="Calibri" panose="020F0502020204030204" pitchFamily="34" charset="0"/>
                <a:ea typeface="Calibri" panose="020F0502020204030204" pitchFamily="34" charset="-122"/>
                <a:cs typeface="Calibri" panose="020F0502020204030204" pitchFamily="34" charset="-120"/>
              </a:rPr>
              <a:t>targeted for partnership across Gorakhpur</a:t>
            </a:r>
            <a:endParaRPr lang="en-US" sz="1050" dirty="0"/>
          </a:p>
        </p:txBody>
      </p:sp>
      <p:sp>
        <p:nvSpPr>
          <p:cNvPr id="36"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7"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8"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9" name="Picture 38" descr="hppchri"/>
          <p:cNvPicPr>
            <a:picLocks noChangeAspect="1"/>
          </p:cNvPicPr>
          <p:nvPr/>
        </p:nvPicPr>
        <p:blipFill>
          <a:blip r:embed="rId1"/>
          <a:stretch>
            <a:fillRect/>
          </a:stretch>
        </p:blipFill>
        <p:spPr>
          <a:xfrm>
            <a:off x="210185" y="100965"/>
            <a:ext cx="695325" cy="695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SELECTION &amp; RECOGNITION MODEL</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Recognizing Excellence: The Top 1% Model</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250" i="1" dirty="0">
                <a:solidFill>
                  <a:srgbClr val="5B6B85"/>
                </a:solidFill>
                <a:latin typeface="Calibri" panose="020F0502020204030204" pitchFamily="34" charset="0"/>
                <a:ea typeface="Calibri" panose="020F0502020204030204" pitchFamily="34" charset="-122"/>
                <a:cs typeface="Calibri" panose="020F0502020204030204" pitchFamily="34" charset="-120"/>
              </a:rPr>
              <a:t>Achievers are identified from our reach estimates, then rewarded across four tiers of recognition.</a:t>
            </a:r>
            <a:endParaRPr lang="en-US" sz="1250" dirty="0"/>
          </a:p>
        </p:txBody>
      </p:sp>
      <p:sp>
        <p:nvSpPr>
          <p:cNvPr id="9" name="Shape 7"/>
          <p:cNvSpPr/>
          <p:nvPr/>
        </p:nvSpPr>
        <p:spPr>
          <a:xfrm>
            <a:off x="548640" y="228600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10" name="Shape 8"/>
          <p:cNvSpPr/>
          <p:nvPr/>
        </p:nvSpPr>
        <p:spPr>
          <a:xfrm>
            <a:off x="777240" y="2514600"/>
            <a:ext cx="384048" cy="384048"/>
          </a:xfrm>
          <a:prstGeom prst="ellipse">
            <a:avLst/>
          </a:prstGeom>
          <a:solidFill>
            <a:srgbClr val="C9A227"/>
          </a:solidFill>
        </p:spPr>
      </p:sp>
      <p:sp>
        <p:nvSpPr>
          <p:cNvPr id="11" name="Text 9"/>
          <p:cNvSpPr/>
          <p:nvPr/>
        </p:nvSpPr>
        <p:spPr>
          <a:xfrm>
            <a:off x="777240" y="251460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10" dirty="0"/>
          </a:p>
        </p:txBody>
      </p:sp>
      <p:sp>
        <p:nvSpPr>
          <p:cNvPr id="12" name="Text 10"/>
          <p:cNvSpPr/>
          <p:nvPr/>
        </p:nvSpPr>
        <p:spPr>
          <a:xfrm>
            <a:off x="731520" y="3063240"/>
            <a:ext cx="2240280" cy="548640"/>
          </a:xfrm>
          <a:prstGeom prst="rect">
            <a:avLst/>
          </a:prstGeom>
          <a:noFill/>
        </p:spPr>
        <p:txBody>
          <a:bodyPr wrap="square" lIns="0" tIns="0" rIns="0" bIns="0" rtlCol="0" anchor="ctr"/>
          <a:lstStyle/>
          <a:p>
            <a:pPr marL="0" indent="0">
              <a:lnSpc>
                <a:spcPct val="110000"/>
              </a:lnSpc>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College Achievers</a:t>
            </a:r>
            <a:endParaRPr lang="en-US" sz="1300" dirty="0"/>
          </a:p>
        </p:txBody>
      </p:sp>
      <p:sp>
        <p:nvSpPr>
          <p:cNvPr id="13" name="Text 11"/>
          <p:cNvSpPr/>
          <p:nvPr/>
        </p:nvSpPr>
        <p:spPr>
          <a:xfrm>
            <a:off x="731520" y="3611880"/>
            <a:ext cx="2240280" cy="457200"/>
          </a:xfrm>
          <a:prstGeom prst="rect">
            <a:avLst/>
          </a:prstGeom>
          <a:noFill/>
        </p:spPr>
        <p:txBody>
          <a:bodyPr wrap="square" lIns="0" tIns="0" rIns="0" bIns="0" rtlCol="0" anchor="ctr"/>
          <a:lstStyle/>
          <a:p>
            <a:pPr marL="0" indent="0">
              <a:buNone/>
            </a:pPr>
            <a:r>
              <a:rPr lang="en-US" sz="1600" b="1" dirty="0">
                <a:solidFill>
                  <a:srgbClr val="D6336C"/>
                </a:solidFill>
                <a:latin typeface="Georgia" panose="02040502050405020303" pitchFamily="34" charset="0"/>
                <a:ea typeface="Georgia" panose="02040502050405020303" pitchFamily="34" charset="-122"/>
                <a:cs typeface="Georgia" panose="02040502050405020303" pitchFamily="34" charset="-120"/>
              </a:rPr>
              <a:t>1,800 students</a:t>
            </a:r>
            <a:endParaRPr lang="en-US" sz="1600" dirty="0"/>
          </a:p>
        </p:txBody>
      </p:sp>
      <p:sp>
        <p:nvSpPr>
          <p:cNvPr id="14" name="Text 12"/>
          <p:cNvSpPr/>
          <p:nvPr/>
        </p:nvSpPr>
        <p:spPr>
          <a:xfrm>
            <a:off x="731520" y="4069080"/>
            <a:ext cx="2240280" cy="100584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Top 1% of the 180,000 students reached receive recognition goodies</a:t>
            </a:r>
            <a:endParaRPr lang="en-US" sz="900" dirty="0"/>
          </a:p>
        </p:txBody>
      </p:sp>
      <p:sp>
        <p:nvSpPr>
          <p:cNvPr id="15" name="Shape 13"/>
          <p:cNvSpPr/>
          <p:nvPr/>
        </p:nvSpPr>
        <p:spPr>
          <a:xfrm>
            <a:off x="3337560" y="228600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16" name="Shape 14"/>
          <p:cNvSpPr/>
          <p:nvPr/>
        </p:nvSpPr>
        <p:spPr>
          <a:xfrm>
            <a:off x="3566160" y="2514600"/>
            <a:ext cx="384048" cy="384048"/>
          </a:xfrm>
          <a:prstGeom prst="ellipse">
            <a:avLst/>
          </a:prstGeom>
          <a:solidFill>
            <a:srgbClr val="C9A227"/>
          </a:solidFill>
        </p:spPr>
      </p:sp>
      <p:sp>
        <p:nvSpPr>
          <p:cNvPr id="17" name="Text 15"/>
          <p:cNvSpPr/>
          <p:nvPr/>
        </p:nvSpPr>
        <p:spPr>
          <a:xfrm>
            <a:off x="3566160" y="251460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10" dirty="0"/>
          </a:p>
        </p:txBody>
      </p:sp>
      <p:sp>
        <p:nvSpPr>
          <p:cNvPr id="18" name="Text 16"/>
          <p:cNvSpPr/>
          <p:nvPr/>
        </p:nvSpPr>
        <p:spPr>
          <a:xfrm>
            <a:off x="3520440" y="3063240"/>
            <a:ext cx="2240280" cy="548640"/>
          </a:xfrm>
          <a:prstGeom prst="rect">
            <a:avLst/>
          </a:prstGeom>
          <a:noFill/>
        </p:spPr>
        <p:txBody>
          <a:bodyPr wrap="square" lIns="0" tIns="0" rIns="0" bIns="0" rtlCol="0" anchor="ctr"/>
          <a:lstStyle/>
          <a:p>
            <a:pPr marL="0" indent="0">
              <a:lnSpc>
                <a:spcPct val="110000"/>
              </a:lnSpc>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Student Achievers</a:t>
            </a:r>
            <a:endParaRPr lang="en-US" sz="1300" dirty="0"/>
          </a:p>
        </p:txBody>
      </p:sp>
      <p:sp>
        <p:nvSpPr>
          <p:cNvPr id="19" name="Text 17"/>
          <p:cNvSpPr/>
          <p:nvPr/>
        </p:nvSpPr>
        <p:spPr>
          <a:xfrm>
            <a:off x="3520440" y="3611880"/>
            <a:ext cx="2240280" cy="457200"/>
          </a:xfrm>
          <a:prstGeom prst="rect">
            <a:avLst/>
          </a:prstGeom>
          <a:noFill/>
        </p:spPr>
        <p:txBody>
          <a:bodyPr wrap="square" lIns="0" tIns="0" rIns="0" bIns="0" rtlCol="0" anchor="ctr"/>
          <a:lstStyle/>
          <a:p>
            <a:pPr marL="0" indent="0">
              <a:buNone/>
            </a:pPr>
            <a:r>
              <a:rPr lang="en-US" sz="1600" b="1" dirty="0">
                <a:solidFill>
                  <a:srgbClr val="D6336C"/>
                </a:solidFill>
                <a:latin typeface="Georgia" panose="02040502050405020303" pitchFamily="34" charset="0"/>
                <a:ea typeface="Georgia" panose="02040502050405020303" pitchFamily="34" charset="-122"/>
                <a:cs typeface="Georgia" panose="02040502050405020303" pitchFamily="34" charset="-120"/>
              </a:rPr>
              <a:t>1,500 students</a:t>
            </a:r>
            <a:endParaRPr lang="en-US" sz="1600" dirty="0"/>
          </a:p>
        </p:txBody>
      </p:sp>
      <p:sp>
        <p:nvSpPr>
          <p:cNvPr id="20" name="Text 18"/>
          <p:cNvSpPr/>
          <p:nvPr/>
        </p:nvSpPr>
        <p:spPr>
          <a:xfrm>
            <a:off x="3520440" y="4069080"/>
            <a:ext cx="2240280" cy="100584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Top 1% of the 150,000 students reached receive recognition goodies</a:t>
            </a:r>
            <a:endParaRPr lang="en-US" sz="900" dirty="0"/>
          </a:p>
        </p:txBody>
      </p:sp>
      <p:sp>
        <p:nvSpPr>
          <p:cNvPr id="21" name="Shape 19"/>
          <p:cNvSpPr/>
          <p:nvPr/>
        </p:nvSpPr>
        <p:spPr>
          <a:xfrm>
            <a:off x="6126480" y="228600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22" name="Shape 20"/>
          <p:cNvSpPr/>
          <p:nvPr/>
        </p:nvSpPr>
        <p:spPr>
          <a:xfrm>
            <a:off x="6355080" y="2514600"/>
            <a:ext cx="384048" cy="384048"/>
          </a:xfrm>
          <a:prstGeom prst="ellipse">
            <a:avLst/>
          </a:prstGeom>
          <a:solidFill>
            <a:srgbClr val="C9A227"/>
          </a:solidFill>
        </p:spPr>
      </p:sp>
      <p:sp>
        <p:nvSpPr>
          <p:cNvPr id="23" name="Text 21"/>
          <p:cNvSpPr/>
          <p:nvPr/>
        </p:nvSpPr>
        <p:spPr>
          <a:xfrm>
            <a:off x="6355080" y="251460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10" dirty="0"/>
          </a:p>
        </p:txBody>
      </p:sp>
      <p:sp>
        <p:nvSpPr>
          <p:cNvPr id="24" name="Text 22"/>
          <p:cNvSpPr/>
          <p:nvPr/>
        </p:nvSpPr>
        <p:spPr>
          <a:xfrm>
            <a:off x="6309360" y="3063240"/>
            <a:ext cx="2240280" cy="548640"/>
          </a:xfrm>
          <a:prstGeom prst="rect">
            <a:avLst/>
          </a:prstGeom>
          <a:noFill/>
        </p:spPr>
        <p:txBody>
          <a:bodyPr wrap="square" lIns="0" tIns="0" rIns="0" bIns="0" rtlCol="0" anchor="ctr"/>
          <a:lstStyle/>
          <a:p>
            <a:pPr marL="0" indent="0">
              <a:lnSpc>
                <a:spcPct val="110000"/>
              </a:lnSpc>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Influencer Achievers</a:t>
            </a:r>
            <a:endParaRPr lang="en-US" sz="1300" dirty="0"/>
          </a:p>
        </p:txBody>
      </p:sp>
      <p:sp>
        <p:nvSpPr>
          <p:cNvPr id="25" name="Text 23"/>
          <p:cNvSpPr/>
          <p:nvPr/>
        </p:nvSpPr>
        <p:spPr>
          <a:xfrm>
            <a:off x="6309360" y="3611880"/>
            <a:ext cx="2240280" cy="457200"/>
          </a:xfrm>
          <a:prstGeom prst="rect">
            <a:avLst/>
          </a:prstGeom>
          <a:noFill/>
        </p:spPr>
        <p:txBody>
          <a:bodyPr wrap="square" lIns="0" tIns="0" rIns="0" bIns="0" rtlCol="0" anchor="ctr"/>
          <a:lstStyle/>
          <a:p>
            <a:pPr marL="0" indent="0">
              <a:buNone/>
            </a:pPr>
            <a:r>
              <a:rPr lang="en-US" sz="1600" b="1" dirty="0">
                <a:solidFill>
                  <a:srgbClr val="D6336C"/>
                </a:solidFill>
                <a:latin typeface="Georgia" panose="02040502050405020303" pitchFamily="34" charset="0"/>
                <a:ea typeface="Georgia" panose="02040502050405020303" pitchFamily="34" charset="-122"/>
                <a:cs typeface="Georgia" panose="02040502050405020303" pitchFamily="34" charset="-120"/>
              </a:rPr>
              <a:t>5 influencers</a:t>
            </a:r>
            <a:endParaRPr lang="en-US" sz="1600" dirty="0"/>
          </a:p>
        </p:txBody>
      </p:sp>
      <p:sp>
        <p:nvSpPr>
          <p:cNvPr id="26" name="Text 24"/>
          <p:cNvSpPr/>
          <p:nvPr/>
        </p:nvSpPr>
        <p:spPr>
          <a:xfrm>
            <a:off x="6309360" y="4069080"/>
            <a:ext cx="2240280" cy="100584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Highest-performing participating influencers receive premium goodies</a:t>
            </a:r>
            <a:endParaRPr lang="en-US" sz="900" dirty="0"/>
          </a:p>
        </p:txBody>
      </p:sp>
      <p:sp>
        <p:nvSpPr>
          <p:cNvPr id="27" name="Shape 25"/>
          <p:cNvSpPr/>
          <p:nvPr/>
        </p:nvSpPr>
        <p:spPr>
          <a:xfrm>
            <a:off x="8915400" y="2286000"/>
            <a:ext cx="2606040" cy="2834640"/>
          </a:xfrm>
          <a:prstGeom prst="roundRect">
            <a:avLst>
              <a:gd name="adj" fmla="val 2807"/>
            </a:avLst>
          </a:prstGeom>
          <a:solidFill>
            <a:srgbClr val="EAF0FA"/>
          </a:solidFill>
          <a:effectLst>
            <a:outerShdw blurRad="76200" dist="25400" dir="5400000" algn="bl" rotWithShape="0">
              <a:srgbClr val="203864">
                <a:alpha val="18000"/>
              </a:srgbClr>
            </a:outerShdw>
          </a:effectLst>
        </p:spPr>
      </p:sp>
      <p:sp>
        <p:nvSpPr>
          <p:cNvPr id="28" name="Shape 26"/>
          <p:cNvSpPr/>
          <p:nvPr/>
        </p:nvSpPr>
        <p:spPr>
          <a:xfrm>
            <a:off x="9144000" y="2514600"/>
            <a:ext cx="384048" cy="384048"/>
          </a:xfrm>
          <a:prstGeom prst="ellipse">
            <a:avLst/>
          </a:prstGeom>
          <a:solidFill>
            <a:srgbClr val="C9A227"/>
          </a:solidFill>
        </p:spPr>
      </p:sp>
      <p:sp>
        <p:nvSpPr>
          <p:cNvPr id="29" name="Text 27"/>
          <p:cNvSpPr/>
          <p:nvPr/>
        </p:nvSpPr>
        <p:spPr>
          <a:xfrm>
            <a:off x="9144000" y="2514600"/>
            <a:ext cx="384048" cy="384048"/>
          </a:xfrm>
          <a:prstGeom prst="rect">
            <a:avLst/>
          </a:prstGeom>
          <a:noFill/>
        </p:spPr>
        <p:txBody>
          <a:bodyPr wrap="square" lIns="0" tIns="0" rIns="0" bIns="0" rtlCol="0" anchor="ctr"/>
          <a:lstStyle/>
          <a:p>
            <a:pPr marL="0" indent="0" algn="ctr">
              <a:buNone/>
            </a:pPr>
            <a:r>
              <a:rPr lang="en-US" sz="101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10" dirty="0"/>
          </a:p>
        </p:txBody>
      </p:sp>
      <p:sp>
        <p:nvSpPr>
          <p:cNvPr id="30" name="Text 28"/>
          <p:cNvSpPr/>
          <p:nvPr/>
        </p:nvSpPr>
        <p:spPr>
          <a:xfrm>
            <a:off x="9098280" y="3063240"/>
            <a:ext cx="2240280" cy="548640"/>
          </a:xfrm>
          <a:prstGeom prst="rect">
            <a:avLst/>
          </a:prstGeom>
          <a:noFill/>
        </p:spPr>
        <p:txBody>
          <a:bodyPr wrap="square" lIns="0" tIns="0" rIns="0" bIns="0" rtlCol="0" anchor="ctr"/>
          <a:lstStyle/>
          <a:p>
            <a:pPr marL="0" indent="0">
              <a:lnSpc>
                <a:spcPct val="110000"/>
              </a:lnSpc>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Grand Prize Winners</a:t>
            </a:r>
            <a:endParaRPr lang="en-US" sz="1300" dirty="0"/>
          </a:p>
        </p:txBody>
      </p:sp>
      <p:sp>
        <p:nvSpPr>
          <p:cNvPr id="31" name="Text 29"/>
          <p:cNvSpPr/>
          <p:nvPr/>
        </p:nvSpPr>
        <p:spPr>
          <a:xfrm>
            <a:off x="9098280" y="3611880"/>
            <a:ext cx="2240280" cy="457200"/>
          </a:xfrm>
          <a:prstGeom prst="rect">
            <a:avLst/>
          </a:prstGeom>
          <a:noFill/>
        </p:spPr>
        <p:txBody>
          <a:bodyPr wrap="square" lIns="0" tIns="0" rIns="0" bIns="0" rtlCol="0" anchor="ctr"/>
          <a:lstStyle/>
          <a:p>
            <a:pPr marL="0" indent="0">
              <a:buNone/>
            </a:pPr>
            <a:r>
              <a:rPr lang="en-US" sz="1600" b="1" dirty="0">
                <a:solidFill>
                  <a:srgbClr val="D6336C"/>
                </a:solidFill>
                <a:latin typeface="Georgia" panose="02040502050405020303" pitchFamily="34" charset="0"/>
                <a:ea typeface="Georgia" panose="02040502050405020303" pitchFamily="34" charset="-122"/>
                <a:cs typeface="Georgia" panose="02040502050405020303" pitchFamily="34" charset="-120"/>
              </a:rPr>
              <a:t>3 champions</a:t>
            </a:r>
            <a:endParaRPr lang="en-US" sz="1600" dirty="0"/>
          </a:p>
        </p:txBody>
      </p:sp>
      <p:sp>
        <p:nvSpPr>
          <p:cNvPr id="32" name="Text 30"/>
          <p:cNvSpPr/>
          <p:nvPr/>
        </p:nvSpPr>
        <p:spPr>
          <a:xfrm>
            <a:off x="9098280" y="4069080"/>
            <a:ext cx="2240280" cy="1005840"/>
          </a:xfrm>
          <a:prstGeom prst="rect">
            <a:avLst/>
          </a:prstGeom>
          <a:noFill/>
        </p:spPr>
        <p:txBody>
          <a:bodyPr wrap="square" lIns="0" tIns="0" rIns="0" bIns="0" rtlCol="0" anchor="ctr"/>
          <a:lstStyle/>
          <a:p>
            <a:pPr marL="0" indent="0">
              <a:lnSpc>
                <a:spcPct val="115000"/>
              </a:lnSpc>
              <a:buNone/>
            </a:pPr>
            <a:r>
              <a:rPr lang="en-US" sz="900" dirty="0">
                <a:solidFill>
                  <a:srgbClr val="5B6B85"/>
                </a:solidFill>
                <a:latin typeface="Calibri" panose="020F0502020204030204" pitchFamily="34" charset="0"/>
                <a:ea typeface="Calibri" panose="020F0502020204030204" pitchFamily="34" charset="-122"/>
                <a:cs typeface="Calibri" panose="020F0502020204030204" pitchFamily="34" charset="-120"/>
              </a:rPr>
              <a:t>Overall Awareness Champions take home the Laptop, Tablet &amp; Smartwatch</a:t>
            </a:r>
            <a:endParaRPr lang="en-US" sz="900" dirty="0"/>
          </a:p>
        </p:txBody>
      </p:sp>
      <p:sp>
        <p:nvSpPr>
          <p:cNvPr id="33" name="Shape 31"/>
          <p:cNvSpPr/>
          <p:nvPr/>
        </p:nvSpPr>
        <p:spPr>
          <a:xfrm>
            <a:off x="548640" y="5394960"/>
            <a:ext cx="11064240" cy="1005840"/>
          </a:xfrm>
          <a:prstGeom prst="roundRect">
            <a:avLst>
              <a:gd name="adj" fmla="val 7273"/>
            </a:avLst>
          </a:prstGeom>
          <a:solidFill>
            <a:srgbClr val="FCEFD8"/>
          </a:solidFill>
        </p:spPr>
      </p:sp>
      <p:sp>
        <p:nvSpPr>
          <p:cNvPr id="34" name="Text 32"/>
          <p:cNvSpPr/>
          <p:nvPr/>
        </p:nvSpPr>
        <p:spPr>
          <a:xfrm>
            <a:off x="822960" y="5394960"/>
            <a:ext cx="10515600" cy="1005840"/>
          </a:xfrm>
          <a:prstGeom prst="rect">
            <a:avLst/>
          </a:prstGeom>
          <a:noFill/>
        </p:spPr>
        <p:txBody>
          <a:bodyPr wrap="square" lIns="0" tIns="0" rIns="0" bIns="0" rtlCol="0" anchor="ctr"/>
          <a:lstStyle/>
          <a:p>
            <a:pPr marL="0" indent="0">
              <a:lnSpc>
                <a:spcPct val="125000"/>
              </a:lnSpc>
              <a:buNone/>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Every winner is judged by reach and impressions on their posts — plus 100 additional certificates and mementos awarded citywide, so many more people have a genuine reason to participate.</a:t>
            </a:r>
            <a:endParaRPr lang="en-US" sz="1150" dirty="0"/>
          </a:p>
        </p:txBody>
      </p:sp>
      <p:sp>
        <p:nvSpPr>
          <p:cNvPr id="35"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6"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7"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8" name="Picture 37" descr="hppchri"/>
          <p:cNvPicPr>
            <a:picLocks noChangeAspect="1"/>
          </p:cNvPicPr>
          <p:nvPr/>
        </p:nvPicPr>
        <p:blipFill>
          <a:blip r:embed="rId1"/>
          <a:stretch>
            <a:fillRect/>
          </a:stretch>
        </p:blipFill>
        <p:spPr>
          <a:xfrm>
            <a:off x="210185" y="100965"/>
            <a:ext cx="695325" cy="695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MAKING ENTRIES VERIFIABLE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Registration Prerequisites</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250" i="1" dirty="0">
                <a:solidFill>
                  <a:srgbClr val="5B6B85"/>
                </a:solidFill>
                <a:latin typeface="Calibri" panose="020F0502020204030204" pitchFamily="34" charset="0"/>
                <a:ea typeface="Calibri" panose="020F0502020204030204" pitchFamily="34" charset="-122"/>
                <a:cs typeface="Calibri" panose="020F0502020204030204" pitchFamily="34" charset="-120"/>
              </a:rPr>
              <a:t>Every participant completes both steps before their content is a valid, judgeable entry.</a:t>
            </a:r>
            <a:endParaRPr lang="en-US" sz="1250" dirty="0"/>
          </a:p>
        </p:txBody>
      </p:sp>
      <p:sp>
        <p:nvSpPr>
          <p:cNvPr id="9" name="Shape 7"/>
          <p:cNvSpPr/>
          <p:nvPr/>
        </p:nvSpPr>
        <p:spPr>
          <a:xfrm>
            <a:off x="548640" y="4176395"/>
            <a:ext cx="5349240" cy="1099820"/>
          </a:xfrm>
          <a:prstGeom prst="roundRect">
            <a:avLst>
              <a:gd name="adj" fmla="val 2353"/>
            </a:avLst>
          </a:prstGeom>
          <a:solidFill>
            <a:srgbClr val="EAF0FA"/>
          </a:solidFill>
          <a:effectLst>
            <a:outerShdw blurRad="76200" dist="25400" dir="5400000" algn="bl" rotWithShape="0">
              <a:srgbClr val="203864">
                <a:alpha val="18000"/>
              </a:srgbClr>
            </a:outerShdw>
          </a:effectLst>
        </p:spPr>
      </p:sp>
      <p:sp>
        <p:nvSpPr>
          <p:cNvPr id="13" name="Text 11"/>
          <p:cNvSpPr/>
          <p:nvPr/>
        </p:nvSpPr>
        <p:spPr>
          <a:xfrm>
            <a:off x="1006475" y="4286885"/>
            <a:ext cx="4709160" cy="1920240"/>
          </a:xfrm>
          <a:prstGeom prst="rect">
            <a:avLst/>
          </a:prstGeom>
          <a:noFill/>
        </p:spPr>
        <p:txBody>
          <a:bodyPr wrap="square" lIns="0" tIns="0" rIns="0" bIns="0" rtlCol="0" anchor="t"/>
          <a:lstStyle/>
          <a:p>
            <a:pPr marL="342900" indent="-342900">
              <a:lnSpc>
                <a:spcPct val="105000"/>
              </a:lnSpc>
              <a:spcAft>
                <a:spcPts val="10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Scan the official campaign QR code (posters, campus kit, landing page)</a:t>
            </a:r>
            <a:endParaRPr lang="en-US" sz="1150" dirty="0"/>
          </a:p>
          <a:p>
            <a:pPr marL="342900" indent="-342900">
              <a:lnSpc>
                <a:spcPct val="105000"/>
              </a:lnSpc>
              <a:spcAft>
                <a:spcPts val="10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Complete the registration form (see Landing Page)</a:t>
            </a:r>
            <a:endParaRPr lang="en-US" sz="1150" dirty="0"/>
          </a:p>
          <a:p>
            <a:pPr marL="342900" indent="-342900">
              <a:lnSpc>
                <a:spcPct val="105000"/>
              </a:lnSpc>
              <a:spcAft>
                <a:spcPts val="10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Registration must happen before content is published</a:t>
            </a:r>
            <a:endParaRPr lang="en-US" sz="1150" dirty="0"/>
          </a:p>
        </p:txBody>
      </p:sp>
      <p:sp>
        <p:nvSpPr>
          <p:cNvPr id="14" name="Shape 12"/>
          <p:cNvSpPr/>
          <p:nvPr/>
        </p:nvSpPr>
        <p:spPr>
          <a:xfrm>
            <a:off x="6263640" y="4176395"/>
            <a:ext cx="5349240" cy="1081405"/>
          </a:xfrm>
          <a:prstGeom prst="roundRect">
            <a:avLst>
              <a:gd name="adj" fmla="val 2353"/>
            </a:avLst>
          </a:prstGeom>
          <a:solidFill>
            <a:srgbClr val="EAF0FA"/>
          </a:solidFill>
          <a:effectLst>
            <a:outerShdw blurRad="76200" dist="25400" dir="5400000" algn="bl" rotWithShape="0">
              <a:srgbClr val="203864">
                <a:alpha val="18000"/>
              </a:srgbClr>
            </a:outerShdw>
          </a:effectLst>
        </p:spPr>
      </p:sp>
      <p:sp>
        <p:nvSpPr>
          <p:cNvPr id="18" name="Text 16"/>
          <p:cNvSpPr/>
          <p:nvPr/>
        </p:nvSpPr>
        <p:spPr>
          <a:xfrm>
            <a:off x="6629400" y="4176395"/>
            <a:ext cx="4709160" cy="1920240"/>
          </a:xfrm>
          <a:prstGeom prst="rect">
            <a:avLst/>
          </a:prstGeom>
          <a:noFill/>
        </p:spPr>
        <p:txBody>
          <a:bodyPr wrap="square" lIns="0" tIns="0" rIns="0" bIns="0" rtlCol="0" anchor="t"/>
          <a:lstStyle/>
          <a:p>
            <a:pPr marL="342900" indent="-342900">
              <a:lnSpc>
                <a:spcPct val="105000"/>
              </a:lnSpc>
              <a:spcAft>
                <a:spcPts val="10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Tag the official HPPCHRI hospital page on every post</a:t>
            </a:r>
            <a:endParaRPr lang="en-US" sz="1150" dirty="0"/>
          </a:p>
          <a:p>
            <a:pPr marL="342900" indent="-342900">
              <a:lnSpc>
                <a:spcPct val="105000"/>
              </a:lnSpc>
              <a:spcAft>
                <a:spcPts val="10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Use the official campaign hashtag in the same post</a:t>
            </a:r>
            <a:endParaRPr lang="en-US" sz="1150" dirty="0"/>
          </a:p>
          <a:p>
            <a:pPr marL="342900" indent="-342900">
              <a:lnSpc>
                <a:spcPct val="105000"/>
              </a:lnSpc>
              <a:spcAft>
                <a:spcPts val="1000"/>
              </a:spcAft>
              <a:buSzPct val="100000"/>
              <a:buChar char="▪"/>
            </a:pPr>
            <a:r>
              <a:rPr lang="en-US" sz="1150" dirty="0">
                <a:solidFill>
                  <a:srgbClr val="13233F"/>
                </a:solidFill>
                <a:latin typeface="Calibri" panose="020F0502020204030204" pitchFamily="34" charset="0"/>
                <a:ea typeface="Calibri" panose="020F0502020204030204" pitchFamily="34" charset="-122"/>
                <a:cs typeface="Calibri" panose="020F0502020204030204" pitchFamily="34" charset="-120"/>
              </a:rPr>
              <a:t>Untagged, unregistered entries cannot be tracked or verified</a:t>
            </a:r>
            <a:endParaRPr lang="en-US" sz="1150" dirty="0"/>
          </a:p>
        </p:txBody>
      </p:sp>
      <p:sp>
        <p:nvSpPr>
          <p:cNvPr id="19" name="Shape 17"/>
          <p:cNvSpPr/>
          <p:nvPr/>
        </p:nvSpPr>
        <p:spPr>
          <a:xfrm>
            <a:off x="548640" y="5577840"/>
            <a:ext cx="11064240" cy="777240"/>
          </a:xfrm>
          <a:prstGeom prst="roundRect">
            <a:avLst>
              <a:gd name="adj" fmla="val 9412"/>
            </a:avLst>
          </a:prstGeom>
          <a:solidFill>
            <a:srgbClr val="0F1F3D"/>
          </a:solidFill>
          <a:effectLst>
            <a:outerShdw blurRad="76200" dist="25400" dir="5400000" algn="bl" rotWithShape="0">
              <a:srgbClr val="203864">
                <a:alpha val="18000"/>
              </a:srgbClr>
            </a:outerShdw>
          </a:effectLst>
        </p:spPr>
      </p:sp>
      <p:sp>
        <p:nvSpPr>
          <p:cNvPr id="20" name="Text 18"/>
          <p:cNvSpPr/>
          <p:nvPr/>
        </p:nvSpPr>
        <p:spPr>
          <a:xfrm>
            <a:off x="822960" y="5577840"/>
            <a:ext cx="105156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Registration = Scan the QR code  +  Tag the HPPCHRI hospital page in every submission.</a:t>
            </a:r>
            <a:endParaRPr lang="en-US" sz="130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21" name="Picture 20"/>
          <p:cNvPicPr>
            <a:picLocks noChangeAspect="1"/>
          </p:cNvPicPr>
          <p:nvPr/>
        </p:nvPicPr>
        <p:blipFill>
          <a:blip r:embed="rId2"/>
          <a:stretch>
            <a:fillRect/>
          </a:stretch>
        </p:blipFill>
        <p:spPr>
          <a:xfrm>
            <a:off x="1099185" y="2051685"/>
            <a:ext cx="9507855" cy="1968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ONE VERIFIED CONTENT SOURCE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Yuva Sanchar</a:t>
            </a:r>
            <a:endParaRPr lang="en-US" sz="3000" dirty="0"/>
          </a:p>
        </p:txBody>
      </p:sp>
      <p:sp>
        <p:nvSpPr>
          <p:cNvPr id="8" name="Text 6"/>
          <p:cNvSpPr/>
          <p:nvPr/>
        </p:nvSpPr>
        <p:spPr>
          <a:xfrm>
            <a:off x="548640" y="1783080"/>
            <a:ext cx="7315200" cy="365760"/>
          </a:xfrm>
          <a:prstGeom prst="rect">
            <a:avLst/>
          </a:prstGeom>
          <a:noFill/>
        </p:spPr>
        <p:txBody>
          <a:bodyPr wrap="square" lIns="0" tIns="0" rIns="0" bIns="0" rtlCol="0" anchor="ctr"/>
          <a:lstStyle/>
          <a:p>
            <a:pPr marL="0" indent="0">
              <a:buNone/>
            </a:pPr>
            <a:r>
              <a:rPr lang="en-US" sz="1500" b="1" i="1" dirty="0">
                <a:solidFill>
                  <a:srgbClr val="D6336C"/>
                </a:solidFill>
                <a:latin typeface="Georgia" panose="02040502050405020303" pitchFamily="34" charset="0"/>
                <a:ea typeface="Georgia" panose="02040502050405020303" pitchFamily="34" charset="-122"/>
                <a:cs typeface="Georgia" panose="02040502050405020303" pitchFamily="34" charset="-120"/>
              </a:rPr>
              <a:t>“Jago Yuva – Badlo Zindagi”</a:t>
            </a:r>
            <a:endParaRPr lang="en-US" sz="1500" dirty="0"/>
          </a:p>
        </p:txBody>
      </p:sp>
      <p:sp>
        <p:nvSpPr>
          <p:cNvPr id="9" name="Text 7"/>
          <p:cNvSpPr/>
          <p:nvPr/>
        </p:nvSpPr>
        <p:spPr>
          <a:xfrm>
            <a:off x="548640" y="2194560"/>
            <a:ext cx="6492240" cy="914400"/>
          </a:xfrm>
          <a:prstGeom prst="rect">
            <a:avLst/>
          </a:prstGeom>
          <a:noFill/>
        </p:spPr>
        <p:txBody>
          <a:bodyPr wrap="square" lIns="0" tIns="0" rIns="0" bIns="0" rtlCol="0" anchor="ctr"/>
          <a:lstStyle/>
          <a:p>
            <a:pPr marL="0" indent="0">
              <a:lnSpc>
                <a:spcPct val="130000"/>
              </a:lnSpc>
              <a:buNone/>
            </a:pPr>
            <a:r>
              <a:rPr lang="en-US" sz="1300" dirty="0">
                <a:solidFill>
                  <a:srgbClr val="13233F"/>
                </a:solidFill>
                <a:latin typeface="Calibri" panose="020F0502020204030204" pitchFamily="34" charset="0"/>
                <a:ea typeface="Calibri" panose="020F0502020204030204" pitchFamily="34" charset="-122"/>
                <a:cs typeface="Calibri" panose="020F0502020204030204" pitchFamily="34" charset="-120"/>
              </a:rPr>
              <a:t>The campaign content will be based on the Yuva Sanchar booklet, developed </a:t>
            </a:r>
            <a:endParaRPr lang="en-US" sz="1300" dirty="0">
              <a:solidFill>
                <a:srgbClr val="13233F"/>
              </a:solidFill>
              <a:latin typeface="Calibri" panose="020F0502020204030204" pitchFamily="34" charset="0"/>
              <a:ea typeface="Calibri" panose="020F0502020204030204" pitchFamily="34" charset="-122"/>
              <a:cs typeface="Calibri" panose="020F0502020204030204" pitchFamily="34" charset="-120"/>
            </a:endParaRPr>
          </a:p>
          <a:p>
            <a:pPr marL="0" indent="0">
              <a:lnSpc>
                <a:spcPct val="130000"/>
              </a:lnSpc>
              <a:buNone/>
            </a:pPr>
            <a:r>
              <a:rPr lang="en-US" sz="1300" dirty="0">
                <a:solidFill>
                  <a:srgbClr val="13233F"/>
                </a:solidFill>
                <a:latin typeface="Calibri" panose="020F0502020204030204" pitchFamily="34" charset="0"/>
                <a:ea typeface="Calibri" panose="020F0502020204030204" pitchFamily="34" charset="-122"/>
                <a:cs typeface="Calibri" panose="020F0502020204030204" pitchFamily="34" charset="-120"/>
              </a:rPr>
              <a:t>with contributions from medical and institutional experts.</a:t>
            </a:r>
            <a:endParaRPr lang="en-US" sz="1300" dirty="0"/>
          </a:p>
        </p:txBody>
      </p:sp>
      <p:sp>
        <p:nvSpPr>
          <p:cNvPr id="10" name="Shape 8"/>
          <p:cNvSpPr/>
          <p:nvPr/>
        </p:nvSpPr>
        <p:spPr>
          <a:xfrm>
            <a:off x="548640" y="3291840"/>
            <a:ext cx="4394200" cy="1828800"/>
          </a:xfrm>
          <a:prstGeom prst="roundRect">
            <a:avLst>
              <a:gd name="adj" fmla="val 4000"/>
            </a:avLst>
          </a:prstGeom>
          <a:solidFill>
            <a:srgbClr val="0F1F3D"/>
          </a:solidFill>
          <a:effectLst>
            <a:outerShdw blurRad="76200" dist="25400" dir="5400000" algn="bl" rotWithShape="0">
              <a:srgbClr val="203864">
                <a:alpha val="18000"/>
              </a:srgbClr>
            </a:outerShdw>
          </a:effectLst>
        </p:spPr>
      </p:sp>
      <p:sp>
        <p:nvSpPr>
          <p:cNvPr id="11" name="Text 9"/>
          <p:cNvSpPr/>
          <p:nvPr/>
        </p:nvSpPr>
        <p:spPr>
          <a:xfrm>
            <a:off x="822960" y="3474720"/>
            <a:ext cx="5943600" cy="320040"/>
          </a:xfrm>
          <a:prstGeom prst="rect">
            <a:avLst/>
          </a:prstGeom>
          <a:noFill/>
        </p:spPr>
        <p:txBody>
          <a:bodyPr wrap="square" lIns="0" tIns="0" rIns="0" bIns="0" rtlCol="0" anchor="ctr"/>
          <a:lstStyle/>
          <a:p>
            <a:pPr marL="0" indent="0">
              <a:buNone/>
            </a:pPr>
            <a:r>
              <a:rPr lang="en-US" sz="1200" b="1" kern="0" spc="100" dirty="0">
                <a:solidFill>
                  <a:srgbClr val="E4C766"/>
                </a:solidFill>
                <a:latin typeface="Calibri" panose="020F0502020204030204" pitchFamily="34" charset="0"/>
                <a:ea typeface="Calibri" panose="020F0502020204030204" pitchFamily="34" charset="-122"/>
                <a:cs typeface="Calibri" panose="020F0502020204030204" pitchFamily="34" charset="-120"/>
              </a:rPr>
              <a:t>Content Principle</a:t>
            </a:r>
            <a:endParaRPr lang="en-US" sz="1200" dirty="0"/>
          </a:p>
        </p:txBody>
      </p:sp>
      <p:sp>
        <p:nvSpPr>
          <p:cNvPr id="12" name="Text 10"/>
          <p:cNvSpPr/>
          <p:nvPr/>
        </p:nvSpPr>
        <p:spPr>
          <a:xfrm>
            <a:off x="822960" y="3840480"/>
            <a:ext cx="5943600" cy="640080"/>
          </a:xfrm>
          <a:prstGeom prst="rect">
            <a:avLst/>
          </a:prstGeom>
          <a:noFill/>
        </p:spPr>
        <p:txBody>
          <a:bodyPr wrap="square" lIns="0" tIns="0" rIns="0" bIns="0" rtlCol="0" anchor="ctr"/>
          <a:lstStyle/>
          <a:p>
            <a:pPr marL="0" indent="0">
              <a:buNone/>
            </a:pPr>
            <a:r>
              <a:rPr lang="en-US" sz="2200" b="1" dirty="0">
                <a:solidFill>
                  <a:srgbClr val="FFFFFF"/>
                </a:solidFill>
                <a:latin typeface="Georgia" panose="02040502050405020303" pitchFamily="34" charset="0"/>
                <a:ea typeface="Georgia" panose="02040502050405020303" pitchFamily="34" charset="-122"/>
                <a:cs typeface="Georgia" panose="02040502050405020303" pitchFamily="34" charset="-120"/>
              </a:rPr>
              <a:t>Accuracy Before Virality.</a:t>
            </a:r>
            <a:endParaRPr lang="en-US" sz="220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22" name="Picture 21" descr="YUVA SANCHAR-content_page-0001"/>
          <p:cNvPicPr>
            <a:picLocks noChangeAspect="1"/>
          </p:cNvPicPr>
          <p:nvPr/>
        </p:nvPicPr>
        <p:blipFill>
          <a:blip r:embed="rId2"/>
          <a:stretch>
            <a:fillRect/>
          </a:stretch>
        </p:blipFill>
        <p:spPr>
          <a:xfrm>
            <a:off x="6108065" y="1783080"/>
            <a:ext cx="2541270" cy="3928110"/>
          </a:xfrm>
          <a:prstGeom prst="rect">
            <a:avLst/>
          </a:prstGeom>
        </p:spPr>
      </p:pic>
      <p:pic>
        <p:nvPicPr>
          <p:cNvPr id="23" name="Picture 22" descr="YUVA SANCHAR-content_page-0020"/>
          <p:cNvPicPr>
            <a:picLocks noChangeAspect="1"/>
          </p:cNvPicPr>
          <p:nvPr/>
        </p:nvPicPr>
        <p:blipFill>
          <a:blip r:embed="rId3"/>
          <a:stretch>
            <a:fillRect/>
          </a:stretch>
        </p:blipFill>
        <p:spPr>
          <a:xfrm>
            <a:off x="9285605" y="1838960"/>
            <a:ext cx="2481580" cy="38366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CAMPAIGN RATIONALE</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Why Early Detection Matters</a:t>
            </a:r>
            <a:endParaRPr lang="en-US" sz="3000" dirty="0"/>
          </a:p>
        </p:txBody>
      </p:sp>
      <p:sp>
        <p:nvSpPr>
          <p:cNvPr id="8" name="Text 6"/>
          <p:cNvSpPr/>
          <p:nvPr/>
        </p:nvSpPr>
        <p:spPr>
          <a:xfrm>
            <a:off x="548640" y="1828800"/>
            <a:ext cx="5486400" cy="365760"/>
          </a:xfrm>
          <a:prstGeom prst="rect">
            <a:avLst/>
          </a:prstGeom>
          <a:noFill/>
        </p:spPr>
        <p:txBody>
          <a:bodyPr wrap="square" lIns="0" tIns="0" rIns="0" bIns="0" rtlCol="0" anchor="ctr"/>
          <a:lstStyle/>
          <a:p>
            <a:pPr marL="0" indent="0">
              <a:buNone/>
            </a:pPr>
            <a:r>
              <a:rPr lang="en-US" sz="1300" b="1" dirty="0">
                <a:solidFill>
                  <a:srgbClr val="0F1F3D"/>
                </a:solidFill>
                <a:latin typeface="Calibri" panose="020F0502020204030204" pitchFamily="34" charset="0"/>
                <a:ea typeface="Calibri" panose="020F0502020204030204" pitchFamily="34" charset="-122"/>
                <a:cs typeface="Calibri" panose="020F0502020204030204" pitchFamily="34" charset="-120"/>
              </a:rPr>
              <a:t>Progression of Cancer Stages</a:t>
            </a:r>
            <a:endParaRPr lang="en-US" sz="1300" dirty="0"/>
          </a:p>
        </p:txBody>
      </p:sp>
      <p:sp>
        <p:nvSpPr>
          <p:cNvPr id="29" name="Text 27"/>
          <p:cNvSpPr/>
          <p:nvPr/>
        </p:nvSpPr>
        <p:spPr>
          <a:xfrm>
            <a:off x="548640" y="5806440"/>
            <a:ext cx="6400800" cy="365760"/>
          </a:xfrm>
          <a:prstGeom prst="rect">
            <a:avLst/>
          </a:prstGeom>
          <a:noFill/>
        </p:spPr>
        <p:txBody>
          <a:bodyPr wrap="square" lIns="0" tIns="0" rIns="0" bIns="0" rtlCol="0" anchor="ctr"/>
          <a:lstStyle/>
          <a:p>
            <a:pPr marL="0" indent="0">
              <a:buNone/>
            </a:pPr>
            <a:r>
              <a:rPr lang="en-US" sz="1150" i="1" dirty="0">
                <a:solidFill>
                  <a:srgbClr val="5B6B85"/>
                </a:solidFill>
                <a:latin typeface="Calibri" panose="020F0502020204030204" pitchFamily="34" charset="0"/>
                <a:ea typeface="Calibri" panose="020F0502020204030204" pitchFamily="34" charset="-122"/>
                <a:cs typeface="Calibri" panose="020F0502020204030204" pitchFamily="34" charset="-120"/>
              </a:rPr>
              <a:t>Earlier detection  →  Earlier evaluation  →  Earlier treatment</a:t>
            </a:r>
            <a:endParaRPr lang="en-US" sz="1150" dirty="0"/>
          </a:p>
        </p:txBody>
      </p:sp>
      <p:sp>
        <p:nvSpPr>
          <p:cNvPr id="32" name="Text 30"/>
          <p:cNvSpPr/>
          <p:nvPr/>
        </p:nvSpPr>
        <p:spPr>
          <a:xfrm>
            <a:off x="7498080" y="2788920"/>
            <a:ext cx="3840480" cy="1371600"/>
          </a:xfrm>
          <a:prstGeom prst="rect">
            <a:avLst/>
          </a:prstGeom>
          <a:noFill/>
        </p:spPr>
        <p:txBody>
          <a:bodyPr wrap="square" lIns="0" tIns="0" rIns="0" bIns="0" rtlCol="0" anchor="ctr"/>
          <a:lstStyle/>
          <a:p>
            <a:pPr marL="0" indent="0">
              <a:lnSpc>
                <a:spcPct val="1300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Early detection can improve treatment options and outcomes. Delayed diagnosis can make treatment more difficult.</a:t>
            </a:r>
            <a:endParaRPr lang="en-US" sz="1300" dirty="0"/>
          </a:p>
        </p:txBody>
      </p:sp>
      <p:sp>
        <p:nvSpPr>
          <p:cNvPr id="33" name="Shape 31"/>
          <p:cNvSpPr/>
          <p:nvPr/>
        </p:nvSpPr>
        <p:spPr>
          <a:xfrm>
            <a:off x="7571105" y="2628265"/>
            <a:ext cx="4343400" cy="1417320"/>
          </a:xfrm>
          <a:prstGeom prst="roundRect">
            <a:avLst>
              <a:gd name="adj" fmla="val 5161"/>
            </a:avLst>
          </a:prstGeom>
          <a:solidFill>
            <a:srgbClr val="FCEFD8"/>
          </a:solidFill>
        </p:spPr>
      </p:sp>
      <p:sp>
        <p:nvSpPr>
          <p:cNvPr id="34" name="Text 32"/>
          <p:cNvSpPr/>
          <p:nvPr/>
        </p:nvSpPr>
        <p:spPr>
          <a:xfrm>
            <a:off x="7799705" y="2633345"/>
            <a:ext cx="3886200" cy="1188720"/>
          </a:xfrm>
          <a:prstGeom prst="rect">
            <a:avLst/>
          </a:prstGeom>
          <a:noFill/>
        </p:spPr>
        <p:txBody>
          <a:bodyPr wrap="square" lIns="0" tIns="0" rIns="0" bIns="0" rtlCol="0" anchor="ctr"/>
          <a:lstStyle/>
          <a:p>
            <a:pPr marL="0" indent="0">
              <a:lnSpc>
                <a:spcPct val="120000"/>
              </a:lnSpc>
              <a:buNone/>
            </a:pPr>
            <a:r>
              <a:rPr lang="en-US" sz="1050" b="1" dirty="0">
                <a:solidFill>
                  <a:srgbClr val="2F9E44"/>
                </a:solidFill>
                <a:latin typeface="Calibri" panose="020F0502020204030204" pitchFamily="34" charset="0"/>
                <a:ea typeface="Calibri" panose="020F0502020204030204" pitchFamily="34" charset="-122"/>
                <a:cs typeface="Calibri" panose="020F0502020204030204" pitchFamily="34" charset="-120"/>
              </a:rPr>
              <a:t>✓ Say: </a:t>
            </a:r>
            <a:r>
              <a:rPr lang="en-US" sz="1050" dirty="0">
                <a:solidFill>
                  <a:srgbClr val="13233F"/>
                </a:solidFill>
                <a:latin typeface="Calibri" panose="020F0502020204030204" pitchFamily="34" charset="0"/>
                <a:ea typeface="Calibri" panose="020F0502020204030204" pitchFamily="34" charset="-122"/>
                <a:cs typeface="Calibri" panose="020F0502020204030204" pitchFamily="34" charset="-120"/>
              </a:rPr>
              <a:t>“Early detection can improve treatment options and outcomes.”
</a:t>
            </a:r>
            <a:r>
              <a:rPr lang="en-US" sz="1050" b="1" dirty="0">
                <a:solidFill>
                  <a:srgbClr val="C1272D"/>
                </a:solidFill>
                <a:latin typeface="Calibri" panose="020F0502020204030204" pitchFamily="34" charset="0"/>
                <a:ea typeface="Calibri" panose="020F0502020204030204" pitchFamily="34" charset="-122"/>
                <a:cs typeface="Calibri" panose="020F0502020204030204" pitchFamily="34" charset="-120"/>
              </a:rPr>
              <a:t>✗ Avoid: </a:t>
            </a:r>
            <a:r>
              <a:rPr lang="en-US" sz="1050" dirty="0">
                <a:solidFill>
                  <a:srgbClr val="13233F"/>
                </a:solidFill>
                <a:latin typeface="Calibri" panose="020F0502020204030204" pitchFamily="34" charset="0"/>
                <a:ea typeface="Calibri" panose="020F0502020204030204" pitchFamily="34" charset="-122"/>
                <a:cs typeface="Calibri" panose="020F0502020204030204" pitchFamily="34" charset="-120"/>
              </a:rPr>
              <a:t>“Early cancer never causes death.”</a:t>
            </a:r>
            <a:endParaRPr lang="en-US" sz="1050" dirty="0"/>
          </a:p>
        </p:txBody>
      </p:sp>
      <p:sp>
        <p:nvSpPr>
          <p:cNvPr id="35"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6"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7"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8" name="Picture 37" descr="hppchri"/>
          <p:cNvPicPr>
            <a:picLocks noChangeAspect="1"/>
          </p:cNvPicPr>
          <p:nvPr/>
        </p:nvPicPr>
        <p:blipFill>
          <a:blip r:embed="rId1"/>
          <a:stretch>
            <a:fillRect/>
          </a:stretch>
        </p:blipFill>
        <p:spPr>
          <a:xfrm>
            <a:off x="210185" y="100965"/>
            <a:ext cx="695325" cy="695325"/>
          </a:xfrm>
          <a:prstGeom prst="rect">
            <a:avLst/>
          </a:prstGeom>
        </p:spPr>
      </p:pic>
      <p:pic>
        <p:nvPicPr>
          <p:cNvPr id="39" name="Picture 38"/>
          <p:cNvPicPr/>
          <p:nvPr/>
        </p:nvPicPr>
        <p:blipFill>
          <a:blip r:embed="rId2"/>
          <a:stretch>
            <a:fillRect/>
          </a:stretch>
        </p:blipFill>
        <p:spPr>
          <a:xfrm>
            <a:off x="0" y="1235710"/>
            <a:ext cx="7512050" cy="4699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GENERAL AWARENESS</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7 Warning Signs of Cancer</a:t>
            </a:r>
            <a:endParaRPr lang="en-US" sz="3000" dirty="0"/>
          </a:p>
        </p:txBody>
      </p:sp>
      <p:sp>
        <p:nvSpPr>
          <p:cNvPr id="8" name="Shape 6"/>
          <p:cNvSpPr/>
          <p:nvPr/>
        </p:nvSpPr>
        <p:spPr>
          <a:xfrm>
            <a:off x="548640" y="1965960"/>
            <a:ext cx="2606040" cy="1691640"/>
          </a:xfrm>
          <a:prstGeom prst="roundRect">
            <a:avLst>
              <a:gd name="adj" fmla="val 5405"/>
            </a:avLst>
          </a:prstGeom>
          <a:solidFill>
            <a:srgbClr val="7A1F3D"/>
          </a:solidFill>
          <a:effectLst>
            <a:outerShdw blurRad="76200" dist="25400" dir="5400000" algn="bl" rotWithShape="0">
              <a:srgbClr val="203864">
                <a:alpha val="20000"/>
              </a:srgbClr>
            </a:outerShdw>
          </a:effectLst>
        </p:spPr>
      </p:sp>
      <p:sp>
        <p:nvSpPr>
          <p:cNvPr id="9" name="Shape 7"/>
          <p:cNvSpPr/>
          <p:nvPr/>
        </p:nvSpPr>
        <p:spPr>
          <a:xfrm>
            <a:off x="1559052" y="2148840"/>
            <a:ext cx="585216" cy="585216"/>
          </a:xfrm>
          <a:prstGeom prst="ellipse">
            <a:avLst/>
          </a:prstGeom>
          <a:solidFill>
            <a:srgbClr val="FFFFFF"/>
          </a:solidFill>
        </p:spPr>
      </p:sp>
      <p:sp>
        <p:nvSpPr>
          <p:cNvPr id="10" name="Text 8"/>
          <p:cNvSpPr/>
          <p:nvPr/>
        </p:nvSpPr>
        <p:spPr>
          <a:xfrm>
            <a:off x="1559052" y="2148840"/>
            <a:ext cx="585216" cy="585216"/>
          </a:xfrm>
          <a:prstGeom prst="rect">
            <a:avLst/>
          </a:prstGeom>
          <a:noFill/>
        </p:spPr>
        <p:txBody>
          <a:bodyPr wrap="square" lIns="0" tIns="0" rIns="0" bIns="0" rtlCol="0" anchor="ctr"/>
          <a:lstStyle/>
          <a:p>
            <a:pPr marL="0" indent="0" algn="ctr">
              <a:buNone/>
            </a:pPr>
            <a:r>
              <a:rPr lang="en-US" sz="2200" b="1" dirty="0">
                <a:solidFill>
                  <a:srgbClr val="7A1F3D"/>
                </a:solidFill>
                <a:latin typeface="Georgia" panose="02040502050405020303" pitchFamily="34" charset="0"/>
                <a:ea typeface="Georgia" panose="02040502050405020303" pitchFamily="34" charset="-122"/>
                <a:cs typeface="Georgia" panose="02040502050405020303" pitchFamily="34" charset="-120"/>
              </a:rPr>
              <a:t>1</a:t>
            </a:r>
            <a:endParaRPr lang="en-US" sz="2200" dirty="0"/>
          </a:p>
        </p:txBody>
      </p:sp>
      <p:sp>
        <p:nvSpPr>
          <p:cNvPr id="11" name="Text 9"/>
          <p:cNvSpPr/>
          <p:nvPr/>
        </p:nvSpPr>
        <p:spPr>
          <a:xfrm>
            <a:off x="685800" y="288036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Unexplained weight loss</a:t>
            </a:r>
            <a:endParaRPr lang="en-US" sz="1150" dirty="0"/>
          </a:p>
        </p:txBody>
      </p:sp>
      <p:sp>
        <p:nvSpPr>
          <p:cNvPr id="12" name="Shape 10"/>
          <p:cNvSpPr/>
          <p:nvPr/>
        </p:nvSpPr>
        <p:spPr>
          <a:xfrm>
            <a:off x="3337560" y="1965960"/>
            <a:ext cx="2606040" cy="1691640"/>
          </a:xfrm>
          <a:prstGeom prst="roundRect">
            <a:avLst>
              <a:gd name="adj" fmla="val 5405"/>
            </a:avLst>
          </a:prstGeom>
          <a:solidFill>
            <a:srgbClr val="8E2A4A"/>
          </a:solidFill>
          <a:effectLst>
            <a:outerShdw blurRad="76200" dist="25400" dir="5400000" algn="bl" rotWithShape="0">
              <a:srgbClr val="203864">
                <a:alpha val="20000"/>
              </a:srgbClr>
            </a:outerShdw>
          </a:effectLst>
        </p:spPr>
      </p:sp>
      <p:sp>
        <p:nvSpPr>
          <p:cNvPr id="13" name="Shape 11"/>
          <p:cNvSpPr/>
          <p:nvPr/>
        </p:nvSpPr>
        <p:spPr>
          <a:xfrm>
            <a:off x="4347972" y="2148840"/>
            <a:ext cx="585216" cy="585216"/>
          </a:xfrm>
          <a:prstGeom prst="ellipse">
            <a:avLst/>
          </a:prstGeom>
          <a:solidFill>
            <a:srgbClr val="FFFFFF"/>
          </a:solidFill>
        </p:spPr>
      </p:sp>
      <p:sp>
        <p:nvSpPr>
          <p:cNvPr id="14" name="Text 12"/>
          <p:cNvSpPr/>
          <p:nvPr/>
        </p:nvSpPr>
        <p:spPr>
          <a:xfrm>
            <a:off x="4347972" y="2148840"/>
            <a:ext cx="585216" cy="585216"/>
          </a:xfrm>
          <a:prstGeom prst="rect">
            <a:avLst/>
          </a:prstGeom>
          <a:noFill/>
        </p:spPr>
        <p:txBody>
          <a:bodyPr wrap="square" lIns="0" tIns="0" rIns="0" bIns="0" rtlCol="0" anchor="ctr"/>
          <a:lstStyle/>
          <a:p>
            <a:pPr marL="0" indent="0" algn="ctr">
              <a:buNone/>
            </a:pPr>
            <a:r>
              <a:rPr lang="en-US" sz="2200" b="1" dirty="0">
                <a:solidFill>
                  <a:srgbClr val="8E2A4A"/>
                </a:solidFill>
                <a:latin typeface="Georgia" panose="02040502050405020303" pitchFamily="34" charset="0"/>
                <a:ea typeface="Georgia" panose="02040502050405020303" pitchFamily="34" charset="-122"/>
                <a:cs typeface="Georgia" panose="02040502050405020303" pitchFamily="34" charset="-120"/>
              </a:rPr>
              <a:t>2</a:t>
            </a:r>
            <a:endParaRPr lang="en-US" sz="2200" dirty="0"/>
          </a:p>
        </p:txBody>
      </p:sp>
      <p:sp>
        <p:nvSpPr>
          <p:cNvPr id="15" name="Text 13"/>
          <p:cNvSpPr/>
          <p:nvPr/>
        </p:nvSpPr>
        <p:spPr>
          <a:xfrm>
            <a:off x="3474720" y="288036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New or unusual lump / swelling</a:t>
            </a:r>
            <a:endParaRPr lang="en-US" sz="1150" dirty="0"/>
          </a:p>
        </p:txBody>
      </p:sp>
      <p:sp>
        <p:nvSpPr>
          <p:cNvPr id="16" name="Shape 14"/>
          <p:cNvSpPr/>
          <p:nvPr/>
        </p:nvSpPr>
        <p:spPr>
          <a:xfrm>
            <a:off x="6126480" y="1965960"/>
            <a:ext cx="2606040" cy="1691640"/>
          </a:xfrm>
          <a:prstGeom prst="roundRect">
            <a:avLst>
              <a:gd name="adj" fmla="val 5405"/>
            </a:avLst>
          </a:prstGeom>
          <a:solidFill>
            <a:srgbClr val="A23557"/>
          </a:solidFill>
          <a:effectLst>
            <a:outerShdw blurRad="76200" dist="25400" dir="5400000" algn="bl" rotWithShape="0">
              <a:srgbClr val="203864">
                <a:alpha val="20000"/>
              </a:srgbClr>
            </a:outerShdw>
          </a:effectLst>
        </p:spPr>
      </p:sp>
      <p:sp>
        <p:nvSpPr>
          <p:cNvPr id="17" name="Shape 15"/>
          <p:cNvSpPr/>
          <p:nvPr/>
        </p:nvSpPr>
        <p:spPr>
          <a:xfrm>
            <a:off x="7136892" y="2148840"/>
            <a:ext cx="585216" cy="585216"/>
          </a:xfrm>
          <a:prstGeom prst="ellipse">
            <a:avLst/>
          </a:prstGeom>
          <a:solidFill>
            <a:srgbClr val="FFFFFF"/>
          </a:solidFill>
        </p:spPr>
      </p:sp>
      <p:sp>
        <p:nvSpPr>
          <p:cNvPr id="18" name="Text 16"/>
          <p:cNvSpPr/>
          <p:nvPr/>
        </p:nvSpPr>
        <p:spPr>
          <a:xfrm>
            <a:off x="7136892" y="2148840"/>
            <a:ext cx="585216" cy="585216"/>
          </a:xfrm>
          <a:prstGeom prst="rect">
            <a:avLst/>
          </a:prstGeom>
          <a:noFill/>
        </p:spPr>
        <p:txBody>
          <a:bodyPr wrap="square" lIns="0" tIns="0" rIns="0" bIns="0" rtlCol="0" anchor="ctr"/>
          <a:lstStyle/>
          <a:p>
            <a:pPr marL="0" indent="0" algn="ctr">
              <a:buNone/>
            </a:pPr>
            <a:r>
              <a:rPr lang="en-US" sz="2200" b="1" dirty="0">
                <a:solidFill>
                  <a:srgbClr val="A23557"/>
                </a:solidFill>
                <a:latin typeface="Georgia" panose="02040502050405020303" pitchFamily="34" charset="0"/>
                <a:ea typeface="Georgia" panose="02040502050405020303" pitchFamily="34" charset="-122"/>
                <a:cs typeface="Georgia" panose="02040502050405020303" pitchFamily="34" charset="-120"/>
              </a:rPr>
              <a:t>3</a:t>
            </a:r>
            <a:endParaRPr lang="en-US" sz="2200" dirty="0"/>
          </a:p>
        </p:txBody>
      </p:sp>
      <p:sp>
        <p:nvSpPr>
          <p:cNvPr id="19" name="Text 17"/>
          <p:cNvSpPr/>
          <p:nvPr/>
        </p:nvSpPr>
        <p:spPr>
          <a:xfrm>
            <a:off x="6263640" y="288036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Unexplained bleeding</a:t>
            </a:r>
            <a:endParaRPr lang="en-US" sz="1150" dirty="0"/>
          </a:p>
        </p:txBody>
      </p:sp>
      <p:sp>
        <p:nvSpPr>
          <p:cNvPr id="20" name="Shape 18"/>
          <p:cNvSpPr/>
          <p:nvPr/>
        </p:nvSpPr>
        <p:spPr>
          <a:xfrm>
            <a:off x="8915400" y="1965960"/>
            <a:ext cx="2606040" cy="1691640"/>
          </a:xfrm>
          <a:prstGeom prst="roundRect">
            <a:avLst>
              <a:gd name="adj" fmla="val 5405"/>
            </a:avLst>
          </a:prstGeom>
          <a:solidFill>
            <a:srgbClr val="B64064"/>
          </a:solidFill>
          <a:effectLst>
            <a:outerShdw blurRad="76200" dist="25400" dir="5400000" algn="bl" rotWithShape="0">
              <a:srgbClr val="203864">
                <a:alpha val="20000"/>
              </a:srgbClr>
            </a:outerShdw>
          </a:effectLst>
        </p:spPr>
      </p:sp>
      <p:sp>
        <p:nvSpPr>
          <p:cNvPr id="21" name="Shape 19"/>
          <p:cNvSpPr/>
          <p:nvPr/>
        </p:nvSpPr>
        <p:spPr>
          <a:xfrm>
            <a:off x="9925812" y="2148840"/>
            <a:ext cx="585216" cy="585216"/>
          </a:xfrm>
          <a:prstGeom prst="ellipse">
            <a:avLst/>
          </a:prstGeom>
          <a:solidFill>
            <a:srgbClr val="FFFFFF"/>
          </a:solidFill>
        </p:spPr>
      </p:sp>
      <p:sp>
        <p:nvSpPr>
          <p:cNvPr id="22" name="Text 20"/>
          <p:cNvSpPr/>
          <p:nvPr/>
        </p:nvSpPr>
        <p:spPr>
          <a:xfrm>
            <a:off x="9925812" y="2148840"/>
            <a:ext cx="585216" cy="585216"/>
          </a:xfrm>
          <a:prstGeom prst="rect">
            <a:avLst/>
          </a:prstGeom>
          <a:noFill/>
        </p:spPr>
        <p:txBody>
          <a:bodyPr wrap="square" lIns="0" tIns="0" rIns="0" bIns="0" rtlCol="0" anchor="ctr"/>
          <a:lstStyle/>
          <a:p>
            <a:pPr marL="0" indent="0" algn="ctr">
              <a:buNone/>
            </a:pPr>
            <a:r>
              <a:rPr lang="en-US" sz="2200" b="1" dirty="0">
                <a:solidFill>
                  <a:srgbClr val="B64064"/>
                </a:solidFill>
                <a:latin typeface="Georgia" panose="02040502050405020303" pitchFamily="34" charset="0"/>
                <a:ea typeface="Georgia" panose="02040502050405020303" pitchFamily="34" charset="-122"/>
                <a:cs typeface="Georgia" panose="02040502050405020303" pitchFamily="34" charset="-120"/>
              </a:rPr>
              <a:t>4</a:t>
            </a:r>
            <a:endParaRPr lang="en-US" sz="2200" dirty="0"/>
          </a:p>
        </p:txBody>
      </p:sp>
      <p:sp>
        <p:nvSpPr>
          <p:cNvPr id="23" name="Text 21"/>
          <p:cNvSpPr/>
          <p:nvPr/>
        </p:nvSpPr>
        <p:spPr>
          <a:xfrm>
            <a:off x="9052560" y="288036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Persistent cough or hoarseness</a:t>
            </a:r>
            <a:endParaRPr lang="en-US" sz="1150" dirty="0"/>
          </a:p>
        </p:txBody>
      </p:sp>
      <p:sp>
        <p:nvSpPr>
          <p:cNvPr id="24" name="Shape 22"/>
          <p:cNvSpPr/>
          <p:nvPr/>
        </p:nvSpPr>
        <p:spPr>
          <a:xfrm>
            <a:off x="1943100" y="3840480"/>
            <a:ext cx="2606040" cy="1691640"/>
          </a:xfrm>
          <a:prstGeom prst="roundRect">
            <a:avLst>
              <a:gd name="adj" fmla="val 5405"/>
            </a:avLst>
          </a:prstGeom>
          <a:solidFill>
            <a:srgbClr val="C94B71"/>
          </a:solidFill>
          <a:effectLst>
            <a:outerShdw blurRad="76200" dist="25400" dir="5400000" algn="bl" rotWithShape="0">
              <a:srgbClr val="203864">
                <a:alpha val="20000"/>
              </a:srgbClr>
            </a:outerShdw>
          </a:effectLst>
        </p:spPr>
      </p:sp>
      <p:sp>
        <p:nvSpPr>
          <p:cNvPr id="25" name="Shape 23"/>
          <p:cNvSpPr/>
          <p:nvPr/>
        </p:nvSpPr>
        <p:spPr>
          <a:xfrm>
            <a:off x="2953512" y="4023360"/>
            <a:ext cx="585216" cy="585216"/>
          </a:xfrm>
          <a:prstGeom prst="ellipse">
            <a:avLst/>
          </a:prstGeom>
          <a:solidFill>
            <a:srgbClr val="FFFFFF"/>
          </a:solidFill>
        </p:spPr>
      </p:sp>
      <p:sp>
        <p:nvSpPr>
          <p:cNvPr id="26" name="Text 24"/>
          <p:cNvSpPr/>
          <p:nvPr/>
        </p:nvSpPr>
        <p:spPr>
          <a:xfrm>
            <a:off x="2953512" y="4023360"/>
            <a:ext cx="585216" cy="585216"/>
          </a:xfrm>
          <a:prstGeom prst="rect">
            <a:avLst/>
          </a:prstGeom>
          <a:noFill/>
        </p:spPr>
        <p:txBody>
          <a:bodyPr wrap="square" lIns="0" tIns="0" rIns="0" bIns="0" rtlCol="0" anchor="ctr"/>
          <a:lstStyle/>
          <a:p>
            <a:pPr marL="0" indent="0" algn="ctr">
              <a:buNone/>
            </a:pPr>
            <a:r>
              <a:rPr lang="en-US" sz="2200" b="1" dirty="0">
                <a:solidFill>
                  <a:srgbClr val="C94B71"/>
                </a:solidFill>
                <a:latin typeface="Georgia" panose="02040502050405020303" pitchFamily="34" charset="0"/>
                <a:ea typeface="Georgia" panose="02040502050405020303" pitchFamily="34" charset="-122"/>
                <a:cs typeface="Georgia" panose="02040502050405020303" pitchFamily="34" charset="-120"/>
              </a:rPr>
              <a:t>5</a:t>
            </a:r>
            <a:endParaRPr lang="en-US" sz="2200" dirty="0"/>
          </a:p>
        </p:txBody>
      </p:sp>
      <p:sp>
        <p:nvSpPr>
          <p:cNvPr id="27" name="Text 25"/>
          <p:cNvSpPr/>
          <p:nvPr/>
        </p:nvSpPr>
        <p:spPr>
          <a:xfrm>
            <a:off x="2080260" y="475488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Changes in bowel or bladder habits</a:t>
            </a:r>
            <a:endParaRPr lang="en-US" sz="1150" dirty="0"/>
          </a:p>
        </p:txBody>
      </p:sp>
      <p:sp>
        <p:nvSpPr>
          <p:cNvPr id="28" name="Shape 26"/>
          <p:cNvSpPr/>
          <p:nvPr/>
        </p:nvSpPr>
        <p:spPr>
          <a:xfrm>
            <a:off x="4732020" y="3840480"/>
            <a:ext cx="2606040" cy="1691640"/>
          </a:xfrm>
          <a:prstGeom prst="roundRect">
            <a:avLst>
              <a:gd name="adj" fmla="val 5405"/>
            </a:avLst>
          </a:prstGeom>
          <a:solidFill>
            <a:srgbClr val="D6567F"/>
          </a:solidFill>
          <a:effectLst>
            <a:outerShdw blurRad="76200" dist="25400" dir="5400000" algn="bl" rotWithShape="0">
              <a:srgbClr val="203864">
                <a:alpha val="20000"/>
              </a:srgbClr>
            </a:outerShdw>
          </a:effectLst>
        </p:spPr>
      </p:sp>
      <p:sp>
        <p:nvSpPr>
          <p:cNvPr id="29" name="Shape 27"/>
          <p:cNvSpPr/>
          <p:nvPr/>
        </p:nvSpPr>
        <p:spPr>
          <a:xfrm>
            <a:off x="5742432" y="4023360"/>
            <a:ext cx="585216" cy="585216"/>
          </a:xfrm>
          <a:prstGeom prst="ellipse">
            <a:avLst/>
          </a:prstGeom>
          <a:solidFill>
            <a:srgbClr val="FFFFFF"/>
          </a:solidFill>
        </p:spPr>
      </p:sp>
      <p:sp>
        <p:nvSpPr>
          <p:cNvPr id="30" name="Text 28"/>
          <p:cNvSpPr/>
          <p:nvPr/>
        </p:nvSpPr>
        <p:spPr>
          <a:xfrm>
            <a:off x="5742432" y="4023360"/>
            <a:ext cx="585216" cy="585216"/>
          </a:xfrm>
          <a:prstGeom prst="rect">
            <a:avLst/>
          </a:prstGeom>
          <a:noFill/>
        </p:spPr>
        <p:txBody>
          <a:bodyPr wrap="square" lIns="0" tIns="0" rIns="0" bIns="0" rtlCol="0" anchor="ctr"/>
          <a:lstStyle/>
          <a:p>
            <a:pPr marL="0" indent="0" algn="ctr">
              <a:buNone/>
            </a:pPr>
            <a:r>
              <a:rPr lang="en-US" sz="2200" b="1" dirty="0">
                <a:solidFill>
                  <a:srgbClr val="D6567F"/>
                </a:solidFill>
                <a:latin typeface="Georgia" panose="02040502050405020303" pitchFamily="34" charset="0"/>
                <a:ea typeface="Georgia" panose="02040502050405020303" pitchFamily="34" charset="-122"/>
                <a:cs typeface="Georgia" panose="02040502050405020303" pitchFamily="34" charset="-120"/>
              </a:rPr>
              <a:t>6</a:t>
            </a:r>
            <a:endParaRPr lang="en-US" sz="2200" dirty="0"/>
          </a:p>
        </p:txBody>
      </p:sp>
      <p:sp>
        <p:nvSpPr>
          <p:cNvPr id="31" name="Text 29"/>
          <p:cNvSpPr/>
          <p:nvPr/>
        </p:nvSpPr>
        <p:spPr>
          <a:xfrm>
            <a:off x="4869180" y="475488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Sore or ulcer that does not heal</a:t>
            </a:r>
            <a:endParaRPr lang="en-US" sz="1150" dirty="0"/>
          </a:p>
        </p:txBody>
      </p:sp>
      <p:sp>
        <p:nvSpPr>
          <p:cNvPr id="32" name="Shape 30"/>
          <p:cNvSpPr/>
          <p:nvPr/>
        </p:nvSpPr>
        <p:spPr>
          <a:xfrm>
            <a:off x="7520940" y="3840480"/>
            <a:ext cx="2606040" cy="1691640"/>
          </a:xfrm>
          <a:prstGeom prst="roundRect">
            <a:avLst>
              <a:gd name="adj" fmla="val 5405"/>
            </a:avLst>
          </a:prstGeom>
          <a:solidFill>
            <a:srgbClr val="E1618C"/>
          </a:solidFill>
          <a:effectLst>
            <a:outerShdw blurRad="76200" dist="25400" dir="5400000" algn="bl" rotWithShape="0">
              <a:srgbClr val="203864">
                <a:alpha val="20000"/>
              </a:srgbClr>
            </a:outerShdw>
          </a:effectLst>
        </p:spPr>
      </p:sp>
      <p:sp>
        <p:nvSpPr>
          <p:cNvPr id="33" name="Shape 31"/>
          <p:cNvSpPr/>
          <p:nvPr/>
        </p:nvSpPr>
        <p:spPr>
          <a:xfrm>
            <a:off x="8531352" y="4023360"/>
            <a:ext cx="585216" cy="585216"/>
          </a:xfrm>
          <a:prstGeom prst="ellipse">
            <a:avLst/>
          </a:prstGeom>
          <a:solidFill>
            <a:srgbClr val="FFFFFF"/>
          </a:solidFill>
        </p:spPr>
      </p:sp>
      <p:sp>
        <p:nvSpPr>
          <p:cNvPr id="34" name="Text 32"/>
          <p:cNvSpPr/>
          <p:nvPr/>
        </p:nvSpPr>
        <p:spPr>
          <a:xfrm>
            <a:off x="8531352" y="4023360"/>
            <a:ext cx="585216" cy="585216"/>
          </a:xfrm>
          <a:prstGeom prst="rect">
            <a:avLst/>
          </a:prstGeom>
          <a:noFill/>
        </p:spPr>
        <p:txBody>
          <a:bodyPr wrap="square" lIns="0" tIns="0" rIns="0" bIns="0" rtlCol="0" anchor="ctr"/>
          <a:lstStyle/>
          <a:p>
            <a:pPr marL="0" indent="0" algn="ctr">
              <a:buNone/>
            </a:pPr>
            <a:r>
              <a:rPr lang="en-US" sz="2200" b="1" dirty="0">
                <a:solidFill>
                  <a:srgbClr val="E1618C"/>
                </a:solidFill>
                <a:latin typeface="Georgia" panose="02040502050405020303" pitchFamily="34" charset="0"/>
                <a:ea typeface="Georgia" panose="02040502050405020303" pitchFamily="34" charset="-122"/>
                <a:cs typeface="Georgia" panose="02040502050405020303" pitchFamily="34" charset="-120"/>
              </a:rPr>
              <a:t>7</a:t>
            </a:r>
            <a:endParaRPr lang="en-US" sz="2200" dirty="0"/>
          </a:p>
        </p:txBody>
      </p:sp>
      <p:sp>
        <p:nvSpPr>
          <p:cNvPr id="35" name="Text 33"/>
          <p:cNvSpPr/>
          <p:nvPr/>
        </p:nvSpPr>
        <p:spPr>
          <a:xfrm>
            <a:off x="7658100" y="4754880"/>
            <a:ext cx="2331720" cy="685800"/>
          </a:xfrm>
          <a:prstGeom prst="rect">
            <a:avLst/>
          </a:prstGeom>
          <a:noFill/>
        </p:spPr>
        <p:txBody>
          <a:bodyPr wrap="square" lIns="0" tIns="0" rIns="0" bIns="0" rtlCol="0" anchor="t"/>
          <a:lstStyle/>
          <a:p>
            <a:pPr marL="0" indent="0" algn="ctr">
              <a:lnSpc>
                <a:spcPct val="115000"/>
              </a:lnSpc>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Persistent difficulty swallowing / indigestion</a:t>
            </a:r>
            <a:endParaRPr lang="en-US" sz="1150" dirty="0"/>
          </a:p>
        </p:txBody>
      </p:sp>
      <p:sp>
        <p:nvSpPr>
          <p:cNvPr id="36" name="Shape 34"/>
          <p:cNvSpPr/>
          <p:nvPr/>
        </p:nvSpPr>
        <p:spPr>
          <a:xfrm>
            <a:off x="548640" y="5806440"/>
            <a:ext cx="11064240" cy="502920"/>
          </a:xfrm>
          <a:prstGeom prst="roundRect">
            <a:avLst>
              <a:gd name="adj" fmla="val 14545"/>
            </a:avLst>
          </a:prstGeom>
          <a:solidFill>
            <a:srgbClr val="FCEFD8"/>
          </a:solidFill>
        </p:spPr>
      </p:sp>
      <p:sp>
        <p:nvSpPr>
          <p:cNvPr id="37" name="Text 35"/>
          <p:cNvSpPr/>
          <p:nvPr/>
        </p:nvSpPr>
        <p:spPr>
          <a:xfrm>
            <a:off x="777240" y="5806440"/>
            <a:ext cx="10607040" cy="502920"/>
          </a:xfrm>
          <a:prstGeom prst="rect">
            <a:avLst/>
          </a:prstGeom>
          <a:noFill/>
        </p:spPr>
        <p:txBody>
          <a:bodyPr wrap="square" lIns="0" tIns="0" rIns="0" bIns="0" rtlCol="0" anchor="ctr"/>
          <a:lstStyle/>
          <a:p>
            <a:pPr marL="0" indent="0">
              <a:buNone/>
            </a:pPr>
            <a:r>
              <a:rPr lang="en-US" sz="1000" i="1" dirty="0">
                <a:solidFill>
                  <a:srgbClr val="13233F"/>
                </a:solidFill>
                <a:latin typeface="Calibri" panose="020F0502020204030204" pitchFamily="34" charset="0"/>
                <a:ea typeface="Calibri" panose="020F0502020204030204" pitchFamily="34" charset="-122"/>
                <a:cs typeface="Calibri" panose="020F0502020204030204" pitchFamily="34" charset="-120"/>
              </a:rPr>
              <a:t>A symptom does NOT automatically mean cancer. Persistent or unexplained changes should be medically evaluated by a qualified healthcare professional.</a:t>
            </a:r>
            <a:endParaRPr lang="en-US" sz="1000" dirty="0"/>
          </a:p>
        </p:txBody>
      </p:sp>
      <p:sp>
        <p:nvSpPr>
          <p:cNvPr id="38"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9"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40"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41" name="Picture 40" descr="hppchri"/>
          <p:cNvPicPr>
            <a:picLocks noChangeAspect="1"/>
          </p:cNvPicPr>
          <p:nvPr/>
        </p:nvPicPr>
        <p:blipFill>
          <a:blip r:embed="rId1"/>
          <a:stretch>
            <a:fillRect/>
          </a:stretch>
        </p:blipFill>
        <p:spPr>
          <a:xfrm>
            <a:off x="210185" y="100965"/>
            <a:ext cx="695325" cy="6953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6473952"/>
            <a:ext cx="12188952" cy="292608"/>
          </a:xfrm>
          <a:prstGeom prst="rect">
            <a:avLst/>
          </a:prstGeom>
          <a:noFill/>
        </p:spPr>
        <p:txBody>
          <a:bodyPr wrap="square" lIns="0" tIns="0" rIns="0" bIns="0" rtlCol="0" anchor="ctr"/>
          <a:lstStyle/>
          <a:p>
            <a:pPr marL="0" indent="0" algn="ctr">
              <a:buNone/>
            </a:pPr>
            <a:r>
              <a:rPr lang="en-US" sz="950" dirty="0">
                <a:solidFill>
                  <a:srgbClr val="5B6B85"/>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a:t>
            </a:r>
            <a:r>
              <a:rPr lang="en-US" sz="950" b="1" dirty="0">
                <a:solidFill>
                  <a:srgbClr val="D6336C"/>
                </a:solidFill>
                <a:latin typeface="Calibri" panose="020F0502020204030204" pitchFamily="34" charset="0"/>
                <a:ea typeface="Calibri" panose="020F0502020204030204" pitchFamily="34" charset="-122"/>
                <a:cs typeface="Calibri" panose="020F0502020204030204" pitchFamily="34" charset="-120"/>
              </a:rPr>
              <a:t>1800 890 7526</a:t>
            </a:r>
            <a:endParaRPr lang="en-US" sz="950" dirty="0"/>
          </a:p>
        </p:txBody>
      </p:sp>
      <p:sp>
        <p:nvSpPr>
          <p:cNvPr id="6" name="Text 4"/>
          <p:cNvSpPr/>
          <p:nvPr/>
        </p:nvSpPr>
        <p:spPr>
          <a:xfrm>
            <a:off x="548640" y="868680"/>
            <a:ext cx="10058400" cy="292608"/>
          </a:xfrm>
          <a:prstGeom prst="rect">
            <a:avLst/>
          </a:prstGeom>
          <a:noFill/>
        </p:spPr>
        <p:txBody>
          <a:bodyPr wrap="square" lIns="0" tIns="0" rIns="0" bIns="0" rtlCol="0" anchor="ctr"/>
          <a:lstStyle/>
          <a:p>
            <a:pPr marL="0" indent="0">
              <a:buNone/>
            </a:pPr>
            <a:r>
              <a:rPr lang="en-US" sz="12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ACKNOWLEDGEMENTS</a:t>
            </a:r>
            <a:endParaRPr lang="en-US" sz="1200" dirty="0"/>
          </a:p>
        </p:txBody>
      </p:sp>
      <p:sp>
        <p:nvSpPr>
          <p:cNvPr id="7" name="Text 5"/>
          <p:cNvSpPr/>
          <p:nvPr/>
        </p:nvSpPr>
        <p:spPr>
          <a:xfrm>
            <a:off x="530352" y="1133856"/>
            <a:ext cx="11155680" cy="658368"/>
          </a:xfrm>
          <a:prstGeom prst="rect">
            <a:avLst/>
          </a:prstGeom>
          <a:noFill/>
        </p:spPr>
        <p:txBody>
          <a:bodyPr wrap="square" lIns="0" tIns="0" rIns="0" bIns="0" rtlCol="0" anchor="ctr"/>
          <a:lstStyle/>
          <a:p>
            <a:pPr marL="0" indent="0">
              <a:buNone/>
            </a:pPr>
            <a:r>
              <a:rPr lang="en-US" sz="3000" b="1" dirty="0">
                <a:solidFill>
                  <a:srgbClr val="0F1F3D"/>
                </a:solidFill>
                <a:latin typeface="Georgia" panose="02040502050405020303" pitchFamily="34" charset="0"/>
                <a:ea typeface="Georgia" panose="02040502050405020303" pitchFamily="34" charset="-122"/>
                <a:cs typeface="Georgia" panose="02040502050405020303" pitchFamily="34" charset="-120"/>
              </a:rPr>
              <a:t>Organizers of the Campaign</a:t>
            </a:r>
            <a:endParaRPr lang="en-US" sz="3000" dirty="0"/>
          </a:p>
        </p:txBody>
      </p:sp>
      <p:sp>
        <p:nvSpPr>
          <p:cNvPr id="8" name="Text 6"/>
          <p:cNvSpPr/>
          <p:nvPr/>
        </p:nvSpPr>
        <p:spPr>
          <a:xfrm>
            <a:off x="548640" y="1783080"/>
            <a:ext cx="10972800" cy="365760"/>
          </a:xfrm>
          <a:prstGeom prst="rect">
            <a:avLst/>
          </a:prstGeom>
          <a:noFill/>
        </p:spPr>
        <p:txBody>
          <a:bodyPr wrap="square" lIns="0" tIns="0" rIns="0" bIns="0" rtlCol="0" anchor="ctr"/>
          <a:lstStyle/>
          <a:p>
            <a:pPr marL="0" indent="0">
              <a:buNone/>
            </a:pPr>
            <a:r>
              <a:rPr lang="en-US" sz="1300" i="1" dirty="0">
                <a:solidFill>
                  <a:srgbClr val="5B6B85"/>
                </a:solidFill>
                <a:latin typeface="Calibri" panose="020F0502020204030204" pitchFamily="34" charset="0"/>
                <a:ea typeface="Calibri" panose="020F0502020204030204" pitchFamily="34" charset="-122"/>
                <a:cs typeface="Calibri" panose="020F0502020204030204" pitchFamily="34" charset="-120"/>
              </a:rPr>
              <a:t>With sincere thanks to our campaign leadership for their continued support of this initiative.</a:t>
            </a:r>
            <a:endParaRPr lang="en-US" sz="1300" dirty="0"/>
          </a:p>
        </p:txBody>
      </p:sp>
      <p:sp>
        <p:nvSpPr>
          <p:cNvPr id="9" name="Shape 7"/>
          <p:cNvSpPr/>
          <p:nvPr/>
        </p:nvSpPr>
        <p:spPr>
          <a:xfrm>
            <a:off x="548640" y="2423160"/>
            <a:ext cx="4765675" cy="2286000"/>
          </a:xfrm>
          <a:prstGeom prst="roundRect">
            <a:avLst>
              <a:gd name="adj" fmla="val 3200"/>
            </a:avLst>
          </a:prstGeom>
          <a:solidFill>
            <a:srgbClr val="EAF0FA"/>
          </a:solidFill>
          <a:effectLst>
            <a:outerShdw blurRad="76200" dist="25400" dir="5400000" algn="bl" rotWithShape="0">
              <a:srgbClr val="203864">
                <a:alpha val="18000"/>
              </a:srgbClr>
            </a:outerShdw>
          </a:effectLst>
        </p:spPr>
      </p:sp>
      <p:sp>
        <p:nvSpPr>
          <p:cNvPr id="10" name="Shape 8"/>
          <p:cNvSpPr/>
          <p:nvPr/>
        </p:nvSpPr>
        <p:spPr>
          <a:xfrm>
            <a:off x="868680" y="2788920"/>
            <a:ext cx="1005840" cy="1005840"/>
          </a:xfrm>
          <a:prstGeom prst="ellipse">
            <a:avLst/>
          </a:prstGeom>
          <a:solidFill>
            <a:srgbClr val="0F1F3D"/>
          </a:solidFill>
        </p:spPr>
      </p:sp>
      <p:sp>
        <p:nvSpPr>
          <p:cNvPr id="11" name="Text 9"/>
          <p:cNvSpPr/>
          <p:nvPr/>
        </p:nvSpPr>
        <p:spPr>
          <a:xfrm>
            <a:off x="868680" y="2788920"/>
            <a:ext cx="1005840" cy="1005840"/>
          </a:xfrm>
          <a:prstGeom prst="rect">
            <a:avLst/>
          </a:prstGeom>
          <a:noFill/>
        </p:spPr>
        <p:txBody>
          <a:bodyPr wrap="square" lIns="0" tIns="0" rIns="0" bIns="0" rtlCol="0" anchor="ctr"/>
          <a:lstStyle/>
          <a:p>
            <a:pPr marL="0" indent="0" algn="ctr">
              <a:buNone/>
            </a:pPr>
            <a:r>
              <a:rPr lang="en-US" sz="2200" b="1" dirty="0">
                <a:solidFill>
                  <a:srgbClr val="E4C766"/>
                </a:solidFill>
                <a:latin typeface="Georgia" panose="02040502050405020303" pitchFamily="34" charset="0"/>
                <a:ea typeface="Georgia" panose="02040502050405020303" pitchFamily="34" charset="-122"/>
                <a:cs typeface="Georgia" panose="02040502050405020303" pitchFamily="34" charset="-120"/>
              </a:rPr>
              <a:t>UK</a:t>
            </a:r>
            <a:endParaRPr lang="en-US" sz="2200" dirty="0"/>
          </a:p>
        </p:txBody>
      </p:sp>
      <p:sp>
        <p:nvSpPr>
          <p:cNvPr id="12" name="Text 10"/>
          <p:cNvSpPr/>
          <p:nvPr/>
        </p:nvSpPr>
        <p:spPr>
          <a:xfrm>
            <a:off x="2743200" y="2775585"/>
            <a:ext cx="3520440" cy="365760"/>
          </a:xfrm>
          <a:prstGeom prst="rect">
            <a:avLst/>
          </a:prstGeom>
          <a:noFill/>
        </p:spPr>
        <p:txBody>
          <a:bodyPr wrap="square" lIns="0" tIns="0" rIns="0" bIns="0" rtlCol="0" anchor="ctr"/>
          <a:lstStyle/>
          <a:p>
            <a:pPr marL="0" indent="0">
              <a:buNone/>
            </a:pPr>
            <a:r>
              <a:rPr lang="en-US" sz="1500" b="1" dirty="0">
                <a:solidFill>
                  <a:srgbClr val="0F1F3D"/>
                </a:solidFill>
                <a:latin typeface="Calibri" panose="020F0502020204030204" pitchFamily="34" charset="0"/>
                <a:ea typeface="Calibri" panose="020F0502020204030204" pitchFamily="34" charset="-122"/>
                <a:cs typeface="Calibri" panose="020F0502020204030204" pitchFamily="34" charset="-120"/>
              </a:rPr>
              <a:t>Umesh Kr. Singhania</a:t>
            </a:r>
            <a:endParaRPr lang="en-US" sz="1500" dirty="0"/>
          </a:p>
        </p:txBody>
      </p:sp>
      <p:sp>
        <p:nvSpPr>
          <p:cNvPr id="13" name="Shape 11"/>
          <p:cNvSpPr/>
          <p:nvPr/>
        </p:nvSpPr>
        <p:spPr>
          <a:xfrm>
            <a:off x="2865120" y="3258185"/>
            <a:ext cx="1554480" cy="329184"/>
          </a:xfrm>
          <a:prstGeom prst="roundRect">
            <a:avLst>
              <a:gd name="adj" fmla="val 50000"/>
            </a:avLst>
          </a:prstGeom>
          <a:solidFill>
            <a:srgbClr val="D6336C"/>
          </a:solidFill>
        </p:spPr>
      </p:sp>
      <p:sp>
        <p:nvSpPr>
          <p:cNvPr id="14" name="Text 12"/>
          <p:cNvSpPr/>
          <p:nvPr/>
        </p:nvSpPr>
        <p:spPr>
          <a:xfrm>
            <a:off x="2865120" y="3257550"/>
            <a:ext cx="1554480" cy="329184"/>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Secretary</a:t>
            </a:r>
            <a:endParaRPr lang="en-US" sz="1000" dirty="0"/>
          </a:p>
        </p:txBody>
      </p:sp>
      <p:sp>
        <p:nvSpPr>
          <p:cNvPr id="15" name="Text 13"/>
          <p:cNvSpPr/>
          <p:nvPr/>
        </p:nvSpPr>
        <p:spPr>
          <a:xfrm>
            <a:off x="2884170" y="3634740"/>
            <a:ext cx="3520440" cy="365760"/>
          </a:xfrm>
          <a:prstGeom prst="rect">
            <a:avLst/>
          </a:prstGeom>
          <a:noFill/>
        </p:spPr>
        <p:txBody>
          <a:bodyPr wrap="square" lIns="0" tIns="0" rIns="0" bIns="0" rtlCol="0" anchor="ctr"/>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Mob.: 9415332498</a:t>
            </a:r>
            <a:endParaRPr lang="en-US" sz="1100" dirty="0"/>
          </a:p>
        </p:txBody>
      </p:sp>
      <p:sp>
        <p:nvSpPr>
          <p:cNvPr id="16" name="Shape 14"/>
          <p:cNvSpPr/>
          <p:nvPr/>
        </p:nvSpPr>
        <p:spPr>
          <a:xfrm>
            <a:off x="6263640" y="2423160"/>
            <a:ext cx="4862830" cy="2286000"/>
          </a:xfrm>
          <a:prstGeom prst="roundRect">
            <a:avLst>
              <a:gd name="adj" fmla="val 3200"/>
            </a:avLst>
          </a:prstGeom>
          <a:solidFill>
            <a:srgbClr val="EAF0FA"/>
          </a:solidFill>
          <a:effectLst>
            <a:outerShdw blurRad="76200" dist="25400" dir="5400000" algn="bl" rotWithShape="0">
              <a:srgbClr val="203864">
                <a:alpha val="18000"/>
              </a:srgbClr>
            </a:outerShdw>
          </a:effectLst>
        </p:spPr>
      </p:sp>
      <p:sp>
        <p:nvSpPr>
          <p:cNvPr id="17" name="Shape 15"/>
          <p:cNvSpPr/>
          <p:nvPr/>
        </p:nvSpPr>
        <p:spPr>
          <a:xfrm>
            <a:off x="6583680" y="2788920"/>
            <a:ext cx="1005840" cy="1005840"/>
          </a:xfrm>
          <a:prstGeom prst="ellipse">
            <a:avLst/>
          </a:prstGeom>
          <a:solidFill>
            <a:srgbClr val="0F1F3D"/>
          </a:solidFill>
        </p:spPr>
      </p:sp>
      <p:sp>
        <p:nvSpPr>
          <p:cNvPr id="18" name="Text 16"/>
          <p:cNvSpPr/>
          <p:nvPr/>
        </p:nvSpPr>
        <p:spPr>
          <a:xfrm>
            <a:off x="6583680" y="2788920"/>
            <a:ext cx="1005840" cy="1005840"/>
          </a:xfrm>
          <a:prstGeom prst="rect">
            <a:avLst/>
          </a:prstGeom>
          <a:noFill/>
        </p:spPr>
        <p:txBody>
          <a:bodyPr wrap="square" lIns="0" tIns="0" rIns="0" bIns="0" rtlCol="0" anchor="ctr"/>
          <a:lstStyle/>
          <a:p>
            <a:pPr marL="0" indent="0" algn="ctr">
              <a:buNone/>
            </a:pPr>
            <a:r>
              <a:rPr lang="en-US" sz="2200" b="1" dirty="0">
                <a:solidFill>
                  <a:srgbClr val="E4C766"/>
                </a:solidFill>
                <a:latin typeface="Georgia" panose="02040502050405020303" pitchFamily="34" charset="0"/>
                <a:ea typeface="Georgia" panose="02040502050405020303" pitchFamily="34" charset="-122"/>
                <a:cs typeface="Georgia" panose="02040502050405020303" pitchFamily="34" charset="-120"/>
              </a:rPr>
              <a:t>RF</a:t>
            </a:r>
            <a:endParaRPr lang="en-US" sz="2200" dirty="0"/>
          </a:p>
        </p:txBody>
      </p:sp>
      <p:sp>
        <p:nvSpPr>
          <p:cNvPr id="19" name="Text 17"/>
          <p:cNvSpPr/>
          <p:nvPr/>
        </p:nvSpPr>
        <p:spPr>
          <a:xfrm>
            <a:off x="8511540" y="2834640"/>
            <a:ext cx="3520440" cy="365760"/>
          </a:xfrm>
          <a:prstGeom prst="rect">
            <a:avLst/>
          </a:prstGeom>
          <a:noFill/>
        </p:spPr>
        <p:txBody>
          <a:bodyPr wrap="square" lIns="0" tIns="0" rIns="0" bIns="0" rtlCol="0" anchor="ctr"/>
          <a:lstStyle/>
          <a:p>
            <a:pPr marL="0" indent="0">
              <a:buNone/>
            </a:pPr>
            <a:r>
              <a:rPr lang="en-US" sz="1500" b="1" dirty="0">
                <a:solidFill>
                  <a:srgbClr val="0F1F3D"/>
                </a:solidFill>
                <a:latin typeface="Calibri" panose="020F0502020204030204" pitchFamily="34" charset="0"/>
                <a:ea typeface="Calibri" panose="020F0502020204030204" pitchFamily="34" charset="-122"/>
                <a:cs typeface="Calibri" panose="020F0502020204030204" pitchFamily="34" charset="-120"/>
              </a:rPr>
              <a:t>Rasendu Fogla</a:t>
            </a:r>
            <a:endParaRPr lang="en-US" sz="1500" dirty="0"/>
          </a:p>
        </p:txBody>
      </p:sp>
      <p:sp>
        <p:nvSpPr>
          <p:cNvPr id="20" name="Shape 18"/>
          <p:cNvSpPr/>
          <p:nvPr/>
        </p:nvSpPr>
        <p:spPr>
          <a:xfrm>
            <a:off x="8402320" y="3337560"/>
            <a:ext cx="1554480" cy="329184"/>
          </a:xfrm>
          <a:prstGeom prst="roundRect">
            <a:avLst>
              <a:gd name="adj" fmla="val 50000"/>
            </a:avLst>
          </a:prstGeom>
          <a:solidFill>
            <a:srgbClr val="D6336C"/>
          </a:solidFill>
        </p:spPr>
      </p:sp>
      <p:sp>
        <p:nvSpPr>
          <p:cNvPr id="21" name="Text 19"/>
          <p:cNvSpPr/>
          <p:nvPr/>
        </p:nvSpPr>
        <p:spPr>
          <a:xfrm>
            <a:off x="8402320" y="3337560"/>
            <a:ext cx="1554480" cy="329184"/>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Joint Secretary</a:t>
            </a:r>
            <a:endParaRPr lang="en-US" sz="1000" dirty="0"/>
          </a:p>
        </p:txBody>
      </p:sp>
      <p:sp>
        <p:nvSpPr>
          <p:cNvPr id="22" name="Text 20"/>
          <p:cNvSpPr/>
          <p:nvPr/>
        </p:nvSpPr>
        <p:spPr>
          <a:xfrm>
            <a:off x="8402320" y="3703320"/>
            <a:ext cx="3520440" cy="365760"/>
          </a:xfrm>
          <a:prstGeom prst="rect">
            <a:avLst/>
          </a:prstGeom>
          <a:noFill/>
        </p:spPr>
        <p:txBody>
          <a:bodyPr wrap="square" lIns="0" tIns="0" rIns="0" bIns="0" rtlCol="0" anchor="ctr"/>
          <a:lstStyle/>
          <a:p>
            <a:pPr marL="0" indent="0">
              <a:buNone/>
            </a:pPr>
            <a:r>
              <a:rPr lang="en-US" sz="1100" dirty="0">
                <a:solidFill>
                  <a:srgbClr val="5B6B85"/>
                </a:solidFill>
                <a:latin typeface="Calibri" panose="020F0502020204030204" pitchFamily="34" charset="0"/>
                <a:ea typeface="Calibri" panose="020F0502020204030204" pitchFamily="34" charset="-122"/>
                <a:cs typeface="Calibri" panose="020F0502020204030204" pitchFamily="34" charset="-120"/>
              </a:rPr>
              <a:t>Mob.: 9415331192</a:t>
            </a:r>
            <a:endParaRPr lang="en-US" sz="1100" dirty="0"/>
          </a:p>
        </p:txBody>
      </p:sp>
      <p:sp>
        <p:nvSpPr>
          <p:cNvPr id="23" name="Shape 21"/>
          <p:cNvSpPr/>
          <p:nvPr/>
        </p:nvSpPr>
        <p:spPr>
          <a:xfrm>
            <a:off x="548640" y="5212080"/>
            <a:ext cx="11064240" cy="868680"/>
          </a:xfrm>
          <a:prstGeom prst="roundRect">
            <a:avLst>
              <a:gd name="adj" fmla="val 8421"/>
            </a:avLst>
          </a:prstGeom>
          <a:solidFill>
            <a:srgbClr val="0F1F3D"/>
          </a:solidFill>
          <a:effectLst>
            <a:outerShdw blurRad="76200" dist="25400" dir="5400000" algn="bl" rotWithShape="0">
              <a:srgbClr val="203864">
                <a:alpha val="18000"/>
              </a:srgbClr>
            </a:outerShdw>
          </a:effectLst>
        </p:spPr>
      </p:sp>
      <p:sp>
        <p:nvSpPr>
          <p:cNvPr id="24" name="Text 22"/>
          <p:cNvSpPr/>
          <p:nvPr/>
        </p:nvSpPr>
        <p:spPr>
          <a:xfrm>
            <a:off x="822960" y="5212080"/>
            <a:ext cx="10515600" cy="868680"/>
          </a:xfrm>
          <a:prstGeom prst="rect">
            <a:avLst/>
          </a:prstGeom>
          <a:noFill/>
        </p:spPr>
        <p:txBody>
          <a:bodyPr wrap="square" lIns="0" tIns="0" rIns="0" bIns="0" rtlCol="0" anchor="ctr"/>
          <a:lstStyle/>
          <a:p>
            <a:pPr marL="0" indent="0" algn="ctr">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For campaign coordination or administrative queries, please reach out to the Organizers above.</a:t>
            </a:r>
            <a:endParaRPr lang="en-US" sz="1250" dirty="0"/>
          </a:p>
        </p:txBody>
      </p:sp>
      <p:sp>
        <p:nvSpPr>
          <p:cNvPr id="33" name="Shape 0"/>
          <p:cNvSpPr/>
          <p:nvPr/>
        </p:nvSpPr>
        <p:spPr>
          <a:xfrm>
            <a:off x="411480" y="292608"/>
            <a:ext cx="457200" cy="457200"/>
          </a:xfrm>
          <a:prstGeom prst="ellipse">
            <a:avLst/>
          </a:prstGeom>
          <a:solidFill>
            <a:srgbClr val="0F1F3D"/>
          </a:solidFill>
          <a:ln w="19050">
            <a:solidFill>
              <a:srgbClr val="C9A227"/>
            </a:solidFill>
            <a:prstDash val="solid"/>
          </a:ln>
        </p:spPr>
      </p:sp>
      <p:sp>
        <p:nvSpPr>
          <p:cNvPr id="34" name="Text 1"/>
          <p:cNvSpPr/>
          <p:nvPr/>
        </p:nvSpPr>
        <p:spPr>
          <a:xfrm>
            <a:off x="411480" y="292608"/>
            <a:ext cx="457200" cy="457200"/>
          </a:xfrm>
          <a:prstGeom prst="rect">
            <a:avLst/>
          </a:prstGeom>
          <a:noFill/>
        </p:spPr>
        <p:txBody>
          <a:bodyPr wrap="square" lIns="0" tIns="0" rIns="0" bIns="0" rtlCol="0" anchor="ctr"/>
          <a:lstStyle/>
          <a:p>
            <a:pPr marL="0" indent="0" algn="ctr">
              <a:buNone/>
            </a:pPr>
            <a:r>
              <a:rPr lang="en-US" sz="1700" b="1" dirty="0">
                <a:solidFill>
                  <a:srgbClr val="C9A227"/>
                </a:solidFill>
                <a:latin typeface="Georgia" panose="02040502050405020303" pitchFamily="34" charset="0"/>
                <a:ea typeface="Georgia" panose="02040502050405020303" pitchFamily="34" charset="-122"/>
                <a:cs typeface="Georgia" panose="02040502050405020303" pitchFamily="34" charset="-120"/>
              </a:rPr>
              <a:t>H</a:t>
            </a:r>
            <a:endParaRPr lang="en-US" sz="1700" dirty="0"/>
          </a:p>
        </p:txBody>
      </p:sp>
      <p:sp>
        <p:nvSpPr>
          <p:cNvPr id="35" name="Text 2"/>
          <p:cNvSpPr/>
          <p:nvPr/>
        </p:nvSpPr>
        <p:spPr>
          <a:xfrm>
            <a:off x="1006475" y="300355"/>
            <a:ext cx="10679430" cy="403860"/>
          </a:xfrm>
          <a:prstGeom prst="rect">
            <a:avLst/>
          </a:prstGeom>
          <a:noFill/>
        </p:spPr>
        <p:txBody>
          <a:bodyPr wrap="square" lIns="0" tIns="0" rIns="0" bIns="0" rtlCol="0" anchor="ctr"/>
          <a:lstStyle/>
          <a:p>
            <a:pPr marL="0" indent="0">
              <a:buNone/>
            </a:pPr>
            <a:r>
              <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rPr>
              <a:t>HANUMAN PRASAD PODDAR CANCER HOSPITAL &amp; RESEARCH INSTITUTE</a:t>
            </a:r>
            <a:endParaRPr lang="en-US" sz="1300" b="1" kern="0" spc="150" dirty="0">
              <a:solidFill>
                <a:srgbClr val="FF0000"/>
              </a:solidFill>
              <a:latin typeface="Calibri" panose="020F0502020204030204" pitchFamily="34" charset="0"/>
              <a:ea typeface="Calibri" panose="020F0502020204030204" pitchFamily="34" charset="-122"/>
              <a:cs typeface="Calibri" panose="020F0502020204030204" pitchFamily="34" charset="-120"/>
              <a:sym typeface="+mn-ea"/>
            </a:endParaRPr>
          </a:p>
        </p:txBody>
      </p:sp>
      <p:pic>
        <p:nvPicPr>
          <p:cNvPr id="36" name="Picture 35" descr="hppchri"/>
          <p:cNvPicPr>
            <a:picLocks noChangeAspect="1"/>
          </p:cNvPicPr>
          <p:nvPr/>
        </p:nvPicPr>
        <p:blipFill>
          <a:blip r:embed="rId1"/>
          <a:stretch>
            <a:fillRect/>
          </a:stretch>
        </p:blipFill>
        <p:spPr>
          <a:xfrm>
            <a:off x="210185" y="100965"/>
            <a:ext cx="695325" cy="695325"/>
          </a:xfrm>
          <a:prstGeom prst="rect">
            <a:avLst/>
          </a:prstGeom>
        </p:spPr>
      </p:pic>
      <p:pic>
        <p:nvPicPr>
          <p:cNvPr id="29" name="Picture 28"/>
          <p:cNvPicPr>
            <a:picLocks noChangeAspect="1"/>
          </p:cNvPicPr>
          <p:nvPr/>
        </p:nvPicPr>
        <p:blipFill>
          <a:blip r:embed="rId2"/>
          <a:srcRect l="28179" t="8700" r="14251" b="45881"/>
          <a:stretch>
            <a:fillRect/>
          </a:stretch>
        </p:blipFill>
        <p:spPr>
          <a:xfrm>
            <a:off x="706120" y="2616200"/>
            <a:ext cx="1976120" cy="1871980"/>
          </a:xfrm>
          <a:prstGeom prst="rect">
            <a:avLst/>
          </a:prstGeom>
        </p:spPr>
      </p:pic>
      <p:pic>
        <p:nvPicPr>
          <p:cNvPr id="28" name="Picture 27"/>
          <p:cNvPicPr>
            <a:picLocks noChangeAspect="1"/>
          </p:cNvPicPr>
          <p:nvPr/>
        </p:nvPicPr>
        <p:blipFill>
          <a:blip r:embed="rId3"/>
          <a:stretch>
            <a:fillRect/>
          </a:stretch>
        </p:blipFill>
        <p:spPr>
          <a:xfrm>
            <a:off x="6347460" y="2657475"/>
            <a:ext cx="1900555" cy="18726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5317236" y="594360"/>
            <a:ext cx="1554480" cy="1554480"/>
          </a:xfrm>
          <a:prstGeom prst="ellipse">
            <a:avLst/>
          </a:prstGeom>
          <a:solidFill>
            <a:srgbClr val="FFFFFF"/>
          </a:solidFill>
          <a:ln w="19050">
            <a:solidFill>
              <a:srgbClr val="C9A227"/>
            </a:solidFill>
            <a:prstDash val="solid"/>
          </a:ln>
        </p:spPr>
      </p:sp>
      <p:sp>
        <p:nvSpPr>
          <p:cNvPr id="3" name="Text 1"/>
          <p:cNvSpPr/>
          <p:nvPr/>
        </p:nvSpPr>
        <p:spPr>
          <a:xfrm>
            <a:off x="5317236" y="594360"/>
            <a:ext cx="1554480" cy="1554480"/>
          </a:xfrm>
          <a:prstGeom prst="rect">
            <a:avLst/>
          </a:prstGeom>
          <a:noFill/>
        </p:spPr>
        <p:txBody>
          <a:bodyPr wrap="square" lIns="0" tIns="0" rIns="0" bIns="0" rtlCol="0" anchor="ctr"/>
          <a:lstStyle/>
          <a:p>
            <a:pPr marL="0" indent="0" algn="ctr">
              <a:buNone/>
            </a:pPr>
            <a:r>
              <a:rPr lang="en-US" sz="5780" b="1" dirty="0">
                <a:solidFill>
                  <a:srgbClr val="0F1F3D"/>
                </a:solidFill>
                <a:latin typeface="Georgia" panose="02040502050405020303" pitchFamily="34" charset="0"/>
                <a:ea typeface="Georgia" panose="02040502050405020303" pitchFamily="34" charset="-122"/>
                <a:cs typeface="Georgia" panose="02040502050405020303" pitchFamily="34" charset="-120"/>
              </a:rPr>
              <a:t>H</a:t>
            </a:r>
            <a:endParaRPr lang="en-US" sz="5780" dirty="0"/>
          </a:p>
        </p:txBody>
      </p:sp>
      <p:sp>
        <p:nvSpPr>
          <p:cNvPr id="4" name="Text 2"/>
          <p:cNvSpPr/>
          <p:nvPr/>
        </p:nvSpPr>
        <p:spPr>
          <a:xfrm>
            <a:off x="0" y="2286000"/>
            <a:ext cx="12188952" cy="822960"/>
          </a:xfrm>
          <a:prstGeom prst="rect">
            <a:avLst/>
          </a:prstGeom>
          <a:noFill/>
        </p:spPr>
        <p:txBody>
          <a:bodyPr wrap="square" lIns="0" tIns="0" rIns="0" bIns="0" rtlCol="0" anchor="ctr"/>
          <a:lstStyle/>
          <a:p>
            <a:pPr marL="0" indent="0" algn="ctr">
              <a:buNone/>
            </a:pPr>
            <a:r>
              <a:rPr lang="en-US" sz="4000" b="1" dirty="0">
                <a:solidFill>
                  <a:srgbClr val="FFFFFF"/>
                </a:solidFill>
                <a:latin typeface="Georgia" panose="02040502050405020303" pitchFamily="34" charset="0"/>
                <a:ea typeface="Georgia" panose="02040502050405020303" pitchFamily="34" charset="-122"/>
                <a:cs typeface="Georgia" panose="02040502050405020303" pitchFamily="34" charset="-120"/>
              </a:rPr>
              <a:t>Thank You</a:t>
            </a:r>
            <a:endParaRPr lang="en-US" sz="4000" dirty="0"/>
          </a:p>
        </p:txBody>
      </p:sp>
      <p:sp>
        <p:nvSpPr>
          <p:cNvPr id="5" name="Text 3"/>
          <p:cNvSpPr/>
          <p:nvPr/>
        </p:nvSpPr>
        <p:spPr>
          <a:xfrm>
            <a:off x="0" y="3063240"/>
            <a:ext cx="12188952" cy="457200"/>
          </a:xfrm>
          <a:prstGeom prst="rect">
            <a:avLst/>
          </a:prstGeom>
          <a:noFill/>
        </p:spPr>
        <p:txBody>
          <a:bodyPr wrap="square" lIns="0" tIns="0" rIns="0" bIns="0" rtlCol="0" anchor="ctr"/>
          <a:lstStyle/>
          <a:p>
            <a:pPr marL="0" indent="0" algn="ctr">
              <a:buNone/>
            </a:pPr>
            <a:r>
              <a:rPr lang="en-US" sz="1700" i="1" dirty="0">
                <a:solidFill>
                  <a:srgbClr val="E4C766"/>
                </a:solidFill>
                <a:latin typeface="Georgia" panose="02040502050405020303" pitchFamily="34" charset="0"/>
                <a:ea typeface="Georgia" panose="02040502050405020303" pitchFamily="34" charset="-122"/>
                <a:cs typeface="Georgia" panose="02040502050405020303" pitchFamily="34" charset="-120"/>
              </a:rPr>
              <a:t>Know.  Check.  Act.  Don't Delay.</a:t>
            </a:r>
            <a:endParaRPr lang="en-US" sz="1700" dirty="0"/>
          </a:p>
        </p:txBody>
      </p:sp>
      <p:sp>
        <p:nvSpPr>
          <p:cNvPr id="6" name="Shape 4"/>
          <p:cNvSpPr/>
          <p:nvPr/>
        </p:nvSpPr>
        <p:spPr>
          <a:xfrm>
            <a:off x="1280160" y="3840480"/>
            <a:ext cx="9601200" cy="1828800"/>
          </a:xfrm>
          <a:prstGeom prst="roundRect">
            <a:avLst>
              <a:gd name="adj" fmla="val 4000"/>
            </a:avLst>
          </a:prstGeom>
          <a:solidFill>
            <a:srgbClr val="16294D"/>
          </a:solidFill>
        </p:spPr>
      </p:sp>
      <p:sp>
        <p:nvSpPr>
          <p:cNvPr id="7" name="Text 5"/>
          <p:cNvSpPr/>
          <p:nvPr/>
        </p:nvSpPr>
        <p:spPr>
          <a:xfrm>
            <a:off x="1554480" y="3977640"/>
            <a:ext cx="9052560" cy="274320"/>
          </a:xfrm>
          <a:prstGeom prst="rect">
            <a:avLst/>
          </a:prstGeom>
          <a:noFill/>
        </p:spPr>
        <p:txBody>
          <a:bodyPr wrap="square" lIns="0" tIns="0" rIns="0" bIns="0" rtlCol="0" anchor="ctr"/>
          <a:lstStyle/>
          <a:p>
            <a:pPr marL="0" indent="0" algn="ctr">
              <a:buNone/>
            </a:pPr>
            <a:r>
              <a:rPr lang="en-US" sz="1100" b="1" kern="0" spc="200" dirty="0">
                <a:solidFill>
                  <a:srgbClr val="C9A227"/>
                </a:solidFill>
                <a:latin typeface="Calibri" panose="020F0502020204030204" pitchFamily="34" charset="0"/>
                <a:ea typeface="Calibri" panose="020F0502020204030204" pitchFamily="34" charset="-122"/>
                <a:cs typeface="Calibri" panose="020F0502020204030204" pitchFamily="34" charset="-120"/>
              </a:rPr>
              <a:t>CONTACT US</a:t>
            </a:r>
            <a:endParaRPr lang="en-US" sz="1100" dirty="0"/>
          </a:p>
        </p:txBody>
      </p:sp>
      <p:sp>
        <p:nvSpPr>
          <p:cNvPr id="10" name="Text 8"/>
          <p:cNvSpPr/>
          <p:nvPr/>
        </p:nvSpPr>
        <p:spPr>
          <a:xfrm>
            <a:off x="1554480" y="4354830"/>
            <a:ext cx="9052560" cy="274320"/>
          </a:xfrm>
          <a:prstGeom prst="rect">
            <a:avLst/>
          </a:prstGeom>
          <a:noFill/>
        </p:spPr>
        <p:txBody>
          <a:bodyPr wrap="square" lIns="0" tIns="0" rIns="0" bIns="0" rtlCol="0" anchor="ctr"/>
          <a:lstStyle/>
          <a:p>
            <a:pPr marL="0" indent="0" algn="ctr">
              <a:buNone/>
            </a:pPr>
            <a:r>
              <a:rPr lang="en-US" sz="1000" dirty="0">
                <a:solidFill>
                  <a:srgbClr val="C7D2E6"/>
                </a:solidFill>
                <a:latin typeface="Calibri" panose="020F0502020204030204" pitchFamily="34" charset="0"/>
                <a:ea typeface="Calibri" panose="020F0502020204030204" pitchFamily="34" charset="-122"/>
                <a:cs typeface="Calibri" panose="020F0502020204030204" pitchFamily="34" charset="-120"/>
              </a:rPr>
              <a:t>Cancer-Related Information &amp; Assistance — Toll-Free Helpline</a:t>
            </a:r>
            <a:endParaRPr lang="en-US" sz="1000" dirty="0"/>
          </a:p>
        </p:txBody>
      </p:sp>
      <p:sp>
        <p:nvSpPr>
          <p:cNvPr id="11" name="Shape 9"/>
          <p:cNvSpPr/>
          <p:nvPr/>
        </p:nvSpPr>
        <p:spPr>
          <a:xfrm>
            <a:off x="4631436" y="4808982"/>
            <a:ext cx="2926080" cy="457200"/>
          </a:xfrm>
          <a:prstGeom prst="roundRect">
            <a:avLst>
              <a:gd name="adj" fmla="val 12000"/>
            </a:avLst>
          </a:prstGeom>
          <a:solidFill>
            <a:srgbClr val="D6336C"/>
          </a:solidFill>
        </p:spPr>
      </p:sp>
      <p:sp>
        <p:nvSpPr>
          <p:cNvPr id="12" name="Text 10"/>
          <p:cNvSpPr/>
          <p:nvPr/>
        </p:nvSpPr>
        <p:spPr>
          <a:xfrm>
            <a:off x="4631436" y="4808982"/>
            <a:ext cx="292608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1800 890 7526</a:t>
            </a:r>
            <a:endParaRPr lang="en-US" sz="1500" dirty="0"/>
          </a:p>
        </p:txBody>
      </p:sp>
      <p:sp>
        <p:nvSpPr>
          <p:cNvPr id="13" name="Text 11"/>
          <p:cNvSpPr/>
          <p:nvPr/>
        </p:nvSpPr>
        <p:spPr>
          <a:xfrm>
            <a:off x="0" y="6126480"/>
            <a:ext cx="12188952" cy="365760"/>
          </a:xfrm>
          <a:prstGeom prst="rect">
            <a:avLst/>
          </a:prstGeom>
          <a:noFill/>
        </p:spPr>
        <p:txBody>
          <a:bodyPr wrap="square" lIns="0" tIns="0" rIns="0" bIns="0" rtlCol="0" anchor="ctr"/>
          <a:lstStyle/>
          <a:p>
            <a:pPr marL="0" indent="0" algn="ctr">
              <a:buNone/>
            </a:pPr>
            <a:r>
              <a:rPr lang="en-US" sz="1100" dirty="0">
                <a:solidFill>
                  <a:srgbClr val="9FB0CC"/>
                </a:solidFill>
                <a:latin typeface="Calibri" panose="020F0502020204030204" pitchFamily="34" charset="0"/>
                <a:ea typeface="Calibri" panose="020F0502020204030204" pitchFamily="34" charset="-122"/>
                <a:cs typeface="Calibri" panose="020F0502020204030204" pitchFamily="34" charset="-120"/>
              </a:rPr>
              <a:t>Hanuman Prasad Poddar Cancer Hospital &amp; Research Institute, Gorakhpur</a:t>
            </a:r>
            <a:endParaRPr lang="en-US" sz="1100" dirty="0"/>
          </a:p>
        </p:txBody>
      </p:sp>
      <p:pic>
        <p:nvPicPr>
          <p:cNvPr id="36" name="Picture 35" descr="hppchri"/>
          <p:cNvPicPr>
            <a:picLocks noChangeAspect="1"/>
          </p:cNvPicPr>
          <p:nvPr/>
        </p:nvPicPr>
        <p:blipFill>
          <a:blip r:embed="rId1"/>
          <a:stretch>
            <a:fillRect/>
          </a:stretch>
        </p:blipFill>
        <p:spPr>
          <a:xfrm>
            <a:off x="5317490" y="482600"/>
            <a:ext cx="1746250" cy="1746250"/>
          </a:xfrm>
          <a:prstGeom prst="rect">
            <a:avLst/>
          </a:prstGeom>
        </p:spPr>
      </p:pic>
      <p:pic>
        <p:nvPicPr>
          <p:cNvPr id="15" name="Picture 14" descr="logo golden year"/>
          <p:cNvPicPr>
            <a:picLocks noChangeAspect="1"/>
          </p:cNvPicPr>
          <p:nvPr/>
        </p:nvPicPr>
        <p:blipFill>
          <a:blip r:embed="rId2"/>
          <a:stretch>
            <a:fillRect/>
          </a:stretch>
        </p:blipFill>
        <p:spPr>
          <a:xfrm>
            <a:off x="0" y="-24765"/>
            <a:ext cx="1584960" cy="1586230"/>
          </a:xfrm>
          <a:prstGeom prst="rect">
            <a:avLst/>
          </a:prstGeom>
        </p:spPr>
      </p:pic>
      <p:pic>
        <p:nvPicPr>
          <p:cNvPr id="14" name="Picture 13" descr="youtbe"/>
          <p:cNvPicPr>
            <a:picLocks noChangeAspect="1"/>
          </p:cNvPicPr>
          <p:nvPr/>
        </p:nvPicPr>
        <p:blipFill>
          <a:blip r:embed="rId3"/>
          <a:stretch>
            <a:fillRect/>
          </a:stretch>
        </p:blipFill>
        <p:spPr>
          <a:xfrm>
            <a:off x="1438275" y="3833495"/>
            <a:ext cx="712470" cy="671195"/>
          </a:xfrm>
          <a:prstGeom prst="rect">
            <a:avLst/>
          </a:prstGeom>
        </p:spPr>
      </p:pic>
      <p:pic>
        <p:nvPicPr>
          <p:cNvPr id="16" name="Picture 15" descr="instagram"/>
          <p:cNvPicPr>
            <a:picLocks noChangeAspect="1"/>
          </p:cNvPicPr>
          <p:nvPr/>
        </p:nvPicPr>
        <p:blipFill>
          <a:blip r:embed="rId4"/>
          <a:stretch>
            <a:fillRect/>
          </a:stretch>
        </p:blipFill>
        <p:spPr>
          <a:xfrm>
            <a:off x="2472690" y="3833495"/>
            <a:ext cx="675640" cy="641350"/>
          </a:xfrm>
          <a:prstGeom prst="rect">
            <a:avLst/>
          </a:prstGeom>
        </p:spPr>
      </p:pic>
      <p:sp>
        <p:nvSpPr>
          <p:cNvPr id="19" name="Text Box 18"/>
          <p:cNvSpPr txBox="1"/>
          <p:nvPr/>
        </p:nvSpPr>
        <p:spPr>
          <a:xfrm>
            <a:off x="1280160" y="4509770"/>
            <a:ext cx="1029335" cy="342265"/>
          </a:xfrm>
          <a:prstGeom prst="rect">
            <a:avLst/>
          </a:prstGeom>
          <a:noFill/>
        </p:spPr>
        <p:txBody>
          <a:bodyPr wrap="square" rtlCol="0">
            <a:noAutofit/>
          </a:bodyPr>
          <a:p>
            <a:r>
              <a:rPr lang="en-IN" altLang="hi-IN">
                <a:solidFill>
                  <a:schemeClr val="bg1"/>
                </a:solidFill>
              </a:rPr>
              <a:t>YouTube</a:t>
            </a:r>
            <a:endParaRPr lang="en-IN" altLang="hi-IN">
              <a:solidFill>
                <a:schemeClr val="bg1"/>
              </a:solidFill>
            </a:endParaRPr>
          </a:p>
        </p:txBody>
      </p:sp>
      <p:sp>
        <p:nvSpPr>
          <p:cNvPr id="20" name="Text Box 19"/>
          <p:cNvSpPr txBox="1"/>
          <p:nvPr/>
        </p:nvSpPr>
        <p:spPr>
          <a:xfrm>
            <a:off x="2309495" y="4495165"/>
            <a:ext cx="1220470" cy="304800"/>
          </a:xfrm>
          <a:prstGeom prst="rect">
            <a:avLst/>
          </a:prstGeom>
          <a:noFill/>
        </p:spPr>
        <p:txBody>
          <a:bodyPr wrap="square" rtlCol="0">
            <a:noAutofit/>
          </a:bodyPr>
          <a:p>
            <a:r>
              <a:rPr lang="en-IN" altLang="hi-IN">
                <a:solidFill>
                  <a:schemeClr val="bg1"/>
                </a:solidFill>
              </a:rPr>
              <a:t>Instagram</a:t>
            </a:r>
            <a:endParaRPr lang="en-IN" altLang="hi-IN">
              <a:solidFill>
                <a:schemeClr val="bg1"/>
              </a:solidFill>
            </a:endParaRPr>
          </a:p>
        </p:txBody>
      </p:sp>
      <p:pic>
        <p:nvPicPr>
          <p:cNvPr id="17" name="Picture 16" descr="fcaebook"/>
          <p:cNvPicPr>
            <a:picLocks noChangeAspect="1"/>
          </p:cNvPicPr>
          <p:nvPr/>
        </p:nvPicPr>
        <p:blipFill>
          <a:blip r:embed="rId5"/>
          <a:stretch>
            <a:fillRect/>
          </a:stretch>
        </p:blipFill>
        <p:spPr>
          <a:xfrm>
            <a:off x="10019030" y="3833495"/>
            <a:ext cx="626110" cy="607060"/>
          </a:xfrm>
          <a:prstGeom prst="rect">
            <a:avLst/>
          </a:prstGeom>
        </p:spPr>
      </p:pic>
      <p:pic>
        <p:nvPicPr>
          <p:cNvPr id="18" name="Picture 17" descr="whatsapp"/>
          <p:cNvPicPr>
            <a:picLocks noChangeAspect="1"/>
          </p:cNvPicPr>
          <p:nvPr/>
        </p:nvPicPr>
        <p:blipFill>
          <a:blip r:embed="rId6"/>
          <a:stretch>
            <a:fillRect/>
          </a:stretch>
        </p:blipFill>
        <p:spPr>
          <a:xfrm>
            <a:off x="9121775" y="3833495"/>
            <a:ext cx="642620" cy="615315"/>
          </a:xfrm>
          <a:prstGeom prst="rect">
            <a:avLst/>
          </a:prstGeom>
        </p:spPr>
      </p:pic>
      <p:sp>
        <p:nvSpPr>
          <p:cNvPr id="21" name="Text Box 20"/>
          <p:cNvSpPr txBox="1"/>
          <p:nvPr/>
        </p:nvSpPr>
        <p:spPr>
          <a:xfrm>
            <a:off x="8810625" y="4488180"/>
            <a:ext cx="4064000" cy="368300"/>
          </a:xfrm>
          <a:prstGeom prst="rect">
            <a:avLst/>
          </a:prstGeom>
          <a:noFill/>
        </p:spPr>
        <p:txBody>
          <a:bodyPr wrap="square" rtlCol="0">
            <a:spAutoFit/>
          </a:bodyPr>
          <a:p>
            <a:r>
              <a:rPr lang="en-IN" altLang="hi-IN">
                <a:solidFill>
                  <a:schemeClr val="bg1"/>
                </a:solidFill>
              </a:rPr>
              <a:t>WhatsApp</a:t>
            </a:r>
            <a:endParaRPr lang="en-IN" altLang="hi-IN">
              <a:solidFill>
                <a:schemeClr val="bg1"/>
              </a:solidFill>
            </a:endParaRPr>
          </a:p>
        </p:txBody>
      </p:sp>
      <p:sp>
        <p:nvSpPr>
          <p:cNvPr id="22" name="Text Box 21"/>
          <p:cNvSpPr txBox="1"/>
          <p:nvPr/>
        </p:nvSpPr>
        <p:spPr>
          <a:xfrm>
            <a:off x="9879965" y="4488815"/>
            <a:ext cx="4064000" cy="377190"/>
          </a:xfrm>
          <a:prstGeom prst="rect">
            <a:avLst/>
          </a:prstGeom>
          <a:noFill/>
        </p:spPr>
        <p:txBody>
          <a:bodyPr wrap="square" rtlCol="0">
            <a:noAutofit/>
          </a:bodyPr>
          <a:p>
            <a:r>
              <a:rPr lang="en-IN" altLang="hi-IN">
                <a:solidFill>
                  <a:schemeClr val="bg1"/>
                </a:solidFill>
              </a:rPr>
              <a:t>Facebook</a:t>
            </a:r>
            <a:endParaRPr lang="en-IN" altLang="hi-IN">
              <a:solidFill>
                <a:schemeClr val="bg1"/>
              </a:solidFill>
            </a:endParaRPr>
          </a:p>
          <a:p>
            <a:endParaRPr lang="en-IN" altLang="hi-IN">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13879</Words>
  <Application>WPS Presentation</Application>
  <PresentationFormat>On-screen Show (16:9)</PresentationFormat>
  <Paragraphs>616</Paragraphs>
  <Slides>22</Slides>
  <Notes>31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22</vt:i4>
      </vt:variant>
    </vt:vector>
  </HeadingPairs>
  <TitlesOfParts>
    <vt:vector size="38" baseType="lpstr">
      <vt:lpstr>Arial</vt:lpstr>
      <vt:lpstr>SimSun</vt:lpstr>
      <vt:lpstr>Wingdings</vt:lpstr>
      <vt:lpstr>Georgia</vt:lpstr>
      <vt:lpstr>Georgia</vt:lpstr>
      <vt:lpstr>Georgia</vt:lpstr>
      <vt:lpstr>Calibri</vt:lpstr>
      <vt:lpstr>Calibri</vt:lpstr>
      <vt:lpstr>Calibri</vt:lpstr>
      <vt:lpstr>Nirmala UI</vt:lpstr>
      <vt:lpstr>Nirmala UI</vt:lpstr>
      <vt:lpstr>Nirmala UI</vt:lpstr>
      <vt:lpstr>Microsoft YaHei</vt:lpstr>
      <vt:lpstr>Arial Unicode MS</vt:lpstr>
      <vt:lpstr>Mangal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Aadreeka Barnwal</cp:lastModifiedBy>
  <cp:revision>5</cp:revision>
  <dcterms:created xsi:type="dcterms:W3CDTF">2026-08-23T07:26:00Z</dcterms:created>
  <dcterms:modified xsi:type="dcterms:W3CDTF">2026-08-23T10:39:11Z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04F0B3B33A134E428C2333751483C8E7_13</vt:lpwstr>
  </property>
  <property fmtid="{D5CDD505-2E9C-101B-9397-08002B2CF9AE}" pid="3" name="KSOProductBuildVer">
    <vt:lpwstr>1033-12.1.0.28032</vt:lpwstr>
  </property>
</Properties>
</file>